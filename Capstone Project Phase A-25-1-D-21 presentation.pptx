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7" r:id="rId4"/>
  </p:sldMasterIdLst>
  <p:notesMasterIdLst>
    <p:notesMasterId r:id="rId25"/>
  </p:notesMasterIdLst>
  <p:handoutMasterIdLst>
    <p:handoutMasterId r:id="rId26"/>
  </p:handoutMasterIdLst>
  <p:sldIdLst>
    <p:sldId id="289" r:id="rId5"/>
    <p:sldId id="288" r:id="rId6"/>
    <p:sldId id="276" r:id="rId7"/>
    <p:sldId id="296" r:id="rId8"/>
    <p:sldId id="298" r:id="rId9"/>
    <p:sldId id="261" r:id="rId10"/>
    <p:sldId id="264" r:id="rId11"/>
    <p:sldId id="265" r:id="rId12"/>
    <p:sldId id="290" r:id="rId13"/>
    <p:sldId id="263" r:id="rId14"/>
    <p:sldId id="293" r:id="rId15"/>
    <p:sldId id="294" r:id="rId16"/>
    <p:sldId id="295" r:id="rId17"/>
    <p:sldId id="297" r:id="rId18"/>
    <p:sldId id="268" r:id="rId19"/>
    <p:sldId id="266" r:id="rId20"/>
    <p:sldId id="291" r:id="rId21"/>
    <p:sldId id="267" r:id="rId22"/>
    <p:sldId id="299" r:id="rId23"/>
    <p:sldId id="262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מקטע ברירת מחדל" id="{526315B0-7191-450F-8345-695B112D5068}">
          <p14:sldIdLst>
            <p14:sldId id="289"/>
            <p14:sldId id="288"/>
            <p14:sldId id="276"/>
            <p14:sldId id="296"/>
            <p14:sldId id="298"/>
            <p14:sldId id="261"/>
            <p14:sldId id="264"/>
            <p14:sldId id="265"/>
            <p14:sldId id="290"/>
            <p14:sldId id="263"/>
            <p14:sldId id="293"/>
            <p14:sldId id="294"/>
            <p14:sldId id="295"/>
            <p14:sldId id="297"/>
            <p14:sldId id="268"/>
            <p14:sldId id="266"/>
            <p14:sldId id="291"/>
            <p14:sldId id="267"/>
            <p14:sldId id="299"/>
            <p14:sldId id="26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EC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94" autoAdjust="0"/>
  </p:normalViewPr>
  <p:slideViewPr>
    <p:cSldViewPr snapToGrid="0">
      <p:cViewPr varScale="1">
        <p:scale>
          <a:sx n="55" d="100"/>
          <a:sy n="55" d="100"/>
        </p:scale>
        <p:origin x="1020" y="4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CB48E03-894F-4158-A4BD-55FBAFD613C4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B71C42F-2151-4A80-8C9F-5A881CD561AF}">
      <dgm:prSet/>
      <dgm:spPr/>
      <dgm:t>
        <a:bodyPr/>
        <a:lstStyle/>
        <a:p>
          <a:r>
            <a:rPr lang="en-US" b="1" dirty="0"/>
            <a:t>On-Site Inspection</a:t>
          </a:r>
          <a:endParaRPr lang="en-US" dirty="0"/>
        </a:p>
      </dgm:t>
    </dgm:pt>
    <dgm:pt modelId="{FC2E1CB3-2719-4FB8-B5D6-A5735D44005E}" type="parTrans" cxnId="{C6343CB9-0656-4334-A504-1B4210905686}">
      <dgm:prSet/>
      <dgm:spPr/>
      <dgm:t>
        <a:bodyPr/>
        <a:lstStyle/>
        <a:p>
          <a:endParaRPr lang="en-US"/>
        </a:p>
      </dgm:t>
    </dgm:pt>
    <dgm:pt modelId="{A070DF7F-6E21-4C2C-8358-497940226078}" type="sibTrans" cxnId="{C6343CB9-0656-4334-A504-1B4210905686}">
      <dgm:prSet/>
      <dgm:spPr/>
      <dgm:t>
        <a:bodyPr/>
        <a:lstStyle/>
        <a:p>
          <a:endParaRPr lang="en-US"/>
        </a:p>
      </dgm:t>
    </dgm:pt>
    <dgm:pt modelId="{18831059-BF9B-48CB-A393-0EC628031495}">
      <dgm:prSet/>
      <dgm:spPr/>
      <dgm:t>
        <a:bodyPr/>
        <a:lstStyle/>
        <a:p>
          <a:r>
            <a:rPr lang="en-US" b="1" dirty="0"/>
            <a:t>Compare to similar properties</a:t>
          </a:r>
        </a:p>
      </dgm:t>
    </dgm:pt>
    <dgm:pt modelId="{A9294FD5-768A-4E6D-96A6-AF40222BDB6D}" type="parTrans" cxnId="{73CB9402-0DCF-4D1A-953B-56B997F38F7A}">
      <dgm:prSet/>
      <dgm:spPr/>
      <dgm:t>
        <a:bodyPr/>
        <a:lstStyle/>
        <a:p>
          <a:endParaRPr lang="en-US"/>
        </a:p>
      </dgm:t>
    </dgm:pt>
    <dgm:pt modelId="{21C750C0-6A5F-41C3-B06D-C74ECFED84E1}" type="sibTrans" cxnId="{73CB9402-0DCF-4D1A-953B-56B997F38F7A}">
      <dgm:prSet/>
      <dgm:spPr/>
      <dgm:t>
        <a:bodyPr/>
        <a:lstStyle/>
        <a:p>
          <a:endParaRPr lang="en-US"/>
        </a:p>
      </dgm:t>
    </dgm:pt>
    <dgm:pt modelId="{063074CD-119A-478E-AFD8-605EB2BC713B}">
      <dgm:prSet/>
      <dgm:spPr/>
      <dgm:t>
        <a:bodyPr/>
        <a:lstStyle/>
        <a:p>
          <a:r>
            <a:rPr lang="en-US" b="1" dirty="0"/>
            <a:t>Calculations</a:t>
          </a:r>
        </a:p>
      </dgm:t>
    </dgm:pt>
    <dgm:pt modelId="{B77437B5-A6A8-4D06-B80C-EBF0F0CA8BAB}" type="parTrans" cxnId="{8DC1898A-E968-4F06-9C7B-85F3932C2827}">
      <dgm:prSet/>
      <dgm:spPr/>
      <dgm:t>
        <a:bodyPr/>
        <a:lstStyle/>
        <a:p>
          <a:pPr rtl="1"/>
          <a:endParaRPr lang="he-IL"/>
        </a:p>
      </dgm:t>
    </dgm:pt>
    <dgm:pt modelId="{8AEFA5B0-9D75-4151-9E31-3BBF268E1E6C}" type="sibTrans" cxnId="{8DC1898A-E968-4F06-9C7B-85F3932C2827}">
      <dgm:prSet/>
      <dgm:spPr/>
      <dgm:t>
        <a:bodyPr/>
        <a:lstStyle/>
        <a:p>
          <a:pPr rtl="1"/>
          <a:endParaRPr lang="he-IL"/>
        </a:p>
      </dgm:t>
    </dgm:pt>
    <dgm:pt modelId="{D7DFE5BA-EFD4-4CDC-AEB1-13234CBE3694}" type="pres">
      <dgm:prSet presAssocID="{7CB48E03-894F-4158-A4BD-55FBAFD613C4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3FCCB871-8711-42FA-AFB3-EDC7BC177DE1}" type="pres">
      <dgm:prSet presAssocID="{0B71C42F-2151-4A80-8C9F-5A881CD561AF}" presName="hierRoot1" presStyleCnt="0"/>
      <dgm:spPr/>
    </dgm:pt>
    <dgm:pt modelId="{035EC50C-79DF-416F-9ED0-C5C305A913B2}" type="pres">
      <dgm:prSet presAssocID="{0B71C42F-2151-4A80-8C9F-5A881CD561AF}" presName="composite" presStyleCnt="0"/>
      <dgm:spPr/>
    </dgm:pt>
    <dgm:pt modelId="{A662275E-06A9-44AB-95B2-40432DD45AA5}" type="pres">
      <dgm:prSet presAssocID="{0B71C42F-2151-4A80-8C9F-5A881CD561AF}" presName="background" presStyleLbl="node0" presStyleIdx="0" presStyleCnt="3"/>
      <dgm:spPr/>
    </dgm:pt>
    <dgm:pt modelId="{06FA9747-3CE2-453F-9FE5-305B5514E665}" type="pres">
      <dgm:prSet presAssocID="{0B71C42F-2151-4A80-8C9F-5A881CD561AF}" presName="text" presStyleLbl="fgAcc0" presStyleIdx="0" presStyleCnt="3">
        <dgm:presLayoutVars>
          <dgm:chPref val="3"/>
        </dgm:presLayoutVars>
      </dgm:prSet>
      <dgm:spPr/>
    </dgm:pt>
    <dgm:pt modelId="{266B991B-7222-4256-B295-89613673B005}" type="pres">
      <dgm:prSet presAssocID="{0B71C42F-2151-4A80-8C9F-5A881CD561AF}" presName="hierChild2" presStyleCnt="0"/>
      <dgm:spPr/>
    </dgm:pt>
    <dgm:pt modelId="{00DB2CED-6080-42EA-9151-7113FCBFC047}" type="pres">
      <dgm:prSet presAssocID="{18831059-BF9B-48CB-A393-0EC628031495}" presName="hierRoot1" presStyleCnt="0"/>
      <dgm:spPr/>
    </dgm:pt>
    <dgm:pt modelId="{4A6E3CDC-EF6A-4E06-8865-DF099960E724}" type="pres">
      <dgm:prSet presAssocID="{18831059-BF9B-48CB-A393-0EC628031495}" presName="composite" presStyleCnt="0"/>
      <dgm:spPr/>
    </dgm:pt>
    <dgm:pt modelId="{675B6C20-DCD1-445C-9F47-5EF762B4C5DA}" type="pres">
      <dgm:prSet presAssocID="{18831059-BF9B-48CB-A393-0EC628031495}" presName="background" presStyleLbl="node0" presStyleIdx="1" presStyleCnt="3"/>
      <dgm:spPr/>
    </dgm:pt>
    <dgm:pt modelId="{11E4BD9A-2ADF-40A3-9B39-015BF90609A2}" type="pres">
      <dgm:prSet presAssocID="{18831059-BF9B-48CB-A393-0EC628031495}" presName="text" presStyleLbl="fgAcc0" presStyleIdx="1" presStyleCnt="3">
        <dgm:presLayoutVars>
          <dgm:chPref val="3"/>
        </dgm:presLayoutVars>
      </dgm:prSet>
      <dgm:spPr/>
    </dgm:pt>
    <dgm:pt modelId="{8E94BDD9-B9BF-4B60-A44A-BB3E822C1432}" type="pres">
      <dgm:prSet presAssocID="{18831059-BF9B-48CB-A393-0EC628031495}" presName="hierChild2" presStyleCnt="0"/>
      <dgm:spPr/>
    </dgm:pt>
    <dgm:pt modelId="{E87ECC93-1806-46A5-B574-FABE47A17B9F}" type="pres">
      <dgm:prSet presAssocID="{063074CD-119A-478E-AFD8-605EB2BC713B}" presName="hierRoot1" presStyleCnt="0"/>
      <dgm:spPr/>
    </dgm:pt>
    <dgm:pt modelId="{2214C8F0-7A75-42D9-8977-D4B8D45B86CB}" type="pres">
      <dgm:prSet presAssocID="{063074CD-119A-478E-AFD8-605EB2BC713B}" presName="composite" presStyleCnt="0"/>
      <dgm:spPr/>
    </dgm:pt>
    <dgm:pt modelId="{A6BE7F5C-283E-4A36-916B-2D212788041E}" type="pres">
      <dgm:prSet presAssocID="{063074CD-119A-478E-AFD8-605EB2BC713B}" presName="background" presStyleLbl="node0" presStyleIdx="2" presStyleCnt="3"/>
      <dgm:spPr/>
    </dgm:pt>
    <dgm:pt modelId="{9AB149BD-211C-44AF-A409-B3B95DE48673}" type="pres">
      <dgm:prSet presAssocID="{063074CD-119A-478E-AFD8-605EB2BC713B}" presName="text" presStyleLbl="fgAcc0" presStyleIdx="2" presStyleCnt="3">
        <dgm:presLayoutVars>
          <dgm:chPref val="3"/>
        </dgm:presLayoutVars>
      </dgm:prSet>
      <dgm:spPr/>
    </dgm:pt>
    <dgm:pt modelId="{E686A74A-E800-4633-84BC-1B6873DF9E8A}" type="pres">
      <dgm:prSet presAssocID="{063074CD-119A-478E-AFD8-605EB2BC713B}" presName="hierChild2" presStyleCnt="0"/>
      <dgm:spPr/>
    </dgm:pt>
  </dgm:ptLst>
  <dgm:cxnLst>
    <dgm:cxn modelId="{73CB9402-0DCF-4D1A-953B-56B997F38F7A}" srcId="{7CB48E03-894F-4158-A4BD-55FBAFD613C4}" destId="{18831059-BF9B-48CB-A393-0EC628031495}" srcOrd="1" destOrd="0" parTransId="{A9294FD5-768A-4E6D-96A6-AF40222BDB6D}" sibTransId="{21C750C0-6A5F-41C3-B06D-C74ECFED84E1}"/>
    <dgm:cxn modelId="{8331A212-6D9F-491B-BA34-6761D1108730}" type="presOf" srcId="{063074CD-119A-478E-AFD8-605EB2BC713B}" destId="{9AB149BD-211C-44AF-A409-B3B95DE48673}" srcOrd="0" destOrd="0" presId="urn:microsoft.com/office/officeart/2005/8/layout/hierarchy1"/>
    <dgm:cxn modelId="{64F19883-195C-498B-ABCC-DFDD06B6103F}" type="presOf" srcId="{18831059-BF9B-48CB-A393-0EC628031495}" destId="{11E4BD9A-2ADF-40A3-9B39-015BF90609A2}" srcOrd="0" destOrd="0" presId="urn:microsoft.com/office/officeart/2005/8/layout/hierarchy1"/>
    <dgm:cxn modelId="{8DC1898A-E968-4F06-9C7B-85F3932C2827}" srcId="{7CB48E03-894F-4158-A4BD-55FBAFD613C4}" destId="{063074CD-119A-478E-AFD8-605EB2BC713B}" srcOrd="2" destOrd="0" parTransId="{B77437B5-A6A8-4D06-B80C-EBF0F0CA8BAB}" sibTransId="{8AEFA5B0-9D75-4151-9E31-3BBF268E1E6C}"/>
    <dgm:cxn modelId="{63C43EAA-2ABC-428D-A4BA-1D16BB58E0C6}" type="presOf" srcId="{0B71C42F-2151-4A80-8C9F-5A881CD561AF}" destId="{06FA9747-3CE2-453F-9FE5-305B5514E665}" srcOrd="0" destOrd="0" presId="urn:microsoft.com/office/officeart/2005/8/layout/hierarchy1"/>
    <dgm:cxn modelId="{C6343CB9-0656-4334-A504-1B4210905686}" srcId="{7CB48E03-894F-4158-A4BD-55FBAFD613C4}" destId="{0B71C42F-2151-4A80-8C9F-5A881CD561AF}" srcOrd="0" destOrd="0" parTransId="{FC2E1CB3-2719-4FB8-B5D6-A5735D44005E}" sibTransId="{A070DF7F-6E21-4C2C-8358-497940226078}"/>
    <dgm:cxn modelId="{42F766CC-C289-4CEB-9FBF-C64DBA438565}" type="presOf" srcId="{7CB48E03-894F-4158-A4BD-55FBAFD613C4}" destId="{D7DFE5BA-EFD4-4CDC-AEB1-13234CBE3694}" srcOrd="0" destOrd="0" presId="urn:microsoft.com/office/officeart/2005/8/layout/hierarchy1"/>
    <dgm:cxn modelId="{9A633A7F-5AEE-495B-82CF-78A363FDCEA7}" type="presParOf" srcId="{D7DFE5BA-EFD4-4CDC-AEB1-13234CBE3694}" destId="{3FCCB871-8711-42FA-AFB3-EDC7BC177DE1}" srcOrd="0" destOrd="0" presId="urn:microsoft.com/office/officeart/2005/8/layout/hierarchy1"/>
    <dgm:cxn modelId="{BF8FE88A-746F-425C-A6F8-DA2289611CB8}" type="presParOf" srcId="{3FCCB871-8711-42FA-AFB3-EDC7BC177DE1}" destId="{035EC50C-79DF-416F-9ED0-C5C305A913B2}" srcOrd="0" destOrd="0" presId="urn:microsoft.com/office/officeart/2005/8/layout/hierarchy1"/>
    <dgm:cxn modelId="{E24B5326-04FE-48E6-984D-EFF8754DD8F8}" type="presParOf" srcId="{035EC50C-79DF-416F-9ED0-C5C305A913B2}" destId="{A662275E-06A9-44AB-95B2-40432DD45AA5}" srcOrd="0" destOrd="0" presId="urn:microsoft.com/office/officeart/2005/8/layout/hierarchy1"/>
    <dgm:cxn modelId="{53BC4FF4-A2B7-4908-981C-D5964C633B58}" type="presParOf" srcId="{035EC50C-79DF-416F-9ED0-C5C305A913B2}" destId="{06FA9747-3CE2-453F-9FE5-305B5514E665}" srcOrd="1" destOrd="0" presId="urn:microsoft.com/office/officeart/2005/8/layout/hierarchy1"/>
    <dgm:cxn modelId="{EBF12098-134E-4174-90C2-CC78F5724E34}" type="presParOf" srcId="{3FCCB871-8711-42FA-AFB3-EDC7BC177DE1}" destId="{266B991B-7222-4256-B295-89613673B005}" srcOrd="1" destOrd="0" presId="urn:microsoft.com/office/officeart/2005/8/layout/hierarchy1"/>
    <dgm:cxn modelId="{EC6187EC-CA32-4A3B-B87A-5E43D96755DB}" type="presParOf" srcId="{D7DFE5BA-EFD4-4CDC-AEB1-13234CBE3694}" destId="{00DB2CED-6080-42EA-9151-7113FCBFC047}" srcOrd="1" destOrd="0" presId="urn:microsoft.com/office/officeart/2005/8/layout/hierarchy1"/>
    <dgm:cxn modelId="{34299C15-212F-4827-B8C8-AE85F56FC127}" type="presParOf" srcId="{00DB2CED-6080-42EA-9151-7113FCBFC047}" destId="{4A6E3CDC-EF6A-4E06-8865-DF099960E724}" srcOrd="0" destOrd="0" presId="urn:microsoft.com/office/officeart/2005/8/layout/hierarchy1"/>
    <dgm:cxn modelId="{8C9B4ADD-ABEA-498B-9BEE-5C3A95C868A9}" type="presParOf" srcId="{4A6E3CDC-EF6A-4E06-8865-DF099960E724}" destId="{675B6C20-DCD1-445C-9F47-5EF762B4C5DA}" srcOrd="0" destOrd="0" presId="urn:microsoft.com/office/officeart/2005/8/layout/hierarchy1"/>
    <dgm:cxn modelId="{F6036A8F-A8F1-47FA-8924-93112EB97083}" type="presParOf" srcId="{4A6E3CDC-EF6A-4E06-8865-DF099960E724}" destId="{11E4BD9A-2ADF-40A3-9B39-015BF90609A2}" srcOrd="1" destOrd="0" presId="urn:microsoft.com/office/officeart/2005/8/layout/hierarchy1"/>
    <dgm:cxn modelId="{0946EC69-9133-4F5B-BEE7-9504825035ED}" type="presParOf" srcId="{00DB2CED-6080-42EA-9151-7113FCBFC047}" destId="{8E94BDD9-B9BF-4B60-A44A-BB3E822C1432}" srcOrd="1" destOrd="0" presId="urn:microsoft.com/office/officeart/2005/8/layout/hierarchy1"/>
    <dgm:cxn modelId="{E9C188EA-70F2-48AE-9C7B-1BF17D696E84}" type="presParOf" srcId="{D7DFE5BA-EFD4-4CDC-AEB1-13234CBE3694}" destId="{E87ECC93-1806-46A5-B574-FABE47A17B9F}" srcOrd="2" destOrd="0" presId="urn:microsoft.com/office/officeart/2005/8/layout/hierarchy1"/>
    <dgm:cxn modelId="{F1DE1035-3967-443B-9A61-87C46B95D88E}" type="presParOf" srcId="{E87ECC93-1806-46A5-B574-FABE47A17B9F}" destId="{2214C8F0-7A75-42D9-8977-D4B8D45B86CB}" srcOrd="0" destOrd="0" presId="urn:microsoft.com/office/officeart/2005/8/layout/hierarchy1"/>
    <dgm:cxn modelId="{8FDE036A-3169-4C0E-8861-CE7FFA91878D}" type="presParOf" srcId="{2214C8F0-7A75-42D9-8977-D4B8D45B86CB}" destId="{A6BE7F5C-283E-4A36-916B-2D212788041E}" srcOrd="0" destOrd="0" presId="urn:microsoft.com/office/officeart/2005/8/layout/hierarchy1"/>
    <dgm:cxn modelId="{B5C68615-3202-42F3-B619-5FA6E3238E13}" type="presParOf" srcId="{2214C8F0-7A75-42D9-8977-D4B8D45B86CB}" destId="{9AB149BD-211C-44AF-A409-B3B95DE48673}" srcOrd="1" destOrd="0" presId="urn:microsoft.com/office/officeart/2005/8/layout/hierarchy1"/>
    <dgm:cxn modelId="{D49D897A-B06C-4F34-A0C9-CBA48BD7046A}" type="presParOf" srcId="{E87ECC93-1806-46A5-B574-FABE47A17B9F}" destId="{E686A74A-E800-4633-84BC-1B6873DF9E8A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62275E-06A9-44AB-95B2-40432DD45AA5}">
      <dsp:nvSpPr>
        <dsp:cNvPr id="0" name=""/>
        <dsp:cNvSpPr/>
      </dsp:nvSpPr>
      <dsp:spPr>
        <a:xfrm>
          <a:off x="0" y="2191026"/>
          <a:ext cx="1902825" cy="120829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FA9747-3CE2-453F-9FE5-305B5514E665}">
      <dsp:nvSpPr>
        <dsp:cNvPr id="0" name=""/>
        <dsp:cNvSpPr/>
      </dsp:nvSpPr>
      <dsp:spPr>
        <a:xfrm>
          <a:off x="211425" y="2391879"/>
          <a:ext cx="1902825" cy="120829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On-Site Inspection</a:t>
          </a:r>
          <a:endParaRPr lang="en-US" sz="2200" kern="1200" dirty="0"/>
        </a:p>
      </dsp:txBody>
      <dsp:txXfrm>
        <a:off x="246815" y="2427269"/>
        <a:ext cx="1832045" cy="1137514"/>
      </dsp:txXfrm>
    </dsp:sp>
    <dsp:sp modelId="{675B6C20-DCD1-445C-9F47-5EF762B4C5DA}">
      <dsp:nvSpPr>
        <dsp:cNvPr id="0" name=""/>
        <dsp:cNvSpPr/>
      </dsp:nvSpPr>
      <dsp:spPr>
        <a:xfrm>
          <a:off x="2325675" y="2191026"/>
          <a:ext cx="1902825" cy="120829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E4BD9A-2ADF-40A3-9B39-015BF90609A2}">
      <dsp:nvSpPr>
        <dsp:cNvPr id="0" name=""/>
        <dsp:cNvSpPr/>
      </dsp:nvSpPr>
      <dsp:spPr>
        <a:xfrm>
          <a:off x="2537100" y="2391879"/>
          <a:ext cx="1902825" cy="120829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Compare to similar properties</a:t>
          </a:r>
        </a:p>
      </dsp:txBody>
      <dsp:txXfrm>
        <a:off x="2572490" y="2427269"/>
        <a:ext cx="1832045" cy="1137514"/>
      </dsp:txXfrm>
    </dsp:sp>
    <dsp:sp modelId="{A6BE7F5C-283E-4A36-916B-2D212788041E}">
      <dsp:nvSpPr>
        <dsp:cNvPr id="0" name=""/>
        <dsp:cNvSpPr/>
      </dsp:nvSpPr>
      <dsp:spPr>
        <a:xfrm>
          <a:off x="4651350" y="2191026"/>
          <a:ext cx="1902825" cy="120829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AB149BD-211C-44AF-A409-B3B95DE48673}">
      <dsp:nvSpPr>
        <dsp:cNvPr id="0" name=""/>
        <dsp:cNvSpPr/>
      </dsp:nvSpPr>
      <dsp:spPr>
        <a:xfrm>
          <a:off x="4862775" y="2391879"/>
          <a:ext cx="1902825" cy="120829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Calculations</a:t>
          </a:r>
        </a:p>
      </dsp:txBody>
      <dsp:txXfrm>
        <a:off x="4898165" y="2427269"/>
        <a:ext cx="1832045" cy="113751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976AB79-C677-3DB7-78CF-9305D58614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3AB137-CEA6-0244-F12B-1ECC21172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C994AA-C437-4EF4-8BEF-0B832D7FA420}" type="datetimeFigureOut">
              <a:rPr lang="en-US" smtClean="0"/>
              <a:t>2/4/2025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68EC96-C6CC-F2AF-D90F-143F4D20A0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0278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B16356-3B28-4AAF-8099-7941810E2475}" type="datetimeFigureOut">
              <a:rPr lang="en-US" smtClean="0"/>
              <a:t>2/4/2025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5DA344-5FA2-43F7-9D95-CA56C82B0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762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54445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6347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0452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BEFE4-713C-491B-D6E7-BD3BAD9BE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D82584-6A2A-4131-90C9-A4D477D5C7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511A3C-35E3-65DC-ED04-4DE88B07A3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DFB706-B655-C6D0-20A0-0765E80498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8299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5DA344-5FA2-43F7-9D95-CA56C82B080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58523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4402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799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7698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3E78D-3E8F-3A6E-BAF8-E6E154BEF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A980A6-C56D-8032-5D10-5EFE630E16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2544CF-035C-F55A-6FB4-EF3714E56E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D2277-84AC-C761-DAF0-3BC0F57B44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5DA344-5FA2-43F7-9D95-CA56C82B080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19312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083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EB36B-C2C4-24A7-9BEA-1B0BBFE15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25555A-485F-FA0C-1C12-4786A3BBD0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ECB3C7-97DF-E201-2CFA-ADF93E5815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42DD95-06B4-E758-48F0-794A91755E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5DA344-5FA2-43F7-9D95-CA56C82B080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9170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93EE5-31E5-AF89-5BB4-9CE3C45F9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F30262-5FF7-7E1B-9A6C-7B810F83EF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833BC7-8A9C-00DC-204A-CBBCC9561A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E2F61-15FF-00F0-A365-1D385B5F51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5DA344-5FA2-43F7-9D95-CA56C82B080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070796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F5459-CA9C-ACE3-EF13-100CD1225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B49BE5-825B-FBDC-5F0E-322E521F66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80FD24-83FD-E46A-75B9-6C5483641D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BB70F1-D856-01EA-89EF-8600A5F44C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5DA344-5FA2-43F7-9D95-CA56C82B080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74091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2980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9733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9ABF5-98D5-6BAA-1705-EDB733B61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45D869-4F9F-8CF2-5904-A4B098830B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7588D4-E7E9-ADF7-535B-5512A20996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7D0E8F-2146-7D3E-6143-9CC8E4A1BB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540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8806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5DA344-5FA2-43F7-9D95-CA56C82B080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4152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B0DB3-A8FF-4ABB-9E2E-D960422260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3025308"/>
          </a:xfrm>
        </p:spPr>
        <p:txBody>
          <a:bodyPr anchor="b">
            <a:normAutofit/>
          </a:bodyPr>
          <a:lstStyle>
            <a:lvl1pPr algn="ctr">
              <a:defRPr sz="66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EE0618-75D7-410F-859C-CDF53BC53E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86729"/>
            <a:ext cx="9144000" cy="1135529"/>
          </a:xfrm>
        </p:spPr>
        <p:txBody>
          <a:bodyPr>
            <a:normAutofit/>
          </a:bodyPr>
          <a:lstStyle>
            <a:lvl1pPr marL="0" indent="0" algn="ctr">
              <a:lnSpc>
                <a:spcPct val="12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37F11-76DB-4DD9-9747-3F38D05BA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869186-500F-4F83-A975-08C8463A913F}" type="datetime1">
              <a:rPr lang="en-US" smtClean="0"/>
              <a:t>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9F581-81B0-44B3-ABA5-A25CA4BAE4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0D591-ADCF-4300-8282-72AE357F3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565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75558-A264-444E-829B-51AAE6B4B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8D9373-37D1-4135-8D34-755E139F79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E4A6B-1966-4E57-9FB8-8B111E97B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8DA1F2-1175-4FBA-A186-2CE9E3B965A6}" type="datetime1">
              <a:rPr lang="en-US" smtClean="0"/>
              <a:t>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FC3DD-F2BE-41FF-895B-00129AAB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1F830C-8424-4FAF-A011-605AE1D14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8958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A1BE8-ECC1-4027-B16E-C7BECCA9D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46C7E1-471A-46AA-8068-98E68C0C2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7C9F8F-EC48-4D16-B4C6-023A7B607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D5B2C-D2A5-4929-B81A-3E138FFB0A95}" type="datetime1">
              <a:rPr lang="en-US" smtClean="0"/>
              <a:t>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FA5B3-F726-417B-932A-B93E0C8F5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7D21F1-1A24-43EA-AB09-3024C491E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6388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16569-B648-4D50-BEB8-E8DAE24D6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831B3-A1FD-470C-BEEE-4CFB441502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924493"/>
            <a:ext cx="5181600" cy="4252470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F34A17-C244-438C-9AE3-FB9B3CE3BD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924493"/>
            <a:ext cx="5181600" cy="4252470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CFA3AA-3FC1-4B98-8F99-1726F1AC0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9A1DD-CA27-4447-82F3-2CA877A7E72F}" type="datetime1">
              <a:rPr lang="en-US" smtClean="0"/>
              <a:t>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E10883-BACC-41A1-9067-ECFDB937D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7660A2-13C9-4432-A6EB-A4FF3D78F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1215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7C843-C993-4E9C-80DD-3620816E5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A8E3-B066-4511-9C6E-A3435B64DD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734325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E86B63-4102-4802-94D7-F138F80F3E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58237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924765-08A7-4A60-86DC-DC420F60BB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734325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AA2795-EFB6-4000-8F25-FBB62646C0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58237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942CFB-FE12-494A-9C41-3CB90F07B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CBE9F8-EB06-4C68-95F8-A48AAE58AFF3}" type="datetime1">
              <a:rPr lang="en-US" smtClean="0"/>
              <a:t>2/4/2025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3A07E3-59E1-4EBD-9687-4B6ABE96A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F7BB23-7539-4674-8B66-ACEFF9468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2086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841DB-C73C-4968-B434-A6AA14DAF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8152BF-92C7-4BF5-A9DB-16A0BF0F5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4530F-3379-4B96-A6D9-8BF6B5EC335C}" type="datetime1">
              <a:rPr lang="en-US" smtClean="0"/>
              <a:t>2/4/2025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289DB7-F492-4037-A439-D70F7E556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FA96F1-8B8A-4E83-B3C2-E10DE522A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826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031033-9688-463F-9614-47F2F5BC6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F8725-B138-45E8-9223-89DF3CD051C3}" type="datetime1">
              <a:rPr lang="en-US" smtClean="0"/>
              <a:t>2/4/2025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5B8DB2-C14B-45AC-ACAF-8702DF59C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01DA57-8D4E-4075-9460-4F03DF8AA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831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CBE2C-9DAA-489D-AC88-15CBBA8A9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124BE-E494-445A-A4FB-A2A8F28F0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2446DE-9A32-4774-9F7C-86678CA90E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00115D-61B3-46D0-B4D3-30C374B52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8BD68-CF2B-4D58-867C-4E100CDA59D3}" type="datetime1">
              <a:rPr lang="en-US" smtClean="0"/>
              <a:t>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3C2AFC-D0F8-469F-B1E0-123C2E066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B9BCDA-9EF7-4531-8021-AF7B30751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9839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AE558-F89F-4688-94E5-77F37D49F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CD35AF-8CA2-49BB-BAE9-F29A0186EC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e-IL"/>
              <a:t>לחץ על הסמל כדי להוסיף תמונה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5CAA98-55BD-4118-A8AF-D603060784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BFF4C5-82A8-4AD8-B7E2-2882F6576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BEC55-53FB-4EB3-AF39-CF1518C171B7}" type="datetime1">
              <a:rPr lang="en-US" smtClean="0"/>
              <a:t>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60B401-B64F-417B-8AD6-581A22E5E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24BD4C-7149-44BF-8150-F72CAA95A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6634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E5C77-55F8-4677-A96C-E6D3F5545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A064EF-ADDA-4943-8F87-A7469D7997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B0D493-D1E7-4358-95E9-B5B80A49E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3F65A-52C5-4C53-93D8-6B7BC19D83B4}" type="datetime1">
              <a:rPr lang="en-US" smtClean="0"/>
              <a:t>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E98326-3276-4B9E-960F-10C6677BF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4C3AC2-288D-4FEE-BF80-0EAEDDFAB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895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333C6A-5417-40BD-BF7A-9405832237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3BCB45-B343-46F6-9718-AA0D68CED1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BDA2A4-FD34-4E17-908F-4367B1E64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F4093-2EB1-4B2E-B5FE-D8D304208650}" type="datetime1">
              <a:rPr lang="en-US" smtClean="0"/>
              <a:t>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B87AE3-776D-451D-AA52-C06B74724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A0C4D5-BE1E-4D6A-9196-E0F9E42B2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214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4AAEB19-4B49-2801-9B15-7682CDF04C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23C3EC-28B3-4644-8BE5-3288734B46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itle 1">
            <a:extLst>
              <a:ext uri="{FF2B5EF4-FFF2-40B4-BE49-F238E27FC236}">
                <a16:creationId xmlns:a16="http://schemas.microsoft.com/office/drawing/2014/main" id="{2E8C189B-2E00-67DA-E342-3440F5EBB4C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57468" y="486137"/>
            <a:ext cx="5427584" cy="3599727"/>
          </a:xfrm>
        </p:spPr>
        <p:txBody>
          <a:bodyPr anchor="b" anchorCtr="0">
            <a:noAutofit/>
          </a:bodyPr>
          <a:lstStyle>
            <a:lvl1pPr algn="l">
              <a:defRPr sz="4400"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64FCBF4-90E6-FFAA-143D-3A01CE5256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624774" y="-6713"/>
            <a:ext cx="6578801" cy="6894576"/>
          </a:xfrm>
          <a:custGeom>
            <a:avLst/>
            <a:gdLst>
              <a:gd name="connsiteX0" fmla="*/ 0 w 6613525"/>
              <a:gd name="connsiteY0" fmla="*/ 0 h 6858000"/>
              <a:gd name="connsiteX1" fmla="*/ 6613525 w 6613525"/>
              <a:gd name="connsiteY1" fmla="*/ 0 h 6858000"/>
              <a:gd name="connsiteX2" fmla="*/ 6613525 w 6613525"/>
              <a:gd name="connsiteY2" fmla="*/ 6858000 h 6858000"/>
              <a:gd name="connsiteX3" fmla="*/ 0 w 6613525"/>
              <a:gd name="connsiteY3" fmla="*/ 6858000 h 6858000"/>
              <a:gd name="connsiteX4" fmla="*/ 0 w 6613525"/>
              <a:gd name="connsiteY4" fmla="*/ 0 h 6858000"/>
              <a:gd name="connsiteX0" fmla="*/ 1875099 w 6613525"/>
              <a:gd name="connsiteY0" fmla="*/ 0 h 6858000"/>
              <a:gd name="connsiteX1" fmla="*/ 6613525 w 6613525"/>
              <a:gd name="connsiteY1" fmla="*/ 0 h 6858000"/>
              <a:gd name="connsiteX2" fmla="*/ 6613525 w 6613525"/>
              <a:gd name="connsiteY2" fmla="*/ 6858000 h 6858000"/>
              <a:gd name="connsiteX3" fmla="*/ 0 w 6613525"/>
              <a:gd name="connsiteY3" fmla="*/ 6858000 h 6858000"/>
              <a:gd name="connsiteX4" fmla="*/ 1875099 w 6613525"/>
              <a:gd name="connsiteY4" fmla="*/ 0 h 6858000"/>
              <a:gd name="connsiteX0" fmla="*/ 1840375 w 6578801"/>
              <a:gd name="connsiteY0" fmla="*/ 0 h 6869575"/>
              <a:gd name="connsiteX1" fmla="*/ 6578801 w 6578801"/>
              <a:gd name="connsiteY1" fmla="*/ 0 h 6869575"/>
              <a:gd name="connsiteX2" fmla="*/ 6578801 w 6578801"/>
              <a:gd name="connsiteY2" fmla="*/ 6858000 h 6869575"/>
              <a:gd name="connsiteX3" fmla="*/ 0 w 6578801"/>
              <a:gd name="connsiteY3" fmla="*/ 6869575 h 6869575"/>
              <a:gd name="connsiteX4" fmla="*/ 1840375 w 6578801"/>
              <a:gd name="connsiteY4" fmla="*/ 0 h 6869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78801" h="6869575">
                <a:moveTo>
                  <a:pt x="1840375" y="0"/>
                </a:moveTo>
                <a:lnTo>
                  <a:pt x="6578801" y="0"/>
                </a:lnTo>
                <a:lnTo>
                  <a:pt x="6578801" y="6858000"/>
                </a:lnTo>
                <a:lnTo>
                  <a:pt x="0" y="6869575"/>
                </a:lnTo>
                <a:lnTo>
                  <a:pt x="1840375" y="0"/>
                </a:lnTo>
                <a:close/>
              </a:path>
            </a:pathLst>
          </a:custGeom>
        </p:spPr>
        <p:txBody>
          <a:bodyPr tIns="274320" rIns="274320">
            <a:normAutofit/>
          </a:bodyPr>
          <a:lstStyle>
            <a:lvl1pPr marL="0" indent="0" algn="r">
              <a:buNone/>
              <a:defRPr sz="2000"/>
            </a:lvl1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72401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>
            <a:extLst>
              <a:ext uri="{FF2B5EF4-FFF2-40B4-BE49-F238E27FC236}">
                <a16:creationId xmlns:a16="http://schemas.microsoft.com/office/drawing/2014/main" id="{E1BBEEFE-AE8A-8083-54B6-DBE9BC0E9F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42863" y="0"/>
            <a:ext cx="4658392" cy="6858000"/>
          </a:xfrm>
          <a:custGeom>
            <a:avLst/>
            <a:gdLst>
              <a:gd name="connsiteX0" fmla="*/ 0 w 4658392"/>
              <a:gd name="connsiteY0" fmla="*/ 0 h 6858000"/>
              <a:gd name="connsiteX1" fmla="*/ 4658392 w 4658392"/>
              <a:gd name="connsiteY1" fmla="*/ 0 h 6858000"/>
              <a:gd name="connsiteX2" fmla="*/ 2820797 w 4658392"/>
              <a:gd name="connsiteY2" fmla="*/ 6858000 h 6858000"/>
              <a:gd name="connsiteX3" fmla="*/ 0 w 4658392"/>
              <a:gd name="connsiteY3" fmla="*/ 6858000 h 6858000"/>
              <a:gd name="connsiteX4" fmla="*/ 0 w 4658392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658392" h="6858000">
                <a:moveTo>
                  <a:pt x="0" y="0"/>
                </a:moveTo>
                <a:lnTo>
                  <a:pt x="4658392" y="0"/>
                </a:lnTo>
                <a:lnTo>
                  <a:pt x="2820797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64FF31D-04D7-B1F4-53B1-AA4170602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9F040EF-92FF-AEA1-BBA6-A4B739E119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CA59A84-C321-FDF9-555F-1FB322EBBC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09286"/>
            <a:ext cx="3200400" cy="5617193"/>
          </a:xfrm>
        </p:spPr>
        <p:txBody>
          <a:bodyPr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23412" y="509286"/>
            <a:ext cx="4328932" cy="5617194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buNone/>
              <a:defRPr sz="1800"/>
            </a:lvl1pPr>
            <a:lvl2pPr marL="457200" indent="0">
              <a:lnSpc>
                <a:spcPct val="150000"/>
              </a:lnSpc>
              <a:spcBef>
                <a:spcPts val="1000"/>
              </a:spcBef>
              <a:buNone/>
              <a:defRPr sz="1600"/>
            </a:lvl2pPr>
            <a:lvl3pPr marL="914400" indent="0">
              <a:lnSpc>
                <a:spcPct val="150000"/>
              </a:lnSpc>
              <a:spcBef>
                <a:spcPts val="1000"/>
              </a:spcBef>
              <a:buNone/>
              <a:defRPr sz="1400"/>
            </a:lvl3pPr>
            <a:lvl4pPr marL="1371600" indent="0">
              <a:lnSpc>
                <a:spcPct val="150000"/>
              </a:lnSpc>
              <a:spcBef>
                <a:spcPts val="1000"/>
              </a:spcBef>
              <a:buNone/>
              <a:defRPr sz="1200"/>
            </a:lvl4pPr>
            <a:lvl5pPr marL="1828800" indent="0">
              <a:lnSpc>
                <a:spcPct val="150000"/>
              </a:lnSpc>
              <a:spcBef>
                <a:spcPts val="1000"/>
              </a:spcBef>
              <a:buNone/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760CD5A6-A0E4-A658-65B1-0D6C0533166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548813" y="-22860"/>
            <a:ext cx="2651760" cy="6903720"/>
          </a:xfrm>
        </p:spPr>
        <p:txBody>
          <a:bodyPr lIns="182880" tIns="274320" rIns="182880"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1A4E8-BCFE-41FF-B35C-D0E2404E9E86}" type="datetime1">
              <a:rPr lang="en-US" smtClean="0"/>
              <a:t>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056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6EC6AF9-CC07-5258-9160-8C6391530C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BC6DCCE-3025-75FB-9405-8D51DCD63D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516CCC3-736F-49AC-F079-9A090DAA81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BF578A-ADDB-6713-E5AD-0FF27EDC2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itle 1">
            <a:extLst>
              <a:ext uri="{FF2B5EF4-FFF2-40B4-BE49-F238E27FC236}">
                <a16:creationId xmlns:a16="http://schemas.microsoft.com/office/drawing/2014/main" id="{076C4EAC-BBDE-1963-BD72-3BD2A47DC59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743671"/>
            <a:ext cx="9144000" cy="3361254"/>
          </a:xfrm>
        </p:spPr>
        <p:txBody>
          <a:bodyPr anchor="b">
            <a:noAutofit/>
          </a:bodyPr>
          <a:lstStyle>
            <a:lvl1pPr algn="ctr">
              <a:defRPr sz="4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592AF4F-2F83-7005-B3AC-6FCC7FB191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7620" y="4766434"/>
            <a:ext cx="12207240" cy="2121408"/>
          </a:xfrm>
        </p:spPr>
        <p:txBody>
          <a:bodyPr>
            <a:no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65285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3CF0EA4-D201-44E7-3558-D05CB4233E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A643EA3-ACAA-539C-A041-266A895A2B1C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81E18B-2347-8DB6-2A7F-3EAC100A41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5072" y="528320"/>
            <a:ext cx="5028566" cy="3354992"/>
          </a:xfrm>
        </p:spPr>
        <p:txBody>
          <a:bodyPr anchor="b">
            <a:noAutofit/>
          </a:bodyPr>
          <a:lstStyle>
            <a:lvl1pPr algn="l"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15072" y="4027992"/>
            <a:ext cx="5028565" cy="1894972"/>
          </a:xfrm>
        </p:spPr>
        <p:txBody>
          <a:bodyPr>
            <a:noAutofit/>
          </a:bodyPr>
          <a:lstStyle>
            <a:lvl1pPr marL="0" indent="0" algn="l">
              <a:buNone/>
              <a:defRPr sz="1800" b="1" cap="all" baseline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7" name="Picture Placeholder 7">
            <a:extLst>
              <a:ext uri="{FF2B5EF4-FFF2-40B4-BE49-F238E27FC236}">
                <a16:creationId xmlns:a16="http://schemas.microsoft.com/office/drawing/2014/main" id="{AA872EE9-FDFB-95A7-3547-DCAA0B51FE2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57326" y="-11576"/>
            <a:ext cx="4946249" cy="6903720"/>
          </a:xfrm>
          <a:custGeom>
            <a:avLst/>
            <a:gdLst>
              <a:gd name="connsiteX0" fmla="*/ 0 w 4977139"/>
              <a:gd name="connsiteY0" fmla="*/ 0 h 6858000"/>
              <a:gd name="connsiteX1" fmla="*/ 4977139 w 4977139"/>
              <a:gd name="connsiteY1" fmla="*/ 0 h 6858000"/>
              <a:gd name="connsiteX2" fmla="*/ 4977139 w 4977139"/>
              <a:gd name="connsiteY2" fmla="*/ 6858000 h 6858000"/>
              <a:gd name="connsiteX3" fmla="*/ 0 w 4977139"/>
              <a:gd name="connsiteY3" fmla="*/ 6858000 h 6858000"/>
              <a:gd name="connsiteX4" fmla="*/ 0 w 4977139"/>
              <a:gd name="connsiteY4" fmla="*/ 0 h 6858000"/>
              <a:gd name="connsiteX0" fmla="*/ 0 w 4977139"/>
              <a:gd name="connsiteY0" fmla="*/ 0 h 6892724"/>
              <a:gd name="connsiteX1" fmla="*/ 4977139 w 4977139"/>
              <a:gd name="connsiteY1" fmla="*/ 0 h 6892724"/>
              <a:gd name="connsiteX2" fmla="*/ 4977139 w 4977139"/>
              <a:gd name="connsiteY2" fmla="*/ 6858000 h 6892724"/>
              <a:gd name="connsiteX3" fmla="*/ 1863524 w 4977139"/>
              <a:gd name="connsiteY3" fmla="*/ 6892724 h 6892724"/>
              <a:gd name="connsiteX4" fmla="*/ 0 w 4977139"/>
              <a:gd name="connsiteY4" fmla="*/ 0 h 6892724"/>
              <a:gd name="connsiteX0" fmla="*/ 0 w 4977139"/>
              <a:gd name="connsiteY0" fmla="*/ 0 h 6892724"/>
              <a:gd name="connsiteX1" fmla="*/ 4977139 w 4977139"/>
              <a:gd name="connsiteY1" fmla="*/ 0 h 6892724"/>
              <a:gd name="connsiteX2" fmla="*/ 4977139 w 4977139"/>
              <a:gd name="connsiteY2" fmla="*/ 6892724 h 6892724"/>
              <a:gd name="connsiteX3" fmla="*/ 1863524 w 4977139"/>
              <a:gd name="connsiteY3" fmla="*/ 6892724 h 6892724"/>
              <a:gd name="connsiteX4" fmla="*/ 0 w 4977139"/>
              <a:gd name="connsiteY4" fmla="*/ 0 h 6892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7139" h="6892724">
                <a:moveTo>
                  <a:pt x="0" y="0"/>
                </a:moveTo>
                <a:lnTo>
                  <a:pt x="4977139" y="0"/>
                </a:lnTo>
                <a:lnTo>
                  <a:pt x="4977139" y="6892724"/>
                </a:lnTo>
                <a:lnTo>
                  <a:pt x="1863524" y="6892724"/>
                </a:lnTo>
                <a:lnTo>
                  <a:pt x="0" y="0"/>
                </a:lnTo>
                <a:close/>
              </a:path>
            </a:pathLst>
          </a:custGeom>
        </p:spPr>
        <p:txBody>
          <a:bodyPr tIns="274320" rIns="274320">
            <a:normAutofit/>
          </a:bodyPr>
          <a:lstStyle>
            <a:lvl1pPr marL="0" indent="0" algn="r">
              <a:buNone/>
              <a:defRPr sz="2000"/>
            </a:lvl1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9378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6CBD635-4863-B127-5668-D2C7DA8CDE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1629720-DD91-8012-686D-AABA439870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0911820" y="0"/>
            <a:ext cx="913577" cy="68580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70117" y="185195"/>
            <a:ext cx="6930838" cy="1505493"/>
          </a:xfrm>
        </p:spPr>
        <p:txBody>
          <a:bodyPr anchor="b" anchorCtr="0">
            <a:no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1FB27827-7491-B1C2-D9C5-975A9FF66EC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8788" y="-22860"/>
            <a:ext cx="3291840" cy="6903720"/>
          </a:xfrm>
        </p:spPr>
        <p:txBody>
          <a:bodyPr lIns="182880" tIns="274320" rIns="182880"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7D4D4555-A25D-09B6-36AF-5977189F2DD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0116" y="2022395"/>
            <a:ext cx="6941703" cy="4297680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spcAft>
                <a:spcPts val="1500"/>
              </a:spcAft>
              <a:buFont typeface="Arial" panose="020B0604020202020204" pitchFamily="34" charset="0"/>
              <a:buChar char="•"/>
              <a:defRPr sz="1800"/>
            </a:lvl1pPr>
            <a:lvl2pPr>
              <a:spcBef>
                <a:spcPts val="1000"/>
              </a:spcBef>
              <a:spcAft>
                <a:spcPts val="1500"/>
              </a:spcAft>
              <a:defRPr sz="1800"/>
            </a:lvl2pPr>
            <a:lvl3pPr>
              <a:spcBef>
                <a:spcPts val="1000"/>
              </a:spcBef>
              <a:spcAft>
                <a:spcPts val="1500"/>
              </a:spcAft>
              <a:defRPr sz="1800"/>
            </a:lvl3pPr>
            <a:lvl4pPr>
              <a:spcBef>
                <a:spcPts val="1000"/>
              </a:spcBef>
              <a:spcAft>
                <a:spcPts val="1500"/>
              </a:spcAft>
              <a:defRPr sz="1800"/>
            </a:lvl4pPr>
            <a:lvl5pPr>
              <a:spcBef>
                <a:spcPts val="1000"/>
              </a:spcBef>
              <a:spcAft>
                <a:spcPts val="15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923740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9E49FCE-658C-FF5A-6405-3D10F1AC1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03C516-D418-5E3E-1E4E-1DF8464338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7BF5B15-0E8A-A82C-6E9C-FCF3FBAAD4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54B33CA-9490-C8E1-FE4F-06367AF292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586824F-3198-FE44-5A4A-70312048DA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058CD71-6E97-B6A9-11B6-867ED408DE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9FDAA6-BDE8-D6C3-17CD-F87BFB54F5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b" anchorCtr="0">
            <a:no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2A0738D-E9A9-14B7-4739-62E402B0C2D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834961" y="2032663"/>
            <a:ext cx="4463005" cy="406749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500"/>
              </a:spcAft>
              <a:buNone/>
              <a:defRPr sz="1800"/>
            </a:lvl1pPr>
            <a:lvl2pPr marL="0">
              <a:spcBef>
                <a:spcPts val="1000"/>
              </a:spcBef>
              <a:spcAft>
                <a:spcPts val="500"/>
              </a:spcAft>
              <a:defRPr sz="1800"/>
            </a:lvl2pPr>
            <a:lvl3pPr marL="457200">
              <a:spcBef>
                <a:spcPts val="1000"/>
              </a:spcBef>
              <a:spcAft>
                <a:spcPts val="500"/>
              </a:spcAft>
              <a:defRPr sz="1800"/>
            </a:lvl3pPr>
            <a:lvl4pPr marL="685800">
              <a:spcBef>
                <a:spcPts val="1000"/>
              </a:spcBef>
              <a:spcAft>
                <a:spcPts val="500"/>
              </a:spcAft>
              <a:defRPr sz="1800"/>
            </a:lvl4pPr>
            <a:lvl5pPr marL="914400">
              <a:spcBef>
                <a:spcPts val="1000"/>
              </a:spcBef>
              <a:spcAft>
                <a:spcPts val="5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A766D4CB-8BCE-C6EE-EF57-A8A819EBD366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6141720" y="2032663"/>
            <a:ext cx="5212080" cy="406749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500"/>
              </a:spcAft>
              <a:buNone/>
              <a:defRPr sz="1800"/>
            </a:lvl1pPr>
            <a:lvl2pPr marL="0">
              <a:spcBef>
                <a:spcPts val="1000"/>
              </a:spcBef>
              <a:spcAft>
                <a:spcPts val="500"/>
              </a:spcAft>
              <a:defRPr sz="1800"/>
            </a:lvl2pPr>
            <a:lvl3pPr marL="457200">
              <a:spcBef>
                <a:spcPts val="1000"/>
              </a:spcBef>
              <a:spcAft>
                <a:spcPts val="500"/>
              </a:spcAft>
              <a:defRPr sz="1800"/>
            </a:lvl3pPr>
            <a:lvl4pPr marL="685800">
              <a:spcBef>
                <a:spcPts val="1000"/>
              </a:spcBef>
              <a:spcAft>
                <a:spcPts val="500"/>
              </a:spcAft>
              <a:defRPr sz="1800"/>
            </a:lvl4pPr>
            <a:lvl5pPr marL="914400">
              <a:spcBef>
                <a:spcPts val="1000"/>
              </a:spcBef>
              <a:spcAft>
                <a:spcPts val="5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4A033-8564-40F8-B460-23B519628991}" type="datetime1">
              <a:rPr lang="en-US" smtClean="0"/>
              <a:t>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75664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D9208B-0FD2-A7E3-5202-0F18392AE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04010E2-9C6F-C582-1E3A-F5D43D0FFB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3D2B8AF-94DE-C211-EAE7-0971C111B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247A2AC-F284-077E-9A14-EB7D1DE62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0E91F1F-5151-2442-2B89-CE0AB11785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FBD82AC-3C5B-819E-E0FF-157D74B84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F299648-2E6E-FA0D-85E4-8884BE34A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b" anchorCtr="0">
            <a:no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07BD0263-5D42-E696-F170-1F9CF5FF2A74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838199" y="2078963"/>
            <a:ext cx="3435628" cy="4067492"/>
          </a:xfrm>
        </p:spPr>
        <p:txBody>
          <a:bodyPr>
            <a:normAutofit/>
          </a:bodyPr>
          <a:lstStyle>
            <a:lvl1pPr marL="457200" indent="-457200">
              <a:spcBef>
                <a:spcPts val="1000"/>
              </a:spcBef>
              <a:spcAft>
                <a:spcPts val="500"/>
              </a:spcAft>
              <a:buFont typeface="+mj-lt"/>
              <a:buAutoNum type="arabicPeriod"/>
              <a:defRPr sz="1800"/>
            </a:lvl1pPr>
            <a:lvl2pPr marL="914400" indent="-457200">
              <a:spcBef>
                <a:spcPts val="1000"/>
              </a:spcBef>
              <a:spcAft>
                <a:spcPts val="500"/>
              </a:spcAft>
              <a:buFont typeface="+mj-lt"/>
              <a:buAutoNum type="alphaLcPeriod"/>
              <a:defRPr sz="1800"/>
            </a:lvl2pPr>
            <a:lvl3pPr marL="1371600" indent="-457200">
              <a:spcBef>
                <a:spcPts val="1000"/>
              </a:spcBef>
              <a:spcAft>
                <a:spcPts val="500"/>
              </a:spcAft>
              <a:buFont typeface="+mj-lt"/>
              <a:buAutoNum type="arabicParenR"/>
              <a:defRPr sz="1800"/>
            </a:lvl3pPr>
            <a:lvl4pPr marL="1828800" indent="-457200">
              <a:spcBef>
                <a:spcPts val="1000"/>
              </a:spcBef>
              <a:spcAft>
                <a:spcPts val="500"/>
              </a:spcAft>
              <a:buFont typeface="+mj-lt"/>
              <a:buAutoNum type="alphaLcParenR"/>
              <a:defRPr sz="1800"/>
            </a:lvl4pPr>
            <a:lvl5pPr marL="2228850" indent="-457200">
              <a:spcBef>
                <a:spcPts val="1000"/>
              </a:spcBef>
              <a:spcAft>
                <a:spcPts val="500"/>
              </a:spcAft>
              <a:buFont typeface="+mj-lt"/>
              <a:buAutoNum type="romanLcPeriod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1BEE7174-135F-6F9F-11B9-3C3F2F9CDEAA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965539" y="2087315"/>
            <a:ext cx="6007261" cy="406749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None/>
              <a:defRPr sz="1800"/>
            </a:lvl1pPr>
            <a:lvl2pPr marL="0">
              <a:spcBef>
                <a:spcPts val="1000"/>
              </a:spcBef>
              <a:spcAft>
                <a:spcPts val="500"/>
              </a:spcAft>
              <a:defRPr sz="1800"/>
            </a:lvl2pPr>
            <a:lvl3pPr marL="457200">
              <a:spcBef>
                <a:spcPts val="1000"/>
              </a:spcBef>
              <a:spcAft>
                <a:spcPts val="500"/>
              </a:spcAft>
              <a:defRPr sz="1800"/>
            </a:lvl3pPr>
            <a:lvl4pPr marL="685800">
              <a:spcBef>
                <a:spcPts val="1000"/>
              </a:spcBef>
              <a:spcAft>
                <a:spcPts val="500"/>
              </a:spcAft>
              <a:defRPr sz="1800"/>
            </a:lvl4pPr>
            <a:lvl5pPr marL="914400">
              <a:spcBef>
                <a:spcPts val="1000"/>
              </a:spcBef>
              <a:spcAft>
                <a:spcPts val="5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F9E6B5-AB26-4CA4-84FC-5B17676BC18D}" type="datetime1">
              <a:rPr lang="en-US" smtClean="0"/>
              <a:t>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0464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+ pict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00B3A65-BB60-F2B4-4CF4-19A7C53F18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F1DB8D5-B954-BFC9-C8D8-F0491CCBE2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507D69F-27D7-2C68-A17D-3F1399C8B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6645965" cy="1325563"/>
          </a:xfrm>
        </p:spPr>
        <p:txBody>
          <a:bodyPr anchor="b" anchorCtr="0">
            <a:noAutofit/>
          </a:bodyPr>
          <a:lstStyle>
            <a:lvl1pPr>
              <a:defRPr sz="36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1" y="2055813"/>
            <a:ext cx="5781261" cy="406749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500"/>
              </a:spcAft>
              <a:buNone/>
              <a:defRPr sz="1800"/>
            </a:lvl1pPr>
            <a:lvl2pPr>
              <a:spcBef>
                <a:spcPts val="1000"/>
              </a:spcBef>
              <a:spcAft>
                <a:spcPts val="500"/>
              </a:spcAft>
              <a:defRPr sz="1600"/>
            </a:lvl2pPr>
            <a:lvl3pPr>
              <a:spcBef>
                <a:spcPts val="1000"/>
              </a:spcBef>
              <a:spcAft>
                <a:spcPts val="500"/>
              </a:spcAft>
              <a:defRPr sz="1400"/>
            </a:lvl3pPr>
            <a:lvl4pPr>
              <a:spcBef>
                <a:spcPts val="1000"/>
              </a:spcBef>
              <a:spcAft>
                <a:spcPts val="500"/>
              </a:spcAft>
              <a:defRPr sz="1200"/>
            </a:lvl4pPr>
            <a:lvl5pPr>
              <a:spcBef>
                <a:spcPts val="1000"/>
              </a:spcBef>
              <a:spcAft>
                <a:spcPts val="500"/>
              </a:spcAft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C013AD6-0EF3-2B25-DDBD-2DF706123AE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66991" y="-22860"/>
            <a:ext cx="4625008" cy="6903720"/>
          </a:xfrm>
        </p:spPr>
        <p:txBody>
          <a:bodyPr tIns="274320"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BE948-0788-4BDA-AB0F-A6A5505F04B4}" type="datetime1">
              <a:rPr lang="en-US" smtClean="0"/>
              <a:t>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8680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+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C45A11E-9896-BD8B-8CC6-A79C124D8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1575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386022B-53D6-6CE0-2093-873FC64A5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1575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BD4BD8F-684C-A145-3376-9E69B0E5BE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802775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E7C1DA9-2A25-EE21-085B-8857DC1AD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59925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F236BB3-E567-A8A9-5EC2-BCEF79CFC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59400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4A87C9F-C765-C63C-951E-70721DDACD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11575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4425665-0C9C-3899-9DB9-ED05D91E26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6812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330405" cy="1325563"/>
          </a:xfrm>
        </p:spPr>
        <p:txBody>
          <a:bodyPr anchor="b" anchorCtr="0">
            <a:no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2137059"/>
            <a:ext cx="2816352" cy="3986246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500"/>
              </a:spcAft>
              <a:buNone/>
              <a:defRPr sz="1800"/>
            </a:lvl1pPr>
            <a:lvl2pPr>
              <a:spcBef>
                <a:spcPts val="1000"/>
              </a:spcBef>
              <a:spcAft>
                <a:spcPts val="500"/>
              </a:spcAft>
              <a:defRPr sz="1600"/>
            </a:lvl2pPr>
            <a:lvl3pPr>
              <a:spcBef>
                <a:spcPts val="1000"/>
              </a:spcBef>
              <a:spcAft>
                <a:spcPts val="500"/>
              </a:spcAft>
              <a:defRPr sz="1400"/>
            </a:lvl3pPr>
            <a:lvl4pPr>
              <a:spcBef>
                <a:spcPts val="1000"/>
              </a:spcBef>
              <a:spcAft>
                <a:spcPts val="500"/>
              </a:spcAft>
              <a:defRPr sz="1200"/>
            </a:lvl4pPr>
            <a:lvl5pPr>
              <a:spcBef>
                <a:spcPts val="1000"/>
              </a:spcBef>
              <a:spcAft>
                <a:spcPts val="500"/>
              </a:spcAft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423FEB60-8FB5-7F10-EDD7-8AB4B3139EF6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4109014" y="2137059"/>
            <a:ext cx="7059592" cy="398624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dirty="0"/>
            </a:lvl1pPr>
          </a:lstStyle>
          <a:p>
            <a:r>
              <a:rPr lang="he-IL"/>
              <a:t>לחץ על הסמל כדי להוסיף טבלה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2ED66-772C-4FF5-8227-60D79588E02B}" type="datetime1">
              <a:rPr lang="en-US" smtClean="0"/>
              <a:t>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2277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49C8ABD-000F-7A94-A7B0-9589F4FEFD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1575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C3A554-E5A9-B3CB-913D-45DBFBA79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1575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E3A8DF3-F55A-2494-C55D-8FB94BBC6A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802775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79DC86E-6F8A-B036-5CB2-AA8A79837F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59925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B9E0C03-C633-9356-4E28-678BAB7AE0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59400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0C8A4F7-6C4C-719B-298F-3B81223D17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11575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E7E5D8B-D6BC-19AE-C0C9-249A556170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6812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b" anchorCtr="0">
            <a:no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7A6C5266-7ECA-B150-2C0F-8670F43AC82D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838200" y="1987669"/>
            <a:ext cx="6974711" cy="4297679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None/>
              <a:defRPr sz="1800"/>
            </a:lvl1pPr>
            <a:lvl2pPr>
              <a:spcBef>
                <a:spcPts val="1000"/>
              </a:spcBef>
              <a:spcAft>
                <a:spcPts val="500"/>
              </a:spcAft>
              <a:defRPr sz="1800"/>
            </a:lvl2pPr>
            <a:lvl3pPr>
              <a:spcBef>
                <a:spcPts val="1000"/>
              </a:spcBef>
              <a:spcAft>
                <a:spcPts val="500"/>
              </a:spcAft>
              <a:defRPr sz="1800"/>
            </a:lvl3pPr>
            <a:lvl4pPr>
              <a:spcBef>
                <a:spcPts val="1000"/>
              </a:spcBef>
              <a:spcAft>
                <a:spcPts val="500"/>
              </a:spcAft>
              <a:defRPr sz="1800"/>
            </a:lvl4pPr>
            <a:lvl5pPr>
              <a:spcBef>
                <a:spcPts val="1000"/>
              </a:spcBef>
              <a:spcAft>
                <a:spcPts val="5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DFB03A-367B-9ADA-8071-E22871EC115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917085" y="1987670"/>
            <a:ext cx="3436716" cy="4297680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500"/>
              </a:spcAft>
              <a:buNone/>
              <a:defRPr sz="1800"/>
            </a:lvl1pPr>
            <a:lvl2pPr>
              <a:spcBef>
                <a:spcPts val="1000"/>
              </a:spcBef>
              <a:spcAft>
                <a:spcPts val="500"/>
              </a:spcAft>
              <a:defRPr sz="1600"/>
            </a:lvl2pPr>
            <a:lvl3pPr>
              <a:spcBef>
                <a:spcPts val="1000"/>
              </a:spcBef>
              <a:spcAft>
                <a:spcPts val="500"/>
              </a:spcAft>
              <a:defRPr sz="1400"/>
            </a:lvl3pPr>
            <a:lvl4pPr>
              <a:spcBef>
                <a:spcPts val="1000"/>
              </a:spcBef>
              <a:spcAft>
                <a:spcPts val="500"/>
              </a:spcAft>
              <a:defRPr sz="1200"/>
            </a:lvl4pPr>
            <a:lvl5pPr>
              <a:spcBef>
                <a:spcPts val="1000"/>
              </a:spcBef>
              <a:spcAft>
                <a:spcPts val="500"/>
              </a:spcAft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9E2FD-89AB-42CD-B100-2341294FE2DF}" type="datetime1">
              <a:rPr lang="en-US" smtClean="0"/>
              <a:t>2/4/2025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78990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7588714-FE55-FCEF-78C2-2A4D11ECD7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1575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AF6BF02-4CD8-261B-BE58-05677EB947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1575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1AF1F17-7A1F-BCA2-15C0-417928B4E7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802775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F0ADE0B-D150-E72B-EE9A-E5EFDBC6F0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59925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BBCDD5A-A3C4-DF4F-74AD-CAF0F465B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59400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9430AE4-C878-DFAB-EDA5-36B97176D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11575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61487B2-0348-2FFC-03FB-6508B6FD3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6812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b" anchorCtr="0">
            <a:no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0CEAFE70-86D3-8690-31CA-F9A1FBA494D0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838199" y="2125262"/>
            <a:ext cx="10515600" cy="3675944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he-IL"/>
              <a:t>לחץ על הסמל כדי להוסיף טבלה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04F14-B2A6-42CA-AA4C-ACCA40EE61E8}" type="datetime1">
              <a:rPr lang="en-US" smtClean="0"/>
              <a:t>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8423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3"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1843C0D-8C0B-0B3C-7014-7B7217C008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7B715CF-E60F-DDAE-369E-BCC2CE4FF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2BD8F5F-4228-6BB9-5EA6-5535908982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F721F95-97C0-7151-B9F6-C088CEA1A7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978AD50A-9C6A-454B-0CAD-EAB51844014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0" y="0"/>
            <a:ext cx="7816995" cy="6858000"/>
          </a:xfrm>
          <a:custGeom>
            <a:avLst/>
            <a:gdLst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0 w 7813675"/>
              <a:gd name="connsiteY3" fmla="*/ 6903720 h 6903720"/>
              <a:gd name="connsiteX4" fmla="*/ 0 w 7813675"/>
              <a:gd name="connsiteY4" fmla="*/ 0 h 6903720"/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798854 w 7813675"/>
              <a:gd name="connsiteY3" fmla="*/ 6867163 h 6903720"/>
              <a:gd name="connsiteX4" fmla="*/ 0 w 7813675"/>
              <a:gd name="connsiteY4" fmla="*/ 6903720 h 6903720"/>
              <a:gd name="connsiteX5" fmla="*/ 0 w 7813675"/>
              <a:gd name="connsiteY5" fmla="*/ 0 h 6903720"/>
              <a:gd name="connsiteX0" fmla="*/ 0 w 7813675"/>
              <a:gd name="connsiteY0" fmla="*/ 0 h 6907803"/>
              <a:gd name="connsiteX1" fmla="*/ 7813675 w 7813675"/>
              <a:gd name="connsiteY1" fmla="*/ 0 h 6907803"/>
              <a:gd name="connsiteX2" fmla="*/ 7813675 w 7813675"/>
              <a:gd name="connsiteY2" fmla="*/ 6903720 h 6907803"/>
              <a:gd name="connsiteX3" fmla="*/ 809014 w 7813675"/>
              <a:gd name="connsiteY3" fmla="*/ 6907803 h 6907803"/>
              <a:gd name="connsiteX4" fmla="*/ 0 w 7813675"/>
              <a:gd name="connsiteY4" fmla="*/ 6903720 h 6907803"/>
              <a:gd name="connsiteX5" fmla="*/ 0 w 7813675"/>
              <a:gd name="connsiteY5" fmla="*/ 0 h 6907803"/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809014 w 7813675"/>
              <a:gd name="connsiteY3" fmla="*/ 6887483 h 6903720"/>
              <a:gd name="connsiteX4" fmla="*/ 0 w 7813675"/>
              <a:gd name="connsiteY4" fmla="*/ 6903720 h 6903720"/>
              <a:gd name="connsiteX5" fmla="*/ 0 w 7813675"/>
              <a:gd name="connsiteY5" fmla="*/ 0 h 6903720"/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809014 w 7813675"/>
              <a:gd name="connsiteY3" fmla="*/ 6887483 h 6903720"/>
              <a:gd name="connsiteX4" fmla="*/ 0 w 7813675"/>
              <a:gd name="connsiteY4" fmla="*/ 6903720 h 6903720"/>
              <a:gd name="connsiteX5" fmla="*/ 0 w 7813675"/>
              <a:gd name="connsiteY5" fmla="*/ 0 h 6903720"/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809014 w 7813675"/>
              <a:gd name="connsiteY3" fmla="*/ 6898913 h 6903720"/>
              <a:gd name="connsiteX4" fmla="*/ 0 w 7813675"/>
              <a:gd name="connsiteY4" fmla="*/ 6903720 h 6903720"/>
              <a:gd name="connsiteX5" fmla="*/ 0 w 7813675"/>
              <a:gd name="connsiteY5" fmla="*/ 0 h 6903720"/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740434 w 7813675"/>
              <a:gd name="connsiteY3" fmla="*/ 6898913 h 6903720"/>
              <a:gd name="connsiteX4" fmla="*/ 0 w 7813675"/>
              <a:gd name="connsiteY4" fmla="*/ 6903720 h 6903720"/>
              <a:gd name="connsiteX5" fmla="*/ 0 w 7813675"/>
              <a:gd name="connsiteY5" fmla="*/ 0 h 6903720"/>
              <a:gd name="connsiteX0" fmla="*/ 0 w 7813675"/>
              <a:gd name="connsiteY0" fmla="*/ 0 h 6907385"/>
              <a:gd name="connsiteX1" fmla="*/ 7813675 w 7813675"/>
              <a:gd name="connsiteY1" fmla="*/ 0 h 6907385"/>
              <a:gd name="connsiteX2" fmla="*/ 7813675 w 7813675"/>
              <a:gd name="connsiteY2" fmla="*/ 6903720 h 6907385"/>
              <a:gd name="connsiteX3" fmla="*/ 6359380 w 7813675"/>
              <a:gd name="connsiteY3" fmla="*/ 6907385 h 6907385"/>
              <a:gd name="connsiteX4" fmla="*/ 740434 w 7813675"/>
              <a:gd name="connsiteY4" fmla="*/ 6898913 h 6907385"/>
              <a:gd name="connsiteX5" fmla="*/ 0 w 7813675"/>
              <a:gd name="connsiteY5" fmla="*/ 6903720 h 6907385"/>
              <a:gd name="connsiteX6" fmla="*/ 0 w 7813675"/>
              <a:gd name="connsiteY6" fmla="*/ 0 h 6907385"/>
              <a:gd name="connsiteX0" fmla="*/ 3320 w 7816995"/>
              <a:gd name="connsiteY0" fmla="*/ 0 h 6907385"/>
              <a:gd name="connsiteX1" fmla="*/ 7816995 w 7816995"/>
              <a:gd name="connsiteY1" fmla="*/ 0 h 6907385"/>
              <a:gd name="connsiteX2" fmla="*/ 7816995 w 7816995"/>
              <a:gd name="connsiteY2" fmla="*/ 6903720 h 6907385"/>
              <a:gd name="connsiteX3" fmla="*/ 6362700 w 7816995"/>
              <a:gd name="connsiteY3" fmla="*/ 6907385 h 6907385"/>
              <a:gd name="connsiteX4" fmla="*/ 743754 w 7816995"/>
              <a:gd name="connsiteY4" fmla="*/ 6898913 h 6907385"/>
              <a:gd name="connsiteX5" fmla="*/ 3320 w 7816995"/>
              <a:gd name="connsiteY5" fmla="*/ 6903720 h 6907385"/>
              <a:gd name="connsiteX6" fmla="*/ 0 w 7816995"/>
              <a:gd name="connsiteY6" fmla="*/ 2510645 h 6907385"/>
              <a:gd name="connsiteX7" fmla="*/ 3320 w 7816995"/>
              <a:gd name="connsiteY7" fmla="*/ 0 h 6907385"/>
              <a:gd name="connsiteX0" fmla="*/ 3320 w 7816995"/>
              <a:gd name="connsiteY0" fmla="*/ 0 h 6907385"/>
              <a:gd name="connsiteX1" fmla="*/ 7816995 w 7816995"/>
              <a:gd name="connsiteY1" fmla="*/ 0 h 6907385"/>
              <a:gd name="connsiteX2" fmla="*/ 7816995 w 7816995"/>
              <a:gd name="connsiteY2" fmla="*/ 6903720 h 6907385"/>
              <a:gd name="connsiteX3" fmla="*/ 6362700 w 7816995"/>
              <a:gd name="connsiteY3" fmla="*/ 6907385 h 6907385"/>
              <a:gd name="connsiteX4" fmla="*/ 743754 w 7816995"/>
              <a:gd name="connsiteY4" fmla="*/ 6898913 h 6907385"/>
              <a:gd name="connsiteX5" fmla="*/ 2876060 w 7816995"/>
              <a:gd name="connsiteY5" fmla="*/ 4644390 h 6907385"/>
              <a:gd name="connsiteX6" fmla="*/ 0 w 7816995"/>
              <a:gd name="connsiteY6" fmla="*/ 2510645 h 6907385"/>
              <a:gd name="connsiteX7" fmla="*/ 3320 w 7816995"/>
              <a:gd name="connsiteY7" fmla="*/ 0 h 6907385"/>
              <a:gd name="connsiteX0" fmla="*/ 3320 w 7816995"/>
              <a:gd name="connsiteY0" fmla="*/ 0 h 6907385"/>
              <a:gd name="connsiteX1" fmla="*/ 7816995 w 7816995"/>
              <a:gd name="connsiteY1" fmla="*/ 0 h 6907385"/>
              <a:gd name="connsiteX2" fmla="*/ 7816995 w 7816995"/>
              <a:gd name="connsiteY2" fmla="*/ 6903720 h 6907385"/>
              <a:gd name="connsiteX3" fmla="*/ 6362700 w 7816995"/>
              <a:gd name="connsiteY3" fmla="*/ 6907385 h 6907385"/>
              <a:gd name="connsiteX4" fmla="*/ 743754 w 7816995"/>
              <a:gd name="connsiteY4" fmla="*/ 6898913 h 6907385"/>
              <a:gd name="connsiteX5" fmla="*/ 2876060 w 7816995"/>
              <a:gd name="connsiteY5" fmla="*/ 4644390 h 6907385"/>
              <a:gd name="connsiteX6" fmla="*/ 0 w 7816995"/>
              <a:gd name="connsiteY6" fmla="*/ 2510645 h 6907385"/>
              <a:gd name="connsiteX7" fmla="*/ 3320 w 7816995"/>
              <a:gd name="connsiteY7" fmla="*/ 0 h 6907385"/>
              <a:gd name="connsiteX0" fmla="*/ 3320 w 7816995"/>
              <a:gd name="connsiteY0" fmla="*/ 0 h 6907385"/>
              <a:gd name="connsiteX1" fmla="*/ 7816995 w 7816995"/>
              <a:gd name="connsiteY1" fmla="*/ 0 h 6907385"/>
              <a:gd name="connsiteX2" fmla="*/ 7816995 w 7816995"/>
              <a:gd name="connsiteY2" fmla="*/ 6903720 h 6907385"/>
              <a:gd name="connsiteX3" fmla="*/ 6362700 w 7816995"/>
              <a:gd name="connsiteY3" fmla="*/ 6907385 h 6907385"/>
              <a:gd name="connsiteX4" fmla="*/ 743754 w 7816995"/>
              <a:gd name="connsiteY4" fmla="*/ 6898913 h 6907385"/>
              <a:gd name="connsiteX5" fmla="*/ 2876060 w 7816995"/>
              <a:gd name="connsiteY5" fmla="*/ 4644390 h 6907385"/>
              <a:gd name="connsiteX6" fmla="*/ 0 w 7816995"/>
              <a:gd name="connsiteY6" fmla="*/ 2510645 h 6907385"/>
              <a:gd name="connsiteX7" fmla="*/ 3320 w 7816995"/>
              <a:gd name="connsiteY7" fmla="*/ 0 h 6907385"/>
              <a:gd name="connsiteX0" fmla="*/ 3320 w 7816995"/>
              <a:gd name="connsiteY0" fmla="*/ 0 h 6907385"/>
              <a:gd name="connsiteX1" fmla="*/ 7816995 w 7816995"/>
              <a:gd name="connsiteY1" fmla="*/ 0 h 6907385"/>
              <a:gd name="connsiteX2" fmla="*/ 2899555 w 7816995"/>
              <a:gd name="connsiteY2" fmla="*/ 4648200 h 6907385"/>
              <a:gd name="connsiteX3" fmla="*/ 6362700 w 7816995"/>
              <a:gd name="connsiteY3" fmla="*/ 6907385 h 6907385"/>
              <a:gd name="connsiteX4" fmla="*/ 743754 w 7816995"/>
              <a:gd name="connsiteY4" fmla="*/ 6898913 h 6907385"/>
              <a:gd name="connsiteX5" fmla="*/ 2876060 w 7816995"/>
              <a:gd name="connsiteY5" fmla="*/ 4644390 h 6907385"/>
              <a:gd name="connsiteX6" fmla="*/ 0 w 7816995"/>
              <a:gd name="connsiteY6" fmla="*/ 2510645 h 6907385"/>
              <a:gd name="connsiteX7" fmla="*/ 3320 w 7816995"/>
              <a:gd name="connsiteY7" fmla="*/ 0 h 6907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16995" h="6907385">
                <a:moveTo>
                  <a:pt x="3320" y="0"/>
                </a:moveTo>
                <a:lnTo>
                  <a:pt x="7816995" y="0"/>
                </a:lnTo>
                <a:lnTo>
                  <a:pt x="2899555" y="4648200"/>
                </a:lnTo>
                <a:lnTo>
                  <a:pt x="6362700" y="6907385"/>
                </a:lnTo>
                <a:lnTo>
                  <a:pt x="743754" y="6898913"/>
                </a:lnTo>
                <a:lnTo>
                  <a:pt x="2876060" y="4644390"/>
                </a:lnTo>
                <a:cubicBezTo>
                  <a:pt x="1610033" y="3689302"/>
                  <a:pt x="1117437" y="3324763"/>
                  <a:pt x="0" y="2510645"/>
                </a:cubicBezTo>
                <a:cubicBezTo>
                  <a:pt x="1107" y="1673763"/>
                  <a:pt x="2213" y="836882"/>
                  <a:pt x="3320" y="0"/>
                </a:cubicBezTo>
                <a:close/>
              </a:path>
            </a:pathLst>
          </a:custGeom>
          <a:solidFill>
            <a:schemeClr val="tx2"/>
          </a:solidFill>
          <a:ln w="22225">
            <a:noFill/>
          </a:ln>
        </p:spPr>
        <p:txBody>
          <a:bodyPr lIns="274320" tIns="274320">
            <a:normAutofit/>
          </a:bodyPr>
          <a:lstStyle>
            <a:lvl1pPr marL="0" indent="0">
              <a:buNone/>
              <a:defRPr sz="2000"/>
            </a:lvl1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992" y="731562"/>
            <a:ext cx="4902843" cy="3526778"/>
          </a:xfrm>
          <a:noFill/>
        </p:spPr>
        <p:txBody>
          <a:bodyPr anchor="b">
            <a:noAutofit/>
          </a:bodyPr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80992" y="4373217"/>
            <a:ext cx="4902843" cy="1753221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000"/>
              </a:spcBef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0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1000"/>
              </a:spcBef>
              <a:defRPr sz="1400">
                <a:solidFill>
                  <a:schemeClr val="tx1"/>
                </a:solidFill>
              </a:defRPr>
            </a:lvl3pPr>
            <a:lvl4pPr>
              <a:spcBef>
                <a:spcPts val="1000"/>
              </a:spcBef>
              <a:defRPr sz="1200">
                <a:solidFill>
                  <a:schemeClr val="tx1"/>
                </a:solidFill>
              </a:defRPr>
            </a:lvl4pPr>
            <a:lvl5pPr>
              <a:spcBef>
                <a:spcPts val="100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25396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436E0F2-A64B-471E-93C0-8DFE08CC57C8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C1E3AB1-2A8C-4607-9FAE-D8BDB280FE1A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6D66059-832F-40B6-A35F-F56C8F38A1E7}"/>
              </a:ext>
            </a:extLst>
          </p:cNvPr>
          <p:cNvCxnSpPr>
            <a:cxnSpLocks/>
          </p:cNvCxnSpPr>
          <p:nvPr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515E2ED-7EA9-448D-83FA-54C3DF9723BD}"/>
              </a:ext>
            </a:extLst>
          </p:cNvPr>
          <p:cNvCxnSpPr>
            <a:cxnSpLocks/>
          </p:cNvCxnSpPr>
          <p:nvPr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0595356-EABD-4767-AC9D-EA21FF115EC0}"/>
              </a:ext>
            </a:extLst>
          </p:cNvPr>
          <p:cNvCxnSpPr>
            <a:cxnSpLocks/>
          </p:cNvCxnSpPr>
          <p:nvPr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8CD9F06-9628-469C-B788-A894E3E08281}"/>
              </a:ext>
            </a:extLst>
          </p:cNvPr>
          <p:cNvCxnSpPr>
            <a:cxnSpLocks/>
          </p:cNvCxnSpPr>
          <p:nvPr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550A431-0B61-421B-B4B7-24C0CFF0F938}"/>
              </a:ext>
            </a:extLst>
          </p:cNvPr>
          <p:cNvCxnSpPr>
            <a:cxnSpLocks/>
          </p:cNvCxnSpPr>
          <p:nvPr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5B94C5-D205-4339-B029-5D0FD2E5F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533401"/>
            <a:ext cx="9906000" cy="13821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96DC5C-BD34-4CE4-8AA7-A6A4B9516F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000" y="2009554"/>
            <a:ext cx="9906000" cy="40244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F192A7-D622-449D-9FC2-48FDE4D690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337102" y="6398878"/>
            <a:ext cx="419390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100">
                <a:solidFill>
                  <a:schemeClr val="tx2"/>
                </a:solidFill>
                <a:latin typeface="+mn-lt"/>
              </a:defRPr>
            </a:lvl1pPr>
          </a:lstStyle>
          <a:p>
            <a:fld id="{4398A54E-4586-47C6-A5F1-3922EF60E597}" type="datetime1">
              <a:rPr lang="en-US" smtClean="0"/>
              <a:t>2/4/2025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5B93C-2BE9-4847-BFE5-D3CBCC6E9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4429" y="6398878"/>
            <a:ext cx="449731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 b="1" spc="30" baseline="0">
                <a:solidFill>
                  <a:schemeClr val="tx2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F70A99-395E-4F22-8AAB-6C7EE743D7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02477" y="6398878"/>
            <a:ext cx="47088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100">
                <a:solidFill>
                  <a:schemeClr val="tx2"/>
                </a:solidFill>
                <a:latin typeface="+mn-lt"/>
              </a:defRPr>
            </a:lvl1pPr>
          </a:lstStyle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065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74" r:id="rId7"/>
    <p:sldLayoutId id="2147483675" r:id="rId8"/>
    <p:sldLayoutId id="2147483676" r:id="rId9"/>
    <p:sldLayoutId id="2147483677" r:id="rId10"/>
    <p:sldLayoutId id="2147483678" r:id="rId11"/>
    <p:sldLayoutId id="2147483679" r:id="rId12"/>
    <p:sldLayoutId id="2147483680" r:id="rId13"/>
    <p:sldLayoutId id="2147483681" r:id="rId14"/>
    <p:sldLayoutId id="2147483682" r:id="rId15"/>
    <p:sldLayoutId id="2147483683" r:id="rId16"/>
    <p:sldLayoutId id="2147483685" r:id="rId17"/>
    <p:sldLayoutId id="2147483686" r:id="rId18"/>
    <p:sldLayoutId id="2147483687" r:id="rId19"/>
    <p:sldLayoutId id="2147483688" r:id="rId20"/>
    <p:sldLayoutId id="2147483689" r:id="rId21"/>
    <p:sldLayoutId id="2147483690" r:id="rId22"/>
    <p:sldLayoutId id="2147483691" r:id="rId23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i="1" kern="1200" cap="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336">
          <p15:clr>
            <a:srgbClr val="F26B43"/>
          </p15:clr>
        </p15:guide>
        <p15:guide id="4" orient="horz" pos="3984">
          <p15:clr>
            <a:srgbClr val="F26B43"/>
          </p15:clr>
        </p15:guide>
        <p15:guide id="5" pos="336">
          <p15:clr>
            <a:srgbClr val="F26B43"/>
          </p15:clr>
        </p15:guide>
        <p15:guide id="6" pos="7344">
          <p15:clr>
            <a:srgbClr val="F26B43"/>
          </p15:clr>
        </p15:guide>
        <p15:guide id="7" pos="720">
          <p15:clr>
            <a:srgbClr val="F26B43"/>
          </p15:clr>
        </p15:guide>
        <p15:guide id="8" pos="69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FEC93CF-2672-7D78-F278-58C5E012E0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8745" y="-2313706"/>
            <a:ext cx="6457444" cy="4903157"/>
          </a:xfrm>
        </p:spPr>
        <p:txBody>
          <a:bodyPr/>
          <a:lstStyle/>
          <a:p>
            <a:r>
              <a:rPr lang="en-US" sz="3200" dirty="0"/>
              <a:t>Real Estate Price Estimation using machine learning</a:t>
            </a:r>
            <a:br>
              <a:rPr lang="en-US" sz="3200" dirty="0"/>
            </a:br>
            <a:endParaRPr lang="en-US" sz="3200" dirty="0"/>
          </a:p>
        </p:txBody>
      </p:sp>
      <p:pic>
        <p:nvPicPr>
          <p:cNvPr id="2" name="Google Shape;93;p13">
            <a:extLst>
              <a:ext uri="{FF2B5EF4-FFF2-40B4-BE49-F238E27FC236}">
                <a16:creationId xmlns:a16="http://schemas.microsoft.com/office/drawing/2014/main" id="{44F2FC3A-CDB1-B052-2294-90B31073414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996198"/>
            <a:ext cx="3268214" cy="7695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תיבת טקסט 3">
            <a:extLst>
              <a:ext uri="{FF2B5EF4-FFF2-40B4-BE49-F238E27FC236}">
                <a16:creationId xmlns:a16="http://schemas.microsoft.com/office/drawing/2014/main" id="{63B049AC-21ED-23A5-15BF-7974F0C6017E}"/>
              </a:ext>
            </a:extLst>
          </p:cNvPr>
          <p:cNvSpPr txBox="1"/>
          <p:nvPr/>
        </p:nvSpPr>
        <p:spPr>
          <a:xfrm>
            <a:off x="635224" y="3088096"/>
            <a:ext cx="6125670" cy="87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u="sng" dirty="0"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Students</a:t>
            </a:r>
            <a:r>
              <a:rPr lang="en-US" sz="1800" dirty="0"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: </a:t>
            </a:r>
            <a:r>
              <a:rPr lang="en-US" sz="1800" dirty="0" err="1"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Joul</a:t>
            </a:r>
            <a:r>
              <a:rPr lang="en-US" sz="1800" dirty="0"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Hourany</a:t>
            </a:r>
            <a:r>
              <a:rPr lang="en-US" sz="1800" dirty="0"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&amp; </a:t>
            </a:r>
            <a:r>
              <a:rPr lang="en-US" dirty="0"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Asaad </a:t>
            </a:r>
            <a:r>
              <a:rPr lang="en-US" dirty="0" err="1"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sajim</a:t>
            </a:r>
            <a:endParaRPr lang="en-US" sz="1800" dirty="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u="sng" dirty="0"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Supervisor</a:t>
            </a:r>
            <a:r>
              <a:rPr lang="en-US" sz="1800" dirty="0"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: Dr. Reuven Cohen</a:t>
            </a:r>
          </a:p>
        </p:txBody>
      </p:sp>
      <p:pic>
        <p:nvPicPr>
          <p:cNvPr id="8" name="Picture Placeholder 6" descr="Looking up view of a city with skyscrapers">
            <a:extLst>
              <a:ext uri="{FF2B5EF4-FFF2-40B4-BE49-F238E27FC236}">
                <a16:creationId xmlns:a16="http://schemas.microsoft.com/office/drawing/2014/main" id="{ED35945E-1234-126E-980F-A53DC7023F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" r="72"/>
          <a:stretch/>
        </p:blipFill>
        <p:spPr>
          <a:xfrm>
            <a:off x="5624513" y="-6350"/>
            <a:ext cx="6578600" cy="6894513"/>
          </a:xfrm>
        </p:spPr>
      </p:pic>
    </p:spTree>
    <p:extLst>
      <p:ext uri="{BB962C8B-B14F-4D97-AF65-F5344CB8AC3E}">
        <p14:creationId xmlns:p14="http://schemas.microsoft.com/office/powerpoint/2010/main" val="3078994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Placeholder 6" descr="A city skyline">
            <a:extLst>
              <a:ext uri="{FF2B5EF4-FFF2-40B4-BE49-F238E27FC236}">
                <a16:creationId xmlns:a16="http://schemas.microsoft.com/office/drawing/2014/main" id="{086C9520-C924-5732-CC82-F0C4A533D4E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" r="38"/>
          <a:stretch/>
        </p:blipFill>
        <p:spPr/>
      </p:pic>
      <p:sp>
        <p:nvSpPr>
          <p:cNvPr id="4" name="תיבת טקסט 3">
            <a:extLst>
              <a:ext uri="{FF2B5EF4-FFF2-40B4-BE49-F238E27FC236}">
                <a16:creationId xmlns:a16="http://schemas.microsoft.com/office/drawing/2014/main" id="{54D733E6-CE9A-0576-2C3F-7E9743BBB492}"/>
              </a:ext>
            </a:extLst>
          </p:cNvPr>
          <p:cNvSpPr txBox="1"/>
          <p:nvPr/>
        </p:nvSpPr>
        <p:spPr>
          <a:xfrm>
            <a:off x="1111169" y="847465"/>
            <a:ext cx="3090441" cy="175432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5400" dirty="0">
                <a:solidFill>
                  <a:schemeClr val="bg1"/>
                </a:solidFill>
              </a:rPr>
              <a:t>Table of contents</a:t>
            </a:r>
            <a:endParaRPr lang="he-IL" sz="5400" dirty="0">
              <a:solidFill>
                <a:schemeClr val="bg1"/>
              </a:solidFill>
            </a:endParaRPr>
          </a:p>
        </p:txBody>
      </p:sp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73ADF9FB-F893-E76B-A21A-C853A493A71B}"/>
              </a:ext>
            </a:extLst>
          </p:cNvPr>
          <p:cNvSpPr txBox="1"/>
          <p:nvPr/>
        </p:nvSpPr>
        <p:spPr>
          <a:xfrm>
            <a:off x="4479252" y="1481560"/>
            <a:ext cx="4791919" cy="501675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000" dirty="0"/>
              <a:t>Traditional Real Estate Valuation	3</a:t>
            </a:r>
          </a:p>
          <a:p>
            <a:r>
              <a:rPr lang="en-US" sz="2000" dirty="0"/>
              <a:t>The Problem			4</a:t>
            </a:r>
          </a:p>
          <a:p>
            <a:r>
              <a:rPr lang="en-US" sz="2000" dirty="0"/>
              <a:t>Existing Solutions			5</a:t>
            </a:r>
          </a:p>
          <a:p>
            <a:r>
              <a:rPr lang="en-US" sz="2000" dirty="0"/>
              <a:t>Our Solution			6</a:t>
            </a:r>
          </a:p>
          <a:p>
            <a:r>
              <a:rPr lang="en-US" sz="2000" dirty="0"/>
              <a:t>Software Architecture Diagram	7</a:t>
            </a:r>
          </a:p>
          <a:p>
            <a:r>
              <a:rPr lang="en-US" sz="2000" dirty="0"/>
              <a:t>Decision Tree			8</a:t>
            </a:r>
          </a:p>
          <a:p>
            <a:r>
              <a:rPr lang="en-US" sz="2000" dirty="0"/>
              <a:t>Random Forest	                	9</a:t>
            </a:r>
          </a:p>
          <a:p>
            <a:r>
              <a:rPr lang="en-US" sz="2000" dirty="0"/>
              <a:t>Dataset		                	10</a:t>
            </a:r>
          </a:p>
          <a:p>
            <a:r>
              <a:rPr lang="en-US" sz="2000" dirty="0"/>
              <a:t>Challenge		                11</a:t>
            </a:r>
          </a:p>
          <a:p>
            <a:r>
              <a:rPr lang="en-US" sz="2000" dirty="0"/>
              <a:t>Prediction equation	                	12</a:t>
            </a:r>
          </a:p>
          <a:p>
            <a:r>
              <a:rPr lang="en-US" sz="2000" dirty="0"/>
              <a:t>Expectations		                13</a:t>
            </a:r>
          </a:p>
          <a:p>
            <a:r>
              <a:rPr lang="en-US" sz="2000" dirty="0" err="1"/>
              <a:t>UseCase</a:t>
            </a:r>
            <a:r>
              <a:rPr lang="en-US" sz="2000" dirty="0"/>
              <a:t> Diagram	                	14</a:t>
            </a:r>
          </a:p>
          <a:p>
            <a:r>
              <a:rPr lang="en-US" sz="2000" dirty="0"/>
              <a:t>Activity Diagram	                	15</a:t>
            </a:r>
          </a:p>
          <a:p>
            <a:r>
              <a:rPr lang="en-US" sz="2000" dirty="0"/>
              <a:t>User Interface	                	16</a:t>
            </a:r>
          </a:p>
          <a:p>
            <a:r>
              <a:rPr lang="en-US" sz="2000" dirty="0"/>
              <a:t>Testing		                	18</a:t>
            </a:r>
          </a:p>
          <a:p>
            <a:r>
              <a:rPr lang="en-US" sz="2000"/>
              <a:t>Valuations</a:t>
            </a:r>
            <a:r>
              <a:rPr lang="en-US" sz="2000" dirty="0"/>
              <a:t>			19</a:t>
            </a:r>
          </a:p>
        </p:txBody>
      </p:sp>
    </p:spTree>
    <p:extLst>
      <p:ext uri="{BB962C8B-B14F-4D97-AF65-F5344CB8AC3E}">
        <p14:creationId xmlns:p14="http://schemas.microsoft.com/office/powerpoint/2010/main" val="1038351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436E0F2-A64B-471E-93C0-8DFE08CC5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C1E3AB1-2A8C-4607-9FAE-D8BDB280F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6D66059-832F-40B6-A35F-F56C8F38A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515E2ED-7EA9-448D-83FA-54C3DF972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0595356-EABD-4767-AC9D-EA21FF115E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8CD9F06-9628-469C-B788-A894E3E082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550A431-0B61-421B-B4B7-24C0CFF0F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8A727593-9B07-4A52-BD38-D0D1449C05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23">
            <a:extLst>
              <a:ext uri="{FF2B5EF4-FFF2-40B4-BE49-F238E27FC236}">
                <a16:creationId xmlns:a16="http://schemas.microsoft.com/office/drawing/2014/main" id="{78FC9412-3D82-4FEB-B522-2A63FFBB98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15811"/>
            <a:ext cx="3448424" cy="6932218"/>
          </a:xfrm>
          <a:custGeom>
            <a:avLst/>
            <a:gdLst>
              <a:gd name="connsiteX0" fmla="*/ 0 w 5803153"/>
              <a:gd name="connsiteY0" fmla="*/ 0 h 6857998"/>
              <a:gd name="connsiteX1" fmla="*/ 5803153 w 5803153"/>
              <a:gd name="connsiteY1" fmla="*/ 0 h 6857998"/>
              <a:gd name="connsiteX2" fmla="*/ 5803153 w 5803153"/>
              <a:gd name="connsiteY2" fmla="*/ 6857998 h 6857998"/>
              <a:gd name="connsiteX3" fmla="*/ 0 w 5803153"/>
              <a:gd name="connsiteY3" fmla="*/ 6857998 h 6857998"/>
              <a:gd name="connsiteX4" fmla="*/ 0 w 5803153"/>
              <a:gd name="connsiteY4" fmla="*/ 0 h 6857998"/>
              <a:gd name="connsiteX0" fmla="*/ 1016000 w 5803153"/>
              <a:gd name="connsiteY0" fmla="*/ 0 h 6857998"/>
              <a:gd name="connsiteX1" fmla="*/ 5803153 w 5803153"/>
              <a:gd name="connsiteY1" fmla="*/ 0 h 6857998"/>
              <a:gd name="connsiteX2" fmla="*/ 5803153 w 5803153"/>
              <a:gd name="connsiteY2" fmla="*/ 6857998 h 6857998"/>
              <a:gd name="connsiteX3" fmla="*/ 0 w 5803153"/>
              <a:gd name="connsiteY3" fmla="*/ 6857998 h 6857998"/>
              <a:gd name="connsiteX4" fmla="*/ 1016000 w 5803153"/>
              <a:gd name="connsiteY4" fmla="*/ 0 h 6857998"/>
              <a:gd name="connsiteX0" fmla="*/ 1338729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338729 w 6125882"/>
              <a:gd name="connsiteY4" fmla="*/ 0 h 6857998"/>
              <a:gd name="connsiteX0" fmla="*/ 1697317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697317 w 6125882"/>
              <a:gd name="connsiteY4" fmla="*/ 0 h 6857998"/>
              <a:gd name="connsiteX0" fmla="*/ 2702091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2702091 w 6125882"/>
              <a:gd name="connsiteY4" fmla="*/ 0 h 6857998"/>
              <a:gd name="connsiteX0" fmla="*/ 1215089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215089 w 6125882"/>
              <a:gd name="connsiteY4" fmla="*/ 0 h 6857998"/>
              <a:gd name="connsiteX0" fmla="*/ 1222204 w 6132997"/>
              <a:gd name="connsiteY0" fmla="*/ 0 h 6881904"/>
              <a:gd name="connsiteX1" fmla="*/ 6132997 w 6132997"/>
              <a:gd name="connsiteY1" fmla="*/ 0 h 6881904"/>
              <a:gd name="connsiteX2" fmla="*/ 6132997 w 6132997"/>
              <a:gd name="connsiteY2" fmla="*/ 6857998 h 6881904"/>
              <a:gd name="connsiteX3" fmla="*/ 0 w 6132997"/>
              <a:gd name="connsiteY3" fmla="*/ 6881904 h 6881904"/>
              <a:gd name="connsiteX4" fmla="*/ 1222204 w 6132997"/>
              <a:gd name="connsiteY4" fmla="*/ 0 h 6881904"/>
              <a:gd name="connsiteX0" fmla="*/ 1348644 w 6132997"/>
              <a:gd name="connsiteY0" fmla="*/ 0 h 6893857"/>
              <a:gd name="connsiteX1" fmla="*/ 6132997 w 6132997"/>
              <a:gd name="connsiteY1" fmla="*/ 11953 h 6893857"/>
              <a:gd name="connsiteX2" fmla="*/ 6132997 w 6132997"/>
              <a:gd name="connsiteY2" fmla="*/ 6869951 h 6893857"/>
              <a:gd name="connsiteX3" fmla="*/ 0 w 6132997"/>
              <a:gd name="connsiteY3" fmla="*/ 6893857 h 6893857"/>
              <a:gd name="connsiteX4" fmla="*/ 1348644 w 6132997"/>
              <a:gd name="connsiteY4" fmla="*/ 0 h 6893857"/>
              <a:gd name="connsiteX0" fmla="*/ 1457021 w 6132997"/>
              <a:gd name="connsiteY0" fmla="*/ 0 h 6893857"/>
              <a:gd name="connsiteX1" fmla="*/ 6132997 w 6132997"/>
              <a:gd name="connsiteY1" fmla="*/ 11953 h 6893857"/>
              <a:gd name="connsiteX2" fmla="*/ 6132997 w 6132997"/>
              <a:gd name="connsiteY2" fmla="*/ 6869951 h 6893857"/>
              <a:gd name="connsiteX3" fmla="*/ 0 w 6132997"/>
              <a:gd name="connsiteY3" fmla="*/ 6893857 h 6893857"/>
              <a:gd name="connsiteX4" fmla="*/ 1457021 w 6132997"/>
              <a:gd name="connsiteY4" fmla="*/ 0 h 6893857"/>
              <a:gd name="connsiteX0" fmla="*/ 1754909 w 6430885"/>
              <a:gd name="connsiteY0" fmla="*/ 0 h 6869951"/>
              <a:gd name="connsiteX1" fmla="*/ 6430885 w 6430885"/>
              <a:gd name="connsiteY1" fmla="*/ 11953 h 6869951"/>
              <a:gd name="connsiteX2" fmla="*/ 6430885 w 6430885"/>
              <a:gd name="connsiteY2" fmla="*/ 6869951 h 6869951"/>
              <a:gd name="connsiteX3" fmla="*/ 0 w 6430885"/>
              <a:gd name="connsiteY3" fmla="*/ 6869951 h 6869951"/>
              <a:gd name="connsiteX4" fmla="*/ 1754909 w 6430885"/>
              <a:gd name="connsiteY4" fmla="*/ 0 h 6869951"/>
              <a:gd name="connsiteX0" fmla="*/ 2023235 w 6699211"/>
              <a:gd name="connsiteY0" fmla="*/ 0 h 6869951"/>
              <a:gd name="connsiteX1" fmla="*/ 6699211 w 6699211"/>
              <a:gd name="connsiteY1" fmla="*/ 11953 h 6869951"/>
              <a:gd name="connsiteX2" fmla="*/ 6699211 w 6699211"/>
              <a:gd name="connsiteY2" fmla="*/ 6869951 h 6869951"/>
              <a:gd name="connsiteX3" fmla="*/ 0 w 6699211"/>
              <a:gd name="connsiteY3" fmla="*/ 6856303 h 6869951"/>
              <a:gd name="connsiteX4" fmla="*/ 2023235 w 6699211"/>
              <a:gd name="connsiteY4" fmla="*/ 0 h 6869951"/>
              <a:gd name="connsiteX0" fmla="*/ 2702995 w 6699211"/>
              <a:gd name="connsiteY0" fmla="*/ 42638 h 6857998"/>
              <a:gd name="connsiteX1" fmla="*/ 6699211 w 6699211"/>
              <a:gd name="connsiteY1" fmla="*/ 0 h 6857998"/>
              <a:gd name="connsiteX2" fmla="*/ 6699211 w 6699211"/>
              <a:gd name="connsiteY2" fmla="*/ 6857998 h 6857998"/>
              <a:gd name="connsiteX3" fmla="*/ 0 w 6699211"/>
              <a:gd name="connsiteY3" fmla="*/ 6844350 h 6857998"/>
              <a:gd name="connsiteX4" fmla="*/ 2702995 w 6699211"/>
              <a:gd name="connsiteY4" fmla="*/ 42638 h 6857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99211" h="6857998">
                <a:moveTo>
                  <a:pt x="2702995" y="42638"/>
                </a:moveTo>
                <a:lnTo>
                  <a:pt x="6699211" y="0"/>
                </a:lnTo>
                <a:lnTo>
                  <a:pt x="6699211" y="6857998"/>
                </a:lnTo>
                <a:lnTo>
                  <a:pt x="0" y="6844350"/>
                </a:lnTo>
                <a:lnTo>
                  <a:pt x="2702995" y="42638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0034E89-1952-5288-08A0-70A4A73BE3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89378"/>
            <a:ext cx="3846486" cy="3377496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l"/>
            <a:r>
              <a:rPr lang="en-US" sz="3500" dirty="0"/>
              <a:t>Traditional</a:t>
            </a:r>
            <a:br>
              <a:rPr lang="en-US" sz="3500" dirty="0"/>
            </a:br>
            <a:br>
              <a:rPr lang="en-US" sz="3500" dirty="0"/>
            </a:br>
            <a:r>
              <a:rPr lang="en-US" sz="3500" dirty="0"/>
              <a:t>Real Estate</a:t>
            </a:r>
            <a:br>
              <a:rPr lang="en-US" sz="3500" dirty="0"/>
            </a:br>
            <a:br>
              <a:rPr lang="en-US" sz="3500" dirty="0"/>
            </a:br>
            <a:r>
              <a:rPr lang="en-US" sz="3500" dirty="0"/>
              <a:t>Valuation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65F5202-1798-429B-BEB0-642EC2B14C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0" y="5329451"/>
            <a:ext cx="6096000" cy="1528549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6" name="תיבת טקסט 6">
            <a:extLst>
              <a:ext uri="{FF2B5EF4-FFF2-40B4-BE49-F238E27FC236}">
                <a16:creationId xmlns:a16="http://schemas.microsoft.com/office/drawing/2014/main" id="{A1C289CF-39F9-68A7-E009-B629C6110E8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73099754"/>
              </p:ext>
            </p:extLst>
          </p:nvPr>
        </p:nvGraphicFramePr>
        <p:xfrm>
          <a:off x="4210029" y="-144282"/>
          <a:ext cx="6765601" cy="5791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4" name="image14.png" descr="תמונה שמכילה אומנות ילדים, שרטוט, אוריגמי&#10;&#10;התיאור נוצר באופן אוטומטי">
            <a:extLst>
              <a:ext uri="{FF2B5EF4-FFF2-40B4-BE49-F238E27FC236}">
                <a16:creationId xmlns:a16="http://schemas.microsoft.com/office/drawing/2014/main" id="{8880AF50-3A5A-98E2-EB04-78F1E52ADAA9}"/>
              </a:ext>
            </a:extLst>
          </p:cNvPr>
          <p:cNvPicPr>
            <a:picLocks noGrp="1"/>
          </p:cNvPicPr>
          <p:nvPr>
            <p:ph type="pic" sz="quarter" idx="13"/>
          </p:nvPr>
        </p:nvPicPr>
        <p:blipFill>
          <a:blip r:embed="rId8"/>
          <a:srcRect t="3806" b="5454"/>
          <a:stretch/>
        </p:blipFill>
        <p:spPr>
          <a:xfrm>
            <a:off x="2044700" y="4445000"/>
            <a:ext cx="10147300" cy="2413000"/>
          </a:xfrm>
          <a:prstGeom prst="rect">
            <a:avLst/>
          </a:prstGeom>
          <a:ln/>
        </p:spPr>
      </p:pic>
      <p:sp>
        <p:nvSpPr>
          <p:cNvPr id="15" name="מלבן 14">
            <a:extLst>
              <a:ext uri="{FF2B5EF4-FFF2-40B4-BE49-F238E27FC236}">
                <a16:creationId xmlns:a16="http://schemas.microsoft.com/office/drawing/2014/main" id="{CFFFB9D3-193F-29E7-F8C0-AA611408FBA1}"/>
              </a:ext>
            </a:extLst>
          </p:cNvPr>
          <p:cNvSpPr/>
          <p:nvPr/>
        </p:nvSpPr>
        <p:spPr>
          <a:xfrm rot="619356">
            <a:off x="-319791" y="4027241"/>
            <a:ext cx="2651657" cy="2950092"/>
          </a:xfrm>
          <a:prstGeom prst="rect">
            <a:avLst/>
          </a:prstGeom>
          <a:solidFill>
            <a:srgbClr val="F0ECE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821088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B420E-D3C7-9B35-8542-448165948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87E2DE-79AE-79A0-5EB2-7E8147C521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664262" y="330977"/>
            <a:ext cx="9144000" cy="890920"/>
          </a:xfrm>
          <a:noFill/>
        </p:spPr>
        <p:txBody>
          <a:bodyPr anchor="b"/>
          <a:lstStyle/>
          <a:p>
            <a:r>
              <a:rPr lang="en-US" dirty="0"/>
              <a:t>The problem </a:t>
            </a:r>
          </a:p>
        </p:txBody>
      </p:sp>
      <p:pic>
        <p:nvPicPr>
          <p:cNvPr id="17" name="Picture Placeholder 16" descr="A city with tall buildings">
            <a:extLst>
              <a:ext uri="{FF2B5EF4-FFF2-40B4-BE49-F238E27FC236}">
                <a16:creationId xmlns:a16="http://schemas.microsoft.com/office/drawing/2014/main" id="{A70F27D4-80E2-548C-5674-2A4D75E777F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" r="13"/>
          <a:stretch/>
        </p:blipFill>
        <p:spPr/>
      </p:pic>
      <p:sp>
        <p:nvSpPr>
          <p:cNvPr id="4" name="תיבת טקסט 3">
            <a:extLst>
              <a:ext uri="{FF2B5EF4-FFF2-40B4-BE49-F238E27FC236}">
                <a16:creationId xmlns:a16="http://schemas.microsoft.com/office/drawing/2014/main" id="{CCF18B10-D98C-51F9-3B56-8F9937FB7CBE}"/>
              </a:ext>
            </a:extLst>
          </p:cNvPr>
          <p:cNvSpPr txBox="1"/>
          <p:nvPr/>
        </p:nvSpPr>
        <p:spPr>
          <a:xfrm>
            <a:off x="658810" y="1630247"/>
            <a:ext cx="6936258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Challenges in Property Valuation:</a:t>
            </a:r>
          </a:p>
          <a:p>
            <a:pPr lvl="1"/>
            <a:endParaRPr lang="he-IL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72525"/>
                </a:solidFill>
                <a:latin typeface="Univers Condensed Light (גוף)"/>
                <a:ea typeface="Petrona Bold" pitchFamily="34" charset="-122"/>
              </a:rPr>
              <a:t>Difficulty Finding Comparable Properties</a:t>
            </a:r>
            <a:endParaRPr lang="he-IL" sz="2000" dirty="0">
              <a:latin typeface="Univers Condensed Light (גוף)"/>
            </a:endParaRPr>
          </a:p>
          <a:p>
            <a:pPr lvl="1"/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Time-consuming processes. </a:t>
            </a:r>
          </a:p>
          <a:p>
            <a:pPr lvl="1"/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High Costs</a:t>
            </a:r>
          </a:p>
          <a:p>
            <a:pPr lvl="1"/>
            <a:endParaRPr lang="en-US" dirty="0"/>
          </a:p>
          <a:p>
            <a:r>
              <a:rPr lang="en-US" b="1" dirty="0"/>
              <a:t>Impact:</a:t>
            </a:r>
            <a:r>
              <a:rPr lang="en-US" dirty="0"/>
              <a:t> Difficulty in making fair decisions for buyers and sellers.</a:t>
            </a:r>
          </a:p>
        </p:txBody>
      </p:sp>
    </p:spTree>
    <p:extLst>
      <p:ext uri="{BB962C8B-B14F-4D97-AF65-F5344CB8AC3E}">
        <p14:creationId xmlns:p14="http://schemas.microsoft.com/office/powerpoint/2010/main" val="2285008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8561" y="-2142053"/>
            <a:ext cx="6804135" cy="3354992"/>
          </a:xfrm>
          <a:noFill/>
        </p:spPr>
        <p:txBody>
          <a:bodyPr>
            <a:noAutofit/>
          </a:bodyPr>
          <a:lstStyle/>
          <a:p>
            <a:r>
              <a:rPr lang="en-US" b="1" dirty="0"/>
              <a:t>Existing Solutions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446868-83F0-CEEF-5E60-6D55C93B52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3088" y="1402520"/>
            <a:ext cx="9006434" cy="4336925"/>
          </a:xfrm>
          <a:noFill/>
        </p:spPr>
        <p:txBody>
          <a:bodyPr anchor="t"/>
          <a:lstStyle/>
          <a:p>
            <a:r>
              <a:rPr lang="en-US" dirty="0"/>
              <a:t> </a:t>
            </a:r>
            <a:r>
              <a:rPr lang="en-US" b="1" dirty="0"/>
              <a:t>Current Tools:</a:t>
            </a:r>
            <a:r>
              <a:rPr lang="en-US" dirty="0">
                <a:solidFill>
                  <a:schemeClr val="tx1"/>
                </a:solidFill>
              </a:rPr>
              <a:t> </a:t>
            </a:r>
          </a:p>
          <a:p>
            <a:r>
              <a:rPr lang="en-US" dirty="0">
                <a:solidFill>
                  <a:schemeClr val="tx1"/>
                </a:solidFill>
              </a:rPr>
              <a:t>    </a:t>
            </a:r>
          </a:p>
          <a:p>
            <a:r>
              <a:rPr lang="en-US" dirty="0">
                <a:solidFill>
                  <a:schemeClr val="tx1"/>
                </a:solidFill>
              </a:rPr>
              <a:t>        Online platforms like Zillow and </a:t>
            </a:r>
            <a:r>
              <a:rPr lang="en-US" dirty="0" err="1">
                <a:solidFill>
                  <a:schemeClr val="tx1"/>
                </a:solidFill>
              </a:rPr>
              <a:t>Idealista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pic>
        <p:nvPicPr>
          <p:cNvPr id="43" name="Picture Placeholder 42" descr="A plane flying over a city">
            <a:extLst>
              <a:ext uri="{FF2B5EF4-FFF2-40B4-BE49-F238E27FC236}">
                <a16:creationId xmlns:a16="http://schemas.microsoft.com/office/drawing/2014/main" id="{9100BC91-12A3-DE75-3F38-9C17D39DC5E7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" r="39"/>
          <a:stretch/>
        </p:blipFill>
        <p:spPr>
          <a:xfrm>
            <a:off x="9542834" y="-11576"/>
            <a:ext cx="2660741" cy="6903720"/>
          </a:xfrm>
        </p:spPr>
      </p:pic>
      <p:pic>
        <p:nvPicPr>
          <p:cNvPr id="5" name="image12.png" descr="תמונה שמכילה טקסט, שמיים, צילום מסך, בחוץ&#10;&#10;התיאור נוצר באופן אוטומטי">
            <a:extLst>
              <a:ext uri="{FF2B5EF4-FFF2-40B4-BE49-F238E27FC236}">
                <a16:creationId xmlns:a16="http://schemas.microsoft.com/office/drawing/2014/main" id="{6032D8F1-8F53-DE73-E625-12A92A3F0D41}"/>
              </a:ext>
            </a:extLst>
          </p:cNvPr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2226860" y="4469528"/>
            <a:ext cx="4972997" cy="2190634"/>
          </a:xfrm>
          <a:prstGeom prst="rect">
            <a:avLst/>
          </a:prstGeom>
          <a:ln/>
        </p:spPr>
      </p:pic>
      <p:sp>
        <p:nvSpPr>
          <p:cNvPr id="4" name="אליפסה 3">
            <a:extLst>
              <a:ext uri="{FF2B5EF4-FFF2-40B4-BE49-F238E27FC236}">
                <a16:creationId xmlns:a16="http://schemas.microsoft.com/office/drawing/2014/main" id="{38E0ADAE-6E84-8E35-2EE5-854A317D0B20}"/>
              </a:ext>
            </a:extLst>
          </p:cNvPr>
          <p:cNvSpPr/>
          <p:nvPr/>
        </p:nvSpPr>
        <p:spPr>
          <a:xfrm>
            <a:off x="3269183" y="2201034"/>
            <a:ext cx="784928" cy="356049"/>
          </a:xfrm>
          <a:prstGeom prst="ellipse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nivers Condensed Light"/>
              <a:ea typeface="+mn-ea"/>
              <a:cs typeface="+mn-cs"/>
            </a:endParaRPr>
          </a:p>
        </p:txBody>
      </p:sp>
      <p:cxnSp>
        <p:nvCxnSpPr>
          <p:cNvPr id="7" name="מחבר חץ ישר 6">
            <a:extLst>
              <a:ext uri="{FF2B5EF4-FFF2-40B4-BE49-F238E27FC236}">
                <a16:creationId xmlns:a16="http://schemas.microsoft.com/office/drawing/2014/main" id="{174C895D-AA2F-CCA3-1155-B37513A7B05A}"/>
              </a:ext>
            </a:extLst>
          </p:cNvPr>
          <p:cNvCxnSpPr/>
          <p:nvPr/>
        </p:nvCxnSpPr>
        <p:spPr>
          <a:xfrm flipV="1">
            <a:off x="3657600" y="1731696"/>
            <a:ext cx="178025" cy="4369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תיבת טקסט 7">
            <a:extLst>
              <a:ext uri="{FF2B5EF4-FFF2-40B4-BE49-F238E27FC236}">
                <a16:creationId xmlns:a16="http://schemas.microsoft.com/office/drawing/2014/main" id="{B2057877-FD3E-FCB5-3910-5599F08E353E}"/>
              </a:ext>
            </a:extLst>
          </p:cNvPr>
          <p:cNvSpPr txBox="1"/>
          <p:nvPr/>
        </p:nvSpPr>
        <p:spPr>
          <a:xfrm>
            <a:off x="2345984" y="1293155"/>
            <a:ext cx="4272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is a well-known platform in the United States. 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nivers Condensed Light"/>
              <a:ea typeface="+mn-ea"/>
              <a:cs typeface="+mn-cs"/>
            </a:endParaRPr>
          </a:p>
        </p:txBody>
      </p:sp>
      <p:sp>
        <p:nvSpPr>
          <p:cNvPr id="9" name="אליפסה 8">
            <a:extLst>
              <a:ext uri="{FF2B5EF4-FFF2-40B4-BE49-F238E27FC236}">
                <a16:creationId xmlns:a16="http://schemas.microsoft.com/office/drawing/2014/main" id="{372262F3-CC7C-2218-4E1B-E6D3C39B14D0}"/>
              </a:ext>
            </a:extLst>
          </p:cNvPr>
          <p:cNvSpPr/>
          <p:nvPr/>
        </p:nvSpPr>
        <p:spPr>
          <a:xfrm>
            <a:off x="4385884" y="2201034"/>
            <a:ext cx="1092424" cy="356049"/>
          </a:xfrm>
          <a:prstGeom prst="ellipse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nivers Condensed Light"/>
              <a:ea typeface="+mn-ea"/>
              <a:cs typeface="+mn-cs"/>
            </a:endParaRPr>
          </a:p>
        </p:txBody>
      </p:sp>
      <p:cxnSp>
        <p:nvCxnSpPr>
          <p:cNvPr id="10" name="מחבר חץ ישר 9">
            <a:extLst>
              <a:ext uri="{FF2B5EF4-FFF2-40B4-BE49-F238E27FC236}">
                <a16:creationId xmlns:a16="http://schemas.microsoft.com/office/drawing/2014/main" id="{2C279E74-B388-330F-34BD-B712ED7DC065}"/>
              </a:ext>
            </a:extLst>
          </p:cNvPr>
          <p:cNvCxnSpPr>
            <a:cxnSpLocks/>
          </p:cNvCxnSpPr>
          <p:nvPr/>
        </p:nvCxnSpPr>
        <p:spPr>
          <a:xfrm flipV="1">
            <a:off x="5252125" y="1996776"/>
            <a:ext cx="226183" cy="2922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תיבת טקסט 11">
            <a:extLst>
              <a:ext uri="{FF2B5EF4-FFF2-40B4-BE49-F238E27FC236}">
                <a16:creationId xmlns:a16="http://schemas.microsoft.com/office/drawing/2014/main" id="{D2A40713-996F-97D7-A68E-CC92036B6EA0}"/>
              </a:ext>
            </a:extLst>
          </p:cNvPr>
          <p:cNvSpPr txBox="1"/>
          <p:nvPr/>
        </p:nvSpPr>
        <p:spPr>
          <a:xfrm>
            <a:off x="4433023" y="1619804"/>
            <a:ext cx="49729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is a platform mainly used in Spain, Italy, and Portugal. 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nivers Condensed Light"/>
              <a:ea typeface="+mn-ea"/>
              <a:cs typeface="+mn-cs"/>
            </a:endParaRPr>
          </a:p>
        </p:txBody>
      </p:sp>
      <p:cxnSp>
        <p:nvCxnSpPr>
          <p:cNvPr id="14" name="מחבר חץ ישר 13">
            <a:extLst>
              <a:ext uri="{FF2B5EF4-FFF2-40B4-BE49-F238E27FC236}">
                <a16:creationId xmlns:a16="http://schemas.microsoft.com/office/drawing/2014/main" id="{B66B0B9A-4692-C503-EC6E-994A20E8D6DE}"/>
              </a:ext>
            </a:extLst>
          </p:cNvPr>
          <p:cNvCxnSpPr>
            <a:cxnSpLocks/>
          </p:cNvCxnSpPr>
          <p:nvPr/>
        </p:nvCxnSpPr>
        <p:spPr>
          <a:xfrm>
            <a:off x="3645266" y="2596060"/>
            <a:ext cx="12334" cy="4995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תיבת טקסט 15">
            <a:extLst>
              <a:ext uri="{FF2B5EF4-FFF2-40B4-BE49-F238E27FC236}">
                <a16:creationId xmlns:a16="http://schemas.microsoft.com/office/drawing/2014/main" id="{F8F41DEF-1ED5-91A4-90A8-31947FA77590}"/>
              </a:ext>
            </a:extLst>
          </p:cNvPr>
          <p:cNvSpPr txBox="1"/>
          <p:nvPr/>
        </p:nvSpPr>
        <p:spPr>
          <a:xfrm>
            <a:off x="2908226" y="3132163"/>
            <a:ext cx="44263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nivers Condensed Light"/>
                <a:ea typeface="+mn-ea"/>
                <a:cs typeface="+mn-cs"/>
              </a:rPr>
              <a:t>Neither of them is designed for Israel.</a:t>
            </a:r>
          </a:p>
        </p:txBody>
      </p:sp>
      <p:cxnSp>
        <p:nvCxnSpPr>
          <p:cNvPr id="18" name="מחבר חץ ישר 17">
            <a:extLst>
              <a:ext uri="{FF2B5EF4-FFF2-40B4-BE49-F238E27FC236}">
                <a16:creationId xmlns:a16="http://schemas.microsoft.com/office/drawing/2014/main" id="{D658ADBE-E297-F348-5EF9-FD554BD1521C}"/>
              </a:ext>
            </a:extLst>
          </p:cNvPr>
          <p:cNvCxnSpPr>
            <a:cxnSpLocks/>
          </p:cNvCxnSpPr>
          <p:nvPr/>
        </p:nvCxnSpPr>
        <p:spPr>
          <a:xfrm flipH="1">
            <a:off x="4523891" y="2519866"/>
            <a:ext cx="378936" cy="5757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6505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3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5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/>
      <p:bldP spid="8" grpId="1"/>
      <p:bldP spid="9" grpId="0" animBg="1"/>
      <p:bldP spid="12" grpId="0"/>
      <p:bldP spid="12" grpId="1"/>
      <p:bldP spid="1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US" b="1" dirty="0"/>
              <a:t>Our Solution</a:t>
            </a:r>
            <a:endParaRPr lang="en-US" dirty="0"/>
          </a:p>
        </p:txBody>
      </p:sp>
      <p:pic>
        <p:nvPicPr>
          <p:cNvPr id="24" name="Picture Placeholder 7" descr="Looking up view of tall buildings">
            <a:extLst>
              <a:ext uri="{FF2B5EF4-FFF2-40B4-BE49-F238E27FC236}">
                <a16:creationId xmlns:a16="http://schemas.microsoft.com/office/drawing/2014/main" id="{A672B903-78EE-718A-C122-69D51207883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" b="61"/>
          <a:stretch/>
        </p:blipFill>
        <p:spPr>
          <a:noFill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970116" y="2022395"/>
            <a:ext cx="6930839" cy="4297680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Goal:</a:t>
            </a:r>
            <a:r>
              <a:rPr lang="en-US" dirty="0"/>
              <a:t> A web platform that predicts real estate prices for the Israeli market.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Real-Time Property Valuation Using Machine Learning Model</a:t>
            </a:r>
          </a:p>
          <a:p>
            <a:pPr lvl="1"/>
            <a:r>
              <a:rPr lang="en-US" dirty="0"/>
              <a:t>User-Provided Property Features for Accurate Predictions</a:t>
            </a:r>
          </a:p>
          <a:p>
            <a:pPr lvl="1"/>
            <a:r>
              <a:rPr lang="en-US" dirty="0"/>
              <a:t>User-Friendly Interface for Instant Price Predictions and Key Factor Explanations</a:t>
            </a:r>
          </a:p>
        </p:txBody>
      </p:sp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36E0F2-A64B-471E-93C0-8DFE08CC5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C1E3AB1-2A8C-4607-9FAE-D8BDB280F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6D66059-832F-40B6-A35F-F56C8F38A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515E2ED-7EA9-448D-83FA-54C3DF972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0595356-EABD-4767-AC9D-EA21FF115E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8CD9F06-9628-469C-B788-A894E3E082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550A431-0B61-421B-B4B7-24C0CFF0F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DD16DE02-C2C8-477C-9FD7-70A983BDE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13AF29F-D5EC-4489-BF8F-3B356C5972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3"/>
            <a:ext cx="12192000" cy="20089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0173A01-F891-430E-B39E-483E711B2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E0363E9-7CD0-497E-88D7-940136490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478117" y="0"/>
            <a:ext cx="340591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CCD4B14-FFCC-4CE5-BC9D-DF47AA1AD7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331150" y="1171094"/>
            <a:ext cx="4860850" cy="82402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5DED734-54E5-48ED-AEE6-165F24827C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8968704" y="0"/>
            <a:ext cx="2147217" cy="1995117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7A9874B-BCA9-8420-1595-EDD1865A09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9553" y="584791"/>
            <a:ext cx="10064376" cy="108684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914400" marR="457200" lvl="2" algn="l" rtl="0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  <a:buSzPts val="1400"/>
            </a:pPr>
            <a:r>
              <a:rPr lang="en-US" sz="3400" b="1" i="1" kern="1200" cap="all" dirty="0"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rPr>
              <a:t>Software Architecture Diagram</a:t>
            </a:r>
            <a:endParaRPr lang="en-US" sz="3400" i="1" kern="1200" cap="all" dirty="0">
              <a:solidFill>
                <a:schemeClr val="tx2"/>
              </a:solidFill>
              <a:effectLst/>
              <a:latin typeface="+mj-lt"/>
              <a:ea typeface="+mj-ea"/>
              <a:cs typeface="+mj-cs"/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34222167-616B-448F-A79B-219A4FD3DD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94353" y="0"/>
            <a:ext cx="239059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10.png">
            <a:extLst>
              <a:ext uri="{FF2B5EF4-FFF2-40B4-BE49-F238E27FC236}">
                <a16:creationId xmlns:a16="http://schemas.microsoft.com/office/drawing/2014/main" id="{336D1B04-4EE3-A168-D4C1-13BEA01B9F56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16771"/>
            <a:ext cx="12192000" cy="4848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4022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36E0F2-A64B-471E-93C0-8DFE08CC5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C1E3AB1-2A8C-4607-9FAE-D8BDB280F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6D66059-832F-40B6-A35F-F56C8F38A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515E2ED-7EA9-448D-83FA-54C3DF972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0595356-EABD-4767-AC9D-EA21FF115E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8CD9F06-9628-469C-B788-A894E3E082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550A431-0B61-421B-B4B7-24C0CFF0F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DD16DE02-C2C8-477C-9FD7-70A983BDE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13AF29F-D5EC-4489-BF8F-3B356C5972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3"/>
            <a:ext cx="12192000" cy="20089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0173A01-F891-430E-B39E-483E711B2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E0363E9-7CD0-497E-88D7-940136490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478117" y="0"/>
            <a:ext cx="340591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CCD4B14-FFCC-4CE5-BC9D-DF47AA1AD7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331150" y="1171094"/>
            <a:ext cx="4860850" cy="82402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5DED734-54E5-48ED-AEE6-165F24827C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8968704" y="0"/>
            <a:ext cx="2147217" cy="1995117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314C27C8-165C-5513-DB4B-9D840097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9553" y="584791"/>
            <a:ext cx="10064376" cy="108684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marR="0">
              <a:spcAft>
                <a:spcPts val="1200"/>
              </a:spcAft>
            </a:pPr>
            <a:r>
              <a:rPr lang="en-US" sz="4400" b="1" dirty="0">
                <a:effectLst/>
              </a:rPr>
              <a:t>Decision Tree</a:t>
            </a:r>
            <a:endParaRPr lang="en-US" sz="4400" dirty="0">
              <a:effectLst/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34222167-616B-448F-A79B-219A4FD3DD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94353" y="0"/>
            <a:ext cx="239059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7.png" descr="תמונה שמכילה טקסט, צילום מסך, גופן, תרשים&#10;&#10;התיאור נוצר באופן אוטומטי">
            <a:extLst>
              <a:ext uri="{FF2B5EF4-FFF2-40B4-BE49-F238E27FC236}">
                <a16:creationId xmlns:a16="http://schemas.microsoft.com/office/drawing/2014/main" id="{694B589B-A596-9095-E6FC-3AE7DD0E3E71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135063" y="2912049"/>
            <a:ext cx="7106394" cy="2971721"/>
          </a:xfrm>
          <a:prstGeom prst="rect">
            <a:avLst/>
          </a:prstGeom>
        </p:spPr>
      </p:pic>
      <p:sp>
        <p:nvSpPr>
          <p:cNvPr id="6" name="אליפסה 5">
            <a:extLst>
              <a:ext uri="{FF2B5EF4-FFF2-40B4-BE49-F238E27FC236}">
                <a16:creationId xmlns:a16="http://schemas.microsoft.com/office/drawing/2014/main" id="{A313EFC9-081C-3E03-782A-ACAAE6AC55A5}"/>
              </a:ext>
            </a:extLst>
          </p:cNvPr>
          <p:cNvSpPr/>
          <p:nvPr/>
        </p:nvSpPr>
        <p:spPr>
          <a:xfrm>
            <a:off x="2831306" y="4252912"/>
            <a:ext cx="1008088" cy="990727"/>
          </a:xfrm>
          <a:prstGeom prst="ellipse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אליפסה 6">
            <a:extLst>
              <a:ext uri="{FF2B5EF4-FFF2-40B4-BE49-F238E27FC236}">
                <a16:creationId xmlns:a16="http://schemas.microsoft.com/office/drawing/2014/main" id="{5C90FA12-9BC8-8C09-FED9-7525E014C315}"/>
              </a:ext>
            </a:extLst>
          </p:cNvPr>
          <p:cNvSpPr/>
          <p:nvPr/>
        </p:nvSpPr>
        <p:spPr>
          <a:xfrm>
            <a:off x="4333191" y="3571000"/>
            <a:ext cx="882066" cy="990727"/>
          </a:xfrm>
          <a:prstGeom prst="ellipse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אליפסה 7">
            <a:extLst>
              <a:ext uri="{FF2B5EF4-FFF2-40B4-BE49-F238E27FC236}">
                <a16:creationId xmlns:a16="http://schemas.microsoft.com/office/drawing/2014/main" id="{E9F03DC3-2255-5A5C-B6A5-FF1FDB331D14}"/>
              </a:ext>
            </a:extLst>
          </p:cNvPr>
          <p:cNvSpPr/>
          <p:nvPr/>
        </p:nvSpPr>
        <p:spPr>
          <a:xfrm>
            <a:off x="5709054" y="4020336"/>
            <a:ext cx="994590" cy="776890"/>
          </a:xfrm>
          <a:prstGeom prst="ellipse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מחבר חץ ישר 10">
            <a:extLst>
              <a:ext uri="{FF2B5EF4-FFF2-40B4-BE49-F238E27FC236}">
                <a16:creationId xmlns:a16="http://schemas.microsoft.com/office/drawing/2014/main" id="{F8C46EDA-3168-7883-89AC-C58034235E6D}"/>
              </a:ext>
            </a:extLst>
          </p:cNvPr>
          <p:cNvCxnSpPr>
            <a:cxnSpLocks/>
          </p:cNvCxnSpPr>
          <p:nvPr/>
        </p:nvCxnSpPr>
        <p:spPr>
          <a:xfrm flipH="1" flipV="1">
            <a:off x="1472750" y="3722336"/>
            <a:ext cx="1358556" cy="9907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מחבר חץ ישר 14">
            <a:extLst>
              <a:ext uri="{FF2B5EF4-FFF2-40B4-BE49-F238E27FC236}">
                <a16:creationId xmlns:a16="http://schemas.microsoft.com/office/drawing/2014/main" id="{1CFFFD30-7DCD-88B7-6675-B566B13AD07A}"/>
              </a:ext>
            </a:extLst>
          </p:cNvPr>
          <p:cNvCxnSpPr>
            <a:cxnSpLocks/>
          </p:cNvCxnSpPr>
          <p:nvPr/>
        </p:nvCxnSpPr>
        <p:spPr>
          <a:xfrm flipH="1" flipV="1">
            <a:off x="1559859" y="3564951"/>
            <a:ext cx="2794313" cy="4382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מחבר חץ ישר 18">
            <a:extLst>
              <a:ext uri="{FF2B5EF4-FFF2-40B4-BE49-F238E27FC236}">
                <a16:creationId xmlns:a16="http://schemas.microsoft.com/office/drawing/2014/main" id="{E4D08473-9FB6-4C4E-9B2C-4E209D678745}"/>
              </a:ext>
            </a:extLst>
          </p:cNvPr>
          <p:cNvCxnSpPr>
            <a:cxnSpLocks/>
          </p:cNvCxnSpPr>
          <p:nvPr/>
        </p:nvCxnSpPr>
        <p:spPr>
          <a:xfrm flipH="1" flipV="1">
            <a:off x="1472750" y="3676356"/>
            <a:ext cx="4339004" cy="9616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תיבת טקסט 22">
            <a:extLst>
              <a:ext uri="{FF2B5EF4-FFF2-40B4-BE49-F238E27FC236}">
                <a16:creationId xmlns:a16="http://schemas.microsoft.com/office/drawing/2014/main" id="{38849F10-BDDB-13CC-E4DE-D35A30FBCBAE}"/>
              </a:ext>
            </a:extLst>
          </p:cNvPr>
          <p:cNvSpPr txBox="1"/>
          <p:nvPr/>
        </p:nvSpPr>
        <p:spPr>
          <a:xfrm>
            <a:off x="72828" y="2346690"/>
            <a:ext cx="135855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effectLst/>
                <a:latin typeface="Garamond" panose="02020404030301010803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It uses a series of branching questions or conditions based on the input features to classify or predict outcomes.</a:t>
            </a:r>
            <a:endParaRPr lang="en-US" dirty="0"/>
          </a:p>
        </p:txBody>
      </p:sp>
      <p:sp>
        <p:nvSpPr>
          <p:cNvPr id="27" name="אליפסה 26">
            <a:extLst>
              <a:ext uri="{FF2B5EF4-FFF2-40B4-BE49-F238E27FC236}">
                <a16:creationId xmlns:a16="http://schemas.microsoft.com/office/drawing/2014/main" id="{2E156B50-BA3F-3372-D308-FFED92100B72}"/>
              </a:ext>
            </a:extLst>
          </p:cNvPr>
          <p:cNvSpPr/>
          <p:nvPr/>
        </p:nvSpPr>
        <p:spPr>
          <a:xfrm>
            <a:off x="4333191" y="4713063"/>
            <a:ext cx="1008088" cy="772948"/>
          </a:xfrm>
          <a:prstGeom prst="ellipse">
            <a:avLst/>
          </a:prstGeom>
          <a:noFill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אליפסה 30">
            <a:extLst>
              <a:ext uri="{FF2B5EF4-FFF2-40B4-BE49-F238E27FC236}">
                <a16:creationId xmlns:a16="http://schemas.microsoft.com/office/drawing/2014/main" id="{12F992FA-1020-586F-95DA-952C44C80E2A}"/>
              </a:ext>
            </a:extLst>
          </p:cNvPr>
          <p:cNvSpPr/>
          <p:nvPr/>
        </p:nvSpPr>
        <p:spPr>
          <a:xfrm>
            <a:off x="7130881" y="4474638"/>
            <a:ext cx="1008088" cy="772948"/>
          </a:xfrm>
          <a:prstGeom prst="ellipse">
            <a:avLst/>
          </a:prstGeom>
          <a:noFill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אליפסה 32">
            <a:extLst>
              <a:ext uri="{FF2B5EF4-FFF2-40B4-BE49-F238E27FC236}">
                <a16:creationId xmlns:a16="http://schemas.microsoft.com/office/drawing/2014/main" id="{0F5B90A0-24C0-8D93-19A4-F42193944FEB}"/>
              </a:ext>
            </a:extLst>
          </p:cNvPr>
          <p:cNvSpPr/>
          <p:nvPr/>
        </p:nvSpPr>
        <p:spPr>
          <a:xfrm>
            <a:off x="7105367" y="3572142"/>
            <a:ext cx="1008088" cy="772948"/>
          </a:xfrm>
          <a:prstGeom prst="ellipse">
            <a:avLst/>
          </a:prstGeom>
          <a:noFill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אליפסה 34">
            <a:extLst>
              <a:ext uri="{FF2B5EF4-FFF2-40B4-BE49-F238E27FC236}">
                <a16:creationId xmlns:a16="http://schemas.microsoft.com/office/drawing/2014/main" id="{CB397D2F-5CCA-00F6-F119-D0F3DECD4123}"/>
              </a:ext>
            </a:extLst>
          </p:cNvPr>
          <p:cNvSpPr/>
          <p:nvPr/>
        </p:nvSpPr>
        <p:spPr>
          <a:xfrm>
            <a:off x="5753655" y="3172347"/>
            <a:ext cx="1008088" cy="772948"/>
          </a:xfrm>
          <a:prstGeom prst="ellipse">
            <a:avLst/>
          </a:prstGeom>
          <a:noFill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מחבר חץ ישר 38">
            <a:extLst>
              <a:ext uri="{FF2B5EF4-FFF2-40B4-BE49-F238E27FC236}">
                <a16:creationId xmlns:a16="http://schemas.microsoft.com/office/drawing/2014/main" id="{8FA0F6FA-2E3F-B8F1-BB56-0805BB6B0634}"/>
              </a:ext>
            </a:extLst>
          </p:cNvPr>
          <p:cNvCxnSpPr>
            <a:cxnSpLocks/>
          </p:cNvCxnSpPr>
          <p:nvPr/>
        </p:nvCxnSpPr>
        <p:spPr>
          <a:xfrm flipV="1">
            <a:off x="5341279" y="4713063"/>
            <a:ext cx="4420296" cy="539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מחבר חץ ישר 40">
            <a:extLst>
              <a:ext uri="{FF2B5EF4-FFF2-40B4-BE49-F238E27FC236}">
                <a16:creationId xmlns:a16="http://schemas.microsoft.com/office/drawing/2014/main" id="{25945821-13B2-32F1-DD85-90A11913FCCC}"/>
              </a:ext>
            </a:extLst>
          </p:cNvPr>
          <p:cNvCxnSpPr>
            <a:cxnSpLocks/>
          </p:cNvCxnSpPr>
          <p:nvPr/>
        </p:nvCxnSpPr>
        <p:spPr>
          <a:xfrm flipV="1">
            <a:off x="7966139" y="4325876"/>
            <a:ext cx="1734753" cy="3316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מחבר חץ ישר 43">
            <a:extLst>
              <a:ext uri="{FF2B5EF4-FFF2-40B4-BE49-F238E27FC236}">
                <a16:creationId xmlns:a16="http://schemas.microsoft.com/office/drawing/2014/main" id="{6B9350DD-FA56-5F5A-9BDC-854C47CBCD57}"/>
              </a:ext>
            </a:extLst>
          </p:cNvPr>
          <p:cNvCxnSpPr>
            <a:cxnSpLocks/>
          </p:cNvCxnSpPr>
          <p:nvPr/>
        </p:nvCxnSpPr>
        <p:spPr>
          <a:xfrm>
            <a:off x="7732823" y="3638392"/>
            <a:ext cx="1968069" cy="1794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מחבר חץ ישר 45">
            <a:extLst>
              <a:ext uri="{FF2B5EF4-FFF2-40B4-BE49-F238E27FC236}">
                <a16:creationId xmlns:a16="http://schemas.microsoft.com/office/drawing/2014/main" id="{E35453AB-40E1-DD24-2D6E-E856DF42F420}"/>
              </a:ext>
            </a:extLst>
          </p:cNvPr>
          <p:cNvCxnSpPr>
            <a:cxnSpLocks/>
          </p:cNvCxnSpPr>
          <p:nvPr/>
        </p:nvCxnSpPr>
        <p:spPr>
          <a:xfrm>
            <a:off x="6717142" y="3404730"/>
            <a:ext cx="2951552" cy="2192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תיבת טקסט 47">
            <a:extLst>
              <a:ext uri="{FF2B5EF4-FFF2-40B4-BE49-F238E27FC236}">
                <a16:creationId xmlns:a16="http://schemas.microsoft.com/office/drawing/2014/main" id="{81D7CB09-517F-366A-0692-1D0193AE200A}"/>
              </a:ext>
            </a:extLst>
          </p:cNvPr>
          <p:cNvSpPr txBox="1"/>
          <p:nvPr/>
        </p:nvSpPr>
        <p:spPr>
          <a:xfrm>
            <a:off x="9852260" y="3312159"/>
            <a:ext cx="2357597" cy="18610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algn="l" rtl="0">
              <a:lnSpc>
                <a:spcPct val="1070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US" sz="1800" dirty="0">
                <a:effectLst/>
                <a:latin typeface="Garamond" panose="02020404030301010803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Each branch represents a decision, and the endpoints, known as "leaves" provide the final prediction or classification.</a:t>
            </a:r>
            <a:endParaRPr lang="en-US" sz="1800" dirty="0">
              <a:effectLst/>
              <a:latin typeface="Aptos" panose="020B0004020202020204" pitchFamily="34" charset="0"/>
              <a:ea typeface="Aptos" panose="020B0004020202020204" pitchFamily="34" charset="0"/>
              <a:cs typeface="Aptos" panose="020B0004020202020204" pitchFamily="34" charset="0"/>
            </a:endParaRPr>
          </a:p>
        </p:txBody>
      </p:sp>
      <p:sp>
        <p:nvSpPr>
          <p:cNvPr id="51" name="תיבת טקסט 50">
            <a:extLst>
              <a:ext uri="{FF2B5EF4-FFF2-40B4-BE49-F238E27FC236}">
                <a16:creationId xmlns:a16="http://schemas.microsoft.com/office/drawing/2014/main" id="{62E776AD-AC40-969D-75FD-BEDC18DEE4C7}"/>
              </a:ext>
            </a:extLst>
          </p:cNvPr>
          <p:cNvSpPr txBox="1"/>
          <p:nvPr/>
        </p:nvSpPr>
        <p:spPr>
          <a:xfrm>
            <a:off x="4124031" y="5891550"/>
            <a:ext cx="3259247" cy="379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algn="l" rtl="0">
              <a:lnSpc>
                <a:spcPct val="1070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US" dirty="0">
                <a:solidFill>
                  <a:srgbClr val="FF0000"/>
                </a:solidFill>
                <a:latin typeface="Garamond" panose="02020404030301010803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sz="1800" dirty="0">
                <a:solidFill>
                  <a:srgbClr val="FF0000"/>
                </a:solidFill>
                <a:effectLst/>
                <a:latin typeface="Garamond" panose="02020404030301010803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xample of a simple decision tree</a:t>
            </a:r>
            <a:endParaRPr lang="en-US" sz="1800" dirty="0">
              <a:solidFill>
                <a:srgbClr val="FF0000"/>
              </a:solidFill>
              <a:effectLst/>
              <a:latin typeface="Aptos" panose="020B0004020202020204" pitchFamily="34" charset="0"/>
              <a:ea typeface="Aptos" panose="020B0004020202020204" pitchFamily="34" charset="0"/>
              <a:cs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9609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6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4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4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42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42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42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1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1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8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8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9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7" grpId="1" animBg="1"/>
      <p:bldP spid="8" grpId="0" animBg="1"/>
      <p:bldP spid="8" grpId="1" animBg="1"/>
      <p:bldP spid="23" grpId="0"/>
      <p:bldP spid="23" grpId="1"/>
      <p:bldP spid="27" grpId="0" animBg="1"/>
      <p:bldP spid="31" grpId="0" animBg="1"/>
      <p:bldP spid="33" grpId="0" animBg="1"/>
      <p:bldP spid="35" grpId="0" animBg="1"/>
      <p:bldP spid="4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259C5F-6F8A-1742-EFA4-F565AD229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19901D9-646C-F1C5-B54A-E4E802A730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C018F4C-19AE-3F85-C9DD-1C933F5424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1196DD3-C215-5BFF-6847-79CE73321B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CF3AF07-4B23-1FD1-43BA-22098269B6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5334781-0DA4-F700-9E32-003B98683C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C9D3B36-1F0B-2600-FF2E-9EE87CE3A5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90A66E6-0E2A-3F32-C7DC-0E92375207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4352C3F9-4F9C-8066-FD3D-5A13F6B3BD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nivers Condensed Light"/>
              <a:ea typeface="+mn-ea"/>
              <a:cs typeface="+mn-cs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28FDB4F-A595-F4B2-59FB-1E2BAD278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3"/>
            <a:ext cx="12192000" cy="20089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nivers Condensed Light"/>
              <a:ea typeface="+mn-ea"/>
              <a:cs typeface="+mn-cs"/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80B1BB2-5DE9-C209-840F-23762DD64B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EC411DB-BBE3-2A73-636A-D008F77788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478117" y="0"/>
            <a:ext cx="340591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FF4F26F-4CEA-AD42-4F16-01A8944D13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331150" y="1171094"/>
            <a:ext cx="4860850" cy="82402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FD4FFE6-4F56-5D2E-50D5-D35F5B73FC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8968704" y="0"/>
            <a:ext cx="2147217" cy="1995117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66F513A-900B-53C3-54FD-D29B01D18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9553" y="584791"/>
            <a:ext cx="10064376" cy="108684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914400" marR="457200" lvl="2" algn="l" rtl="0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  <a:buSzPts val="1400"/>
            </a:pPr>
            <a:r>
              <a:rPr lang="en-US" sz="3400" i="1" kern="1200" cap="all" dirty="0"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rPr>
              <a:t>The model(random forest)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82427BD-014D-384F-D101-C9D7E0732B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94353" y="0"/>
            <a:ext cx="239059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96336508-86BC-62C6-211F-EF522595F5BB}"/>
              </a:ext>
            </a:extLst>
          </p:cNvPr>
          <p:cNvSpPr txBox="1"/>
          <p:nvPr/>
        </p:nvSpPr>
        <p:spPr>
          <a:xfrm>
            <a:off x="1129553" y="3077029"/>
            <a:ext cx="2941839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2400" b="1" i="1" u="sng" dirty="0"/>
              <a:t>Multiple Trees</a:t>
            </a:r>
          </a:p>
          <a:p>
            <a:endParaRPr lang="en-US" sz="1600" b="1" i="1" u="sng" dirty="0"/>
          </a:p>
          <a:p>
            <a:pPr algn="ctr"/>
            <a:r>
              <a:rPr lang="en-US" dirty="0"/>
              <a:t> Grows multiple decision</a:t>
            </a:r>
          </a:p>
          <a:p>
            <a:pPr algn="ctr"/>
            <a:r>
              <a:rPr lang="en-US" dirty="0"/>
              <a:t>trees to improve accuracy.</a:t>
            </a:r>
          </a:p>
        </p:txBody>
      </p:sp>
      <p:sp>
        <p:nvSpPr>
          <p:cNvPr id="6" name="תיבת טקסט 5">
            <a:extLst>
              <a:ext uri="{FF2B5EF4-FFF2-40B4-BE49-F238E27FC236}">
                <a16:creationId xmlns:a16="http://schemas.microsoft.com/office/drawing/2014/main" id="{921B7249-BF0E-8BE7-4D0D-A695C60DAD2C}"/>
              </a:ext>
            </a:extLst>
          </p:cNvPr>
          <p:cNvSpPr txBox="1"/>
          <p:nvPr/>
        </p:nvSpPr>
        <p:spPr>
          <a:xfrm>
            <a:off x="8357093" y="3028064"/>
            <a:ext cx="2969951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2. </a:t>
            </a:r>
            <a:r>
              <a:rPr lang="en-US" sz="2400" b="1" i="1" u="sng" dirty="0"/>
              <a:t>Averaging Predictions</a:t>
            </a:r>
          </a:p>
          <a:p>
            <a:r>
              <a:rPr lang="en-US" dirty="0"/>
              <a:t> </a:t>
            </a:r>
          </a:p>
          <a:p>
            <a:pPr algn="ctr"/>
            <a:r>
              <a:rPr lang="en-US" dirty="0"/>
              <a:t>Averages predictions from all trees for a final prediction.</a:t>
            </a:r>
          </a:p>
        </p:txBody>
      </p:sp>
      <p:pic>
        <p:nvPicPr>
          <p:cNvPr id="8" name="image11.png" descr="תמונה שמכילה טקסט, תרשים, צילום מסך, גופן&#10;&#10;התיאור נוצר באופן אוטומטי">
            <a:extLst>
              <a:ext uri="{FF2B5EF4-FFF2-40B4-BE49-F238E27FC236}">
                <a16:creationId xmlns:a16="http://schemas.microsoft.com/office/drawing/2014/main" id="{0BE6B9D4-90BB-510C-FA4A-EE54B3E586B0}"/>
              </a:ext>
            </a:extLst>
          </p:cNvPr>
          <p:cNvPicPr/>
          <p:nvPr/>
        </p:nvPicPr>
        <p:blipFill rotWithShape="1">
          <a:blip r:embed="rId3"/>
          <a:srcRect l="15383" t="27750" r="16053" b="1938"/>
          <a:stretch/>
        </p:blipFill>
        <p:spPr bwMode="auto">
          <a:xfrm>
            <a:off x="3729037" y="3577069"/>
            <a:ext cx="4864705" cy="3141343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9" name="מלבן 8">
            <a:extLst>
              <a:ext uri="{FF2B5EF4-FFF2-40B4-BE49-F238E27FC236}">
                <a16:creationId xmlns:a16="http://schemas.microsoft.com/office/drawing/2014/main" id="{86C04C70-F263-A5E6-996E-A03E5AB821A5}"/>
              </a:ext>
            </a:extLst>
          </p:cNvPr>
          <p:cNvSpPr/>
          <p:nvPr/>
        </p:nvSpPr>
        <p:spPr>
          <a:xfrm>
            <a:off x="5219363" y="5971922"/>
            <a:ext cx="1950180" cy="14565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i="1" dirty="0">
                <a:solidFill>
                  <a:schemeClr val="tx1"/>
                </a:solidFill>
              </a:rPr>
              <a:t>Averaging </a:t>
            </a:r>
          </a:p>
        </p:txBody>
      </p:sp>
    </p:spTree>
    <p:extLst>
      <p:ext uri="{BB962C8B-B14F-4D97-AF65-F5344CB8AC3E}">
        <p14:creationId xmlns:p14="http://schemas.microsoft.com/office/powerpoint/2010/main" val="557677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" name="Straight Connector 11">
            <a:extLst>
              <a:ext uri="{FF2B5EF4-FFF2-40B4-BE49-F238E27FC236}">
                <a16:creationId xmlns:a16="http://schemas.microsoft.com/office/drawing/2014/main" id="{4436E0F2-A64B-471E-93C0-8DFE08CC5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13">
            <a:extLst>
              <a:ext uri="{FF2B5EF4-FFF2-40B4-BE49-F238E27FC236}">
                <a16:creationId xmlns:a16="http://schemas.microsoft.com/office/drawing/2014/main" id="{DC1E3AB1-2A8C-4607-9FAE-D8BDB280F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15">
            <a:extLst>
              <a:ext uri="{FF2B5EF4-FFF2-40B4-BE49-F238E27FC236}">
                <a16:creationId xmlns:a16="http://schemas.microsoft.com/office/drawing/2014/main" id="{26D66059-832F-40B6-A35F-F56C8F38A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17">
            <a:extLst>
              <a:ext uri="{FF2B5EF4-FFF2-40B4-BE49-F238E27FC236}">
                <a16:creationId xmlns:a16="http://schemas.microsoft.com/office/drawing/2014/main" id="{A515E2ED-7EA9-448D-83FA-54C3DF972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19">
            <a:extLst>
              <a:ext uri="{FF2B5EF4-FFF2-40B4-BE49-F238E27FC236}">
                <a16:creationId xmlns:a16="http://schemas.microsoft.com/office/drawing/2014/main" id="{20595356-EABD-4767-AC9D-EA21FF115E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21">
            <a:extLst>
              <a:ext uri="{FF2B5EF4-FFF2-40B4-BE49-F238E27FC236}">
                <a16:creationId xmlns:a16="http://schemas.microsoft.com/office/drawing/2014/main" id="{28CD9F06-9628-469C-B788-A894E3E082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23">
            <a:extLst>
              <a:ext uri="{FF2B5EF4-FFF2-40B4-BE49-F238E27FC236}">
                <a16:creationId xmlns:a16="http://schemas.microsoft.com/office/drawing/2014/main" id="{8550A431-0B61-421B-B4B7-24C0CFF0F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8" name="Rectangle 25">
            <a:extLst>
              <a:ext uri="{FF2B5EF4-FFF2-40B4-BE49-F238E27FC236}">
                <a16:creationId xmlns:a16="http://schemas.microsoft.com/office/drawing/2014/main" id="{F8222250-799A-4AD0-9BD1-BE6EB7A06A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: Shape 27">
            <a:extLst>
              <a:ext uri="{FF2B5EF4-FFF2-40B4-BE49-F238E27FC236}">
                <a16:creationId xmlns:a16="http://schemas.microsoft.com/office/drawing/2014/main" id="{B770432A-C0A6-4D4F-AE2C-705049DAB8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V="1">
            <a:off x="6244921" y="-5976"/>
            <a:ext cx="5947079" cy="6874927"/>
          </a:xfrm>
          <a:custGeom>
            <a:avLst/>
            <a:gdLst>
              <a:gd name="connsiteX0" fmla="*/ 0 w 4584879"/>
              <a:gd name="connsiteY0" fmla="*/ 0 h 6863976"/>
              <a:gd name="connsiteX1" fmla="*/ 4584879 w 4584879"/>
              <a:gd name="connsiteY1" fmla="*/ 0 h 6863976"/>
              <a:gd name="connsiteX2" fmla="*/ 2493114 w 4584879"/>
              <a:gd name="connsiteY2" fmla="*/ 6863976 h 6863976"/>
              <a:gd name="connsiteX3" fmla="*/ 0 w 4584879"/>
              <a:gd name="connsiteY3" fmla="*/ 6863976 h 6863976"/>
              <a:gd name="connsiteX0" fmla="*/ 0 w 4584879"/>
              <a:gd name="connsiteY0" fmla="*/ 0 h 6863976"/>
              <a:gd name="connsiteX1" fmla="*/ 4584879 w 4584879"/>
              <a:gd name="connsiteY1" fmla="*/ 0 h 6863976"/>
              <a:gd name="connsiteX2" fmla="*/ 3571269 w 4584879"/>
              <a:gd name="connsiteY2" fmla="*/ 6853025 h 6863976"/>
              <a:gd name="connsiteX3" fmla="*/ 0 w 4584879"/>
              <a:gd name="connsiteY3" fmla="*/ 6863976 h 6863976"/>
              <a:gd name="connsiteX4" fmla="*/ 0 w 4584879"/>
              <a:gd name="connsiteY4" fmla="*/ 0 h 6863976"/>
              <a:gd name="connsiteX0" fmla="*/ 0 w 4584879"/>
              <a:gd name="connsiteY0" fmla="*/ 0 h 6863976"/>
              <a:gd name="connsiteX1" fmla="*/ 4584879 w 4584879"/>
              <a:gd name="connsiteY1" fmla="*/ 0 h 6863976"/>
              <a:gd name="connsiteX2" fmla="*/ 3571269 w 4584879"/>
              <a:gd name="connsiteY2" fmla="*/ 6853025 h 6863976"/>
              <a:gd name="connsiteX3" fmla="*/ 0 w 4584879"/>
              <a:gd name="connsiteY3" fmla="*/ 6863976 h 6863976"/>
              <a:gd name="connsiteX4" fmla="*/ 0 w 4584879"/>
              <a:gd name="connsiteY4" fmla="*/ 0 h 6863976"/>
              <a:gd name="connsiteX0" fmla="*/ 0 w 4584879"/>
              <a:gd name="connsiteY0" fmla="*/ 0 h 6863976"/>
              <a:gd name="connsiteX1" fmla="*/ 4584879 w 4584879"/>
              <a:gd name="connsiteY1" fmla="*/ 0 h 6863976"/>
              <a:gd name="connsiteX2" fmla="*/ 3677452 w 4584879"/>
              <a:gd name="connsiteY2" fmla="*/ 6853025 h 6863976"/>
              <a:gd name="connsiteX3" fmla="*/ 0 w 4584879"/>
              <a:gd name="connsiteY3" fmla="*/ 6863976 h 6863976"/>
              <a:gd name="connsiteX4" fmla="*/ 0 w 4584879"/>
              <a:gd name="connsiteY4" fmla="*/ 0 h 6863976"/>
              <a:gd name="connsiteX0" fmla="*/ 0 w 4584879"/>
              <a:gd name="connsiteY0" fmla="*/ 0 h 6874927"/>
              <a:gd name="connsiteX1" fmla="*/ 4584879 w 4584879"/>
              <a:gd name="connsiteY1" fmla="*/ 0 h 6874927"/>
              <a:gd name="connsiteX2" fmla="*/ 3693787 w 4584879"/>
              <a:gd name="connsiteY2" fmla="*/ 6874927 h 6874927"/>
              <a:gd name="connsiteX3" fmla="*/ 0 w 4584879"/>
              <a:gd name="connsiteY3" fmla="*/ 6863976 h 6874927"/>
              <a:gd name="connsiteX4" fmla="*/ 0 w 4584879"/>
              <a:gd name="connsiteY4" fmla="*/ 0 h 6874927"/>
              <a:gd name="connsiteX0" fmla="*/ 0 w 4584879"/>
              <a:gd name="connsiteY0" fmla="*/ 0 h 6874927"/>
              <a:gd name="connsiteX1" fmla="*/ 4584879 w 4584879"/>
              <a:gd name="connsiteY1" fmla="*/ 0 h 6874927"/>
              <a:gd name="connsiteX2" fmla="*/ 3842978 w 4584879"/>
              <a:gd name="connsiteY2" fmla="*/ 6874927 h 6874927"/>
              <a:gd name="connsiteX3" fmla="*/ 0 w 4584879"/>
              <a:gd name="connsiteY3" fmla="*/ 6863976 h 6874927"/>
              <a:gd name="connsiteX4" fmla="*/ 0 w 4584879"/>
              <a:gd name="connsiteY4" fmla="*/ 0 h 6874927"/>
              <a:gd name="connsiteX0" fmla="*/ 0 w 4435688"/>
              <a:gd name="connsiteY0" fmla="*/ 0 h 6874927"/>
              <a:gd name="connsiteX1" fmla="*/ 4435688 w 4435688"/>
              <a:gd name="connsiteY1" fmla="*/ 4763 h 6874927"/>
              <a:gd name="connsiteX2" fmla="*/ 3842978 w 4435688"/>
              <a:gd name="connsiteY2" fmla="*/ 6874927 h 6874927"/>
              <a:gd name="connsiteX3" fmla="*/ 0 w 4435688"/>
              <a:gd name="connsiteY3" fmla="*/ 6863976 h 6874927"/>
              <a:gd name="connsiteX4" fmla="*/ 0 w 4435688"/>
              <a:gd name="connsiteY4" fmla="*/ 0 h 6874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435688" h="6874927">
                <a:moveTo>
                  <a:pt x="0" y="0"/>
                </a:moveTo>
                <a:lnTo>
                  <a:pt x="4435688" y="4763"/>
                </a:lnTo>
                <a:lnTo>
                  <a:pt x="3842978" y="6874927"/>
                </a:lnTo>
                <a:lnTo>
                  <a:pt x="0" y="6863976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8A15DE-D135-0710-9984-A0A55E960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18705" y="542926"/>
            <a:ext cx="4439894" cy="166814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400" dirty="0"/>
              <a:t>Dataset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8FBE787-8B1D-40E5-8468-6F665BB5D7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243268" y="0"/>
            <a:ext cx="488370" cy="6880404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8AA23-D8D0-93BE-5C5F-103A750B0D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46776" y="1760994"/>
            <a:ext cx="4750806" cy="5210175"/>
          </a:xfrm>
        </p:spPr>
        <p:txBody>
          <a:bodyPr vert="horz" lIns="91440" tIns="45720" rIns="91440" bIns="45720" rtlCol="0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</a:t>
            </a:r>
            <a:r>
              <a:rPr lang="en-US" dirty="0">
                <a:effectLst/>
              </a:rPr>
              <a:t>he dataset is sourced from the "Israel Tax Authority" website.</a:t>
            </a:r>
          </a:p>
          <a:p>
            <a:r>
              <a:rPr lang="en-US" dirty="0">
                <a:effectLst/>
              </a:rPr>
              <a:t>It contains publicly available information on real estate transactions in Israel.</a:t>
            </a:r>
          </a:p>
          <a:p>
            <a:r>
              <a:rPr lang="en-US" dirty="0">
                <a:effectLst/>
              </a:rPr>
              <a:t>The dataset includes the following features: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Number of rooms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Area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Year built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City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Property type (apartment, single-family home, community housing,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Price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11" name="image6.png" descr="תמונה שמכילה טקסט, צילום מסך, תוכנה, מספר&#10;&#10;התיאור נוצר באופן אוטומטי">
            <a:extLst>
              <a:ext uri="{FF2B5EF4-FFF2-40B4-BE49-F238E27FC236}">
                <a16:creationId xmlns:a16="http://schemas.microsoft.com/office/drawing/2014/main" id="{7926F66D-172E-5664-1837-F07ED4B055E5}"/>
              </a:ext>
            </a:extLst>
          </p:cNvPr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6241985" cy="6858000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27372412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7AF5B2-FA90-AB2F-000C-7131703EC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BA42711-1D19-0A3C-50CF-E7E0964B8A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8FDDE34-B690-E851-8E4B-F943F06F2C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6ACA314-882B-CB75-BE37-DA6373AB59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598D621-BCBA-7474-298C-461AE144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5C5FECB-0D26-7C20-B773-45E30958D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EBD270F-0135-E106-49E0-4AD3ED37D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F731558-CCE7-F44B-A911-C59F89BE6E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0B1EBA8C-56EB-5387-DDAA-F9C817FC0A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nivers Condensed Light"/>
              <a:ea typeface="+mn-ea"/>
              <a:cs typeface="+mn-cs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23071BC-7B33-0168-ED56-6765F4682E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3"/>
            <a:ext cx="12192000" cy="20089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nivers Condensed Light"/>
              <a:ea typeface="+mn-ea"/>
              <a:cs typeface="+mn-cs"/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91CCA89-A8B2-10C6-E82D-EA2366D342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5E8BB7F-08EA-C231-2FCC-17CD1DCAC4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478117" y="0"/>
            <a:ext cx="340591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D3EB641-8347-CC3A-0B17-057C4B9FB4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331150" y="1171094"/>
            <a:ext cx="4860850" cy="82402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45F52EA-4FEC-FD16-24ED-7A73A8679A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8968704" y="0"/>
            <a:ext cx="2147217" cy="1995117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882FD365-5475-9860-C693-93630BAFE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9553" y="584791"/>
            <a:ext cx="10413606" cy="108684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914400" marR="457200" lvl="2" algn="l" rtl="0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  <a:buSzPts val="1400"/>
            </a:pPr>
            <a:r>
              <a:rPr lang="en-US" sz="3400" i="1" kern="1200" cap="all" dirty="0"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rPr>
              <a:t>Challenge: Completing the missing data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EA09B3B-3832-3286-97F1-3958622E81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94353" y="0"/>
            <a:ext cx="239059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246B5CF1-3D67-7242-2ECB-228855035FCA}"/>
              </a:ext>
            </a:extLst>
          </p:cNvPr>
          <p:cNvSpPr txBox="1"/>
          <p:nvPr/>
        </p:nvSpPr>
        <p:spPr>
          <a:xfrm>
            <a:off x="235098" y="2372945"/>
            <a:ext cx="1194519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Missing Data can affect property prices.</a:t>
            </a:r>
          </a:p>
        </p:txBody>
      </p:sp>
      <p:sp>
        <p:nvSpPr>
          <p:cNvPr id="10" name="תיבת טקסט 9">
            <a:extLst>
              <a:ext uri="{FF2B5EF4-FFF2-40B4-BE49-F238E27FC236}">
                <a16:creationId xmlns:a16="http://schemas.microsoft.com/office/drawing/2014/main" id="{EA14E144-D259-F6C1-841E-57E287F64638}"/>
              </a:ext>
            </a:extLst>
          </p:cNvPr>
          <p:cNvSpPr txBox="1"/>
          <p:nvPr/>
        </p:nvSpPr>
        <p:spPr>
          <a:xfrm>
            <a:off x="252786" y="3368005"/>
            <a:ext cx="639675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Missing Data: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Parking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Elevator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View</a:t>
            </a:r>
          </a:p>
          <a:p>
            <a:r>
              <a:rPr lang="en-US" sz="2000" dirty="0"/>
              <a:t> Proximity to: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Schools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Shopping center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Transport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Parks</a:t>
            </a:r>
          </a:p>
        </p:txBody>
      </p:sp>
      <p:pic>
        <p:nvPicPr>
          <p:cNvPr id="25" name="Picture 6" descr="Setting Missing Values When Importing Data — Analytics Made Accessible">
            <a:extLst>
              <a:ext uri="{FF2B5EF4-FFF2-40B4-BE49-F238E27FC236}">
                <a16:creationId xmlns:a16="http://schemas.microsoft.com/office/drawing/2014/main" id="{6032E5AF-CECD-8BB6-1EBF-DBB33329D7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0343" y="3790929"/>
            <a:ext cx="5094798" cy="2865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12306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98D6A7-EFCA-DBDB-0714-816E07B9A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ABD16FF-8EE5-0DFC-E94A-756A562CA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A329FCD-52AC-CCA0-612E-0F7A4F5D28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B66AAE8-1F52-B5F6-2280-3A7CD94019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100605D-6024-F882-320C-0964D9957B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8903EBA-6B99-EE57-B152-74741A7DF3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824918B-49D2-C42A-EDD0-BE35E77F4B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08F91C-5CBF-B27B-24A6-691E7B6966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C2FCFD3E-E263-FFCC-2AB5-D3D690EF1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nivers Condensed Light"/>
              <a:ea typeface="+mn-ea"/>
              <a:cs typeface="+mn-cs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E1BFBA8-2F06-2340-8196-43CC96A243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3"/>
            <a:ext cx="12192000" cy="20089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nivers Condensed Light"/>
              <a:ea typeface="+mn-ea"/>
              <a:cs typeface="+mn-cs"/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F1E14F7-CDEA-281D-0E52-C60DC602AF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959B5B8-9B87-133D-4736-9B4450829C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478117" y="0"/>
            <a:ext cx="340591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032C0C3-26BE-8A8D-BE66-0A4F368A45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331150" y="1171094"/>
            <a:ext cx="4860850" cy="82402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AAB3D99-EDD0-B587-CCFE-892265C112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8968704" y="0"/>
            <a:ext cx="2147217" cy="1995117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0AF6E6-ECF7-EF5B-5573-93A2984FD5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9553" y="584791"/>
            <a:ext cx="10064376" cy="108684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914400" marR="457200" lvl="2" algn="l" rtl="0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  <a:buSzPts val="1400"/>
            </a:pPr>
            <a:r>
              <a:rPr lang="en-US" sz="4000" dirty="0">
                <a:solidFill>
                  <a:srgbClr val="000000"/>
                </a:solidFill>
                <a:effectLst/>
                <a:latin typeface="Walbaum Display Light (כותרות)"/>
                <a:ea typeface="Times New Roman" panose="02020603050405020304" pitchFamily="18" charset="0"/>
                <a:cs typeface="Times New Roman" panose="02020603050405020304" pitchFamily="18" charset="0"/>
              </a:rPr>
              <a:t>The prediction equation</a:t>
            </a:r>
            <a:endParaRPr lang="en-US" sz="8000" i="1" kern="1200" cap="all" dirty="0">
              <a:solidFill>
                <a:schemeClr val="tx2"/>
              </a:solidFill>
              <a:effectLst/>
              <a:latin typeface="Walbaum Display Light (כותרות)"/>
              <a:ea typeface="+mj-ea"/>
              <a:cs typeface="+mj-cs"/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A77ECFA-F4EB-1D40-A3CE-CC926B9FB7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94353" y="0"/>
            <a:ext cx="239059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תיבת טקסט 3">
                <a:extLst>
                  <a:ext uri="{FF2B5EF4-FFF2-40B4-BE49-F238E27FC236}">
                    <a16:creationId xmlns:a16="http://schemas.microsoft.com/office/drawing/2014/main" id="{B85BDAEA-1AC2-A1A7-47B1-6678712A90AA}"/>
                  </a:ext>
                </a:extLst>
              </p:cNvPr>
              <p:cNvSpPr txBox="1"/>
              <p:nvPr/>
            </p:nvSpPr>
            <p:spPr>
              <a:xfrm>
                <a:off x="2843034" y="3361752"/>
                <a:ext cx="6125670" cy="7146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𝑏𝑎𝑠𝑒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i="0">
                          <a:latin typeface="Cambria Math" panose="02040503050406030204" pitchFamily="18" charset="0"/>
                        </a:rPr>
                        <m:t>∗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𝑡𝑟𝑒𝑒</m:t>
                              </m:r>
                            </m:sub>
                          </m:s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∑"/>
                              <m:limLoc m:val="subSup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𝑎𝑑𝑑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𝑎𝑑𝑑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תיבת טקסט 3">
                <a:extLst>
                  <a:ext uri="{FF2B5EF4-FFF2-40B4-BE49-F238E27FC236}">
                    <a16:creationId xmlns:a16="http://schemas.microsoft.com/office/drawing/2014/main" id="{B85BDAEA-1AC2-A1A7-47B1-6678712A90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3034" y="3361752"/>
                <a:ext cx="6125670" cy="7146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אליפסה 5">
            <a:extLst>
              <a:ext uri="{FF2B5EF4-FFF2-40B4-BE49-F238E27FC236}">
                <a16:creationId xmlns:a16="http://schemas.microsoft.com/office/drawing/2014/main" id="{FFD1708E-D677-7C2D-0F2B-B2A4B26213E8}"/>
              </a:ext>
            </a:extLst>
          </p:cNvPr>
          <p:cNvSpPr/>
          <p:nvPr/>
        </p:nvSpPr>
        <p:spPr>
          <a:xfrm>
            <a:off x="3119718" y="3609048"/>
            <a:ext cx="327489" cy="258945"/>
          </a:xfrm>
          <a:prstGeom prst="ellipse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מחבר חץ ישר 7">
            <a:extLst>
              <a:ext uri="{FF2B5EF4-FFF2-40B4-BE49-F238E27FC236}">
                <a16:creationId xmlns:a16="http://schemas.microsoft.com/office/drawing/2014/main" id="{F97ADA18-96C8-5B3E-BFB3-F8605FB35537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2913133" y="3091158"/>
            <a:ext cx="254545" cy="5558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תיבת טקסט 12">
            <a:extLst>
              <a:ext uri="{FF2B5EF4-FFF2-40B4-BE49-F238E27FC236}">
                <a16:creationId xmlns:a16="http://schemas.microsoft.com/office/drawing/2014/main" id="{88B85C25-3260-6552-D0F4-ADC26DDAFBAE}"/>
              </a:ext>
            </a:extLst>
          </p:cNvPr>
          <p:cNvSpPr txBox="1"/>
          <p:nvPr/>
        </p:nvSpPr>
        <p:spPr>
          <a:xfrm>
            <a:off x="451884" y="2693088"/>
            <a:ext cx="2782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effectLst/>
                <a:latin typeface="Garamond" panose="02020404030301010803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The predicted property price</a:t>
            </a:r>
            <a:endParaRPr lang="en-US" dirty="0"/>
          </a:p>
        </p:txBody>
      </p:sp>
      <p:sp>
        <p:nvSpPr>
          <p:cNvPr id="15" name="אליפסה 14">
            <a:extLst>
              <a:ext uri="{FF2B5EF4-FFF2-40B4-BE49-F238E27FC236}">
                <a16:creationId xmlns:a16="http://schemas.microsoft.com/office/drawing/2014/main" id="{903F6C7A-7BF8-9D1B-F45F-7A7A92AC61BF}"/>
              </a:ext>
            </a:extLst>
          </p:cNvPr>
          <p:cNvSpPr/>
          <p:nvPr/>
        </p:nvSpPr>
        <p:spPr>
          <a:xfrm>
            <a:off x="3560146" y="3762827"/>
            <a:ext cx="327489" cy="258945"/>
          </a:xfrm>
          <a:prstGeom prst="ellipse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מחבר חץ ישר 16">
            <a:extLst>
              <a:ext uri="{FF2B5EF4-FFF2-40B4-BE49-F238E27FC236}">
                <a16:creationId xmlns:a16="http://schemas.microsoft.com/office/drawing/2014/main" id="{061B2FE5-3B23-5501-01B6-B1527D64F5F5}"/>
              </a:ext>
            </a:extLst>
          </p:cNvPr>
          <p:cNvCxnSpPr>
            <a:cxnSpLocks/>
          </p:cNvCxnSpPr>
          <p:nvPr/>
        </p:nvCxnSpPr>
        <p:spPr>
          <a:xfrm flipH="1">
            <a:off x="3411442" y="4040733"/>
            <a:ext cx="232737" cy="212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תיבת טקסט 26">
            <a:extLst>
              <a:ext uri="{FF2B5EF4-FFF2-40B4-BE49-F238E27FC236}">
                <a16:creationId xmlns:a16="http://schemas.microsoft.com/office/drawing/2014/main" id="{E2E7AD50-174C-3C3D-F2B8-6C408765EC29}"/>
              </a:ext>
            </a:extLst>
          </p:cNvPr>
          <p:cNvSpPr txBox="1"/>
          <p:nvPr/>
        </p:nvSpPr>
        <p:spPr>
          <a:xfrm>
            <a:off x="-1" y="4252912"/>
            <a:ext cx="477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effectLst/>
                <a:latin typeface="Garamond" panose="02020404030301010803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The number of decision trees in the random forest.</a:t>
            </a:r>
            <a:endParaRPr lang="en-US" sz="1800" dirty="0">
              <a:effectLst/>
              <a:latin typeface="Aptos" panose="020B0004020202020204" pitchFamily="34" charset="0"/>
              <a:ea typeface="Aptos" panose="020B0004020202020204" pitchFamily="34" charset="0"/>
              <a:cs typeface="Aptos" panose="020B0004020202020204" pitchFamily="34" charset="0"/>
            </a:endParaRPr>
          </a:p>
          <a:p>
            <a:endParaRPr lang="en-US" dirty="0"/>
          </a:p>
        </p:txBody>
      </p:sp>
      <p:sp>
        <p:nvSpPr>
          <p:cNvPr id="29" name="אליפסה 28">
            <a:extLst>
              <a:ext uri="{FF2B5EF4-FFF2-40B4-BE49-F238E27FC236}">
                <a16:creationId xmlns:a16="http://schemas.microsoft.com/office/drawing/2014/main" id="{C086407B-FA5F-77FB-0686-C20BA6036DB2}"/>
              </a:ext>
            </a:extLst>
          </p:cNvPr>
          <p:cNvSpPr/>
          <p:nvPr/>
        </p:nvSpPr>
        <p:spPr>
          <a:xfrm>
            <a:off x="4378099" y="3615792"/>
            <a:ext cx="327489" cy="258945"/>
          </a:xfrm>
          <a:prstGeom prst="ellipse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מחבר חץ ישר 30">
            <a:extLst>
              <a:ext uri="{FF2B5EF4-FFF2-40B4-BE49-F238E27FC236}">
                <a16:creationId xmlns:a16="http://schemas.microsoft.com/office/drawing/2014/main" id="{CA16CC18-3AA3-DFF3-560F-5A293881C864}"/>
              </a:ext>
            </a:extLst>
          </p:cNvPr>
          <p:cNvCxnSpPr>
            <a:cxnSpLocks/>
          </p:cNvCxnSpPr>
          <p:nvPr/>
        </p:nvCxnSpPr>
        <p:spPr>
          <a:xfrm flipV="1">
            <a:off x="4541843" y="3062420"/>
            <a:ext cx="41590" cy="5845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תיבת טקסט 34">
            <a:extLst>
              <a:ext uri="{FF2B5EF4-FFF2-40B4-BE49-F238E27FC236}">
                <a16:creationId xmlns:a16="http://schemas.microsoft.com/office/drawing/2014/main" id="{BF2E8DD4-3BCB-F34E-D982-D382CFAEDEC1}"/>
              </a:ext>
            </a:extLst>
          </p:cNvPr>
          <p:cNvSpPr txBox="1"/>
          <p:nvPr/>
        </p:nvSpPr>
        <p:spPr>
          <a:xfrm>
            <a:off x="3381304" y="2555043"/>
            <a:ext cx="41087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effectLst/>
                <a:latin typeface="Garamond" panose="02020404030301010803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The prediction from the </a:t>
            </a:r>
            <a:r>
              <a:rPr lang="en-US" sz="1800" dirty="0" err="1">
                <a:effectLst/>
                <a:latin typeface="Garamond" panose="02020404030301010803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i-th</a:t>
            </a:r>
            <a:r>
              <a:rPr lang="en-US" sz="1800" dirty="0">
                <a:effectLst/>
                <a:latin typeface="Garamond" panose="02020404030301010803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decision tree.</a:t>
            </a:r>
            <a:endParaRPr lang="en-US" dirty="0"/>
          </a:p>
        </p:txBody>
      </p:sp>
      <p:sp>
        <p:nvSpPr>
          <p:cNvPr id="37" name="אליפסה 36">
            <a:extLst>
              <a:ext uri="{FF2B5EF4-FFF2-40B4-BE49-F238E27FC236}">
                <a16:creationId xmlns:a16="http://schemas.microsoft.com/office/drawing/2014/main" id="{C3463E68-0A87-F508-AEC3-4BC0742768D1}"/>
              </a:ext>
            </a:extLst>
          </p:cNvPr>
          <p:cNvSpPr/>
          <p:nvPr/>
        </p:nvSpPr>
        <p:spPr>
          <a:xfrm>
            <a:off x="5677873" y="3573963"/>
            <a:ext cx="588865" cy="357840"/>
          </a:xfrm>
          <a:prstGeom prst="ellipse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מחבר חץ ישר 38">
            <a:extLst>
              <a:ext uri="{FF2B5EF4-FFF2-40B4-BE49-F238E27FC236}">
                <a16:creationId xmlns:a16="http://schemas.microsoft.com/office/drawing/2014/main" id="{2EC6E7A6-7F76-B97E-1DCF-2DB48EFEE371}"/>
              </a:ext>
            </a:extLst>
          </p:cNvPr>
          <p:cNvCxnSpPr>
            <a:cxnSpLocks/>
          </p:cNvCxnSpPr>
          <p:nvPr/>
        </p:nvCxnSpPr>
        <p:spPr>
          <a:xfrm>
            <a:off x="6013299" y="3928951"/>
            <a:ext cx="0" cy="3476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תיבת טקסט 40">
            <a:extLst>
              <a:ext uri="{FF2B5EF4-FFF2-40B4-BE49-F238E27FC236}">
                <a16:creationId xmlns:a16="http://schemas.microsoft.com/office/drawing/2014/main" id="{032D90A5-C349-443C-3463-33B8A9674E64}"/>
              </a:ext>
            </a:extLst>
          </p:cNvPr>
          <p:cNvSpPr txBox="1"/>
          <p:nvPr/>
        </p:nvSpPr>
        <p:spPr>
          <a:xfrm>
            <a:off x="4817163" y="4269808"/>
            <a:ext cx="4563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effectLst/>
                <a:latin typeface="Garamond" panose="02020404030301010803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The weight of the diction tree's price-output.</a:t>
            </a:r>
            <a:endParaRPr lang="en-US" dirty="0"/>
          </a:p>
        </p:txBody>
      </p:sp>
      <p:sp>
        <p:nvSpPr>
          <p:cNvPr id="42" name="אליפסה 41">
            <a:extLst>
              <a:ext uri="{FF2B5EF4-FFF2-40B4-BE49-F238E27FC236}">
                <a16:creationId xmlns:a16="http://schemas.microsoft.com/office/drawing/2014/main" id="{0D6C8968-8003-98F1-7E7F-95D9680AAB6F}"/>
              </a:ext>
            </a:extLst>
          </p:cNvPr>
          <p:cNvSpPr/>
          <p:nvPr/>
        </p:nvSpPr>
        <p:spPr>
          <a:xfrm>
            <a:off x="6733866" y="3388025"/>
            <a:ext cx="327489" cy="258945"/>
          </a:xfrm>
          <a:prstGeom prst="ellipse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מחבר חץ ישר 42">
            <a:extLst>
              <a:ext uri="{FF2B5EF4-FFF2-40B4-BE49-F238E27FC236}">
                <a16:creationId xmlns:a16="http://schemas.microsoft.com/office/drawing/2014/main" id="{864AEB58-1AF4-0174-23C5-45409F1235BD}"/>
              </a:ext>
            </a:extLst>
          </p:cNvPr>
          <p:cNvCxnSpPr>
            <a:cxnSpLocks/>
          </p:cNvCxnSpPr>
          <p:nvPr/>
        </p:nvCxnSpPr>
        <p:spPr>
          <a:xfrm flipV="1">
            <a:off x="6941481" y="3117748"/>
            <a:ext cx="434849" cy="3429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תיבת טקסט 44">
            <a:extLst>
              <a:ext uri="{FF2B5EF4-FFF2-40B4-BE49-F238E27FC236}">
                <a16:creationId xmlns:a16="http://schemas.microsoft.com/office/drawing/2014/main" id="{4ACD6E32-4B85-DE1E-7694-CF6818F7461B}"/>
              </a:ext>
            </a:extLst>
          </p:cNvPr>
          <p:cNvSpPr txBox="1"/>
          <p:nvPr/>
        </p:nvSpPr>
        <p:spPr>
          <a:xfrm>
            <a:off x="7376330" y="2721826"/>
            <a:ext cx="34292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effectLst/>
                <a:latin typeface="Garamond" panose="02020404030301010803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The number of additional features. </a:t>
            </a:r>
            <a:endParaRPr lang="en-US" dirty="0"/>
          </a:p>
        </p:txBody>
      </p:sp>
      <p:sp>
        <p:nvSpPr>
          <p:cNvPr id="46" name="אליפסה 45">
            <a:extLst>
              <a:ext uri="{FF2B5EF4-FFF2-40B4-BE49-F238E27FC236}">
                <a16:creationId xmlns:a16="http://schemas.microsoft.com/office/drawing/2014/main" id="{5C1DDC7D-087B-D40E-51F0-8F7C07F395A2}"/>
              </a:ext>
            </a:extLst>
          </p:cNvPr>
          <p:cNvSpPr/>
          <p:nvPr/>
        </p:nvSpPr>
        <p:spPr>
          <a:xfrm>
            <a:off x="7044603" y="3600249"/>
            <a:ext cx="731961" cy="357840"/>
          </a:xfrm>
          <a:prstGeom prst="ellipse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מחבר חץ ישר 46">
            <a:extLst>
              <a:ext uri="{FF2B5EF4-FFF2-40B4-BE49-F238E27FC236}">
                <a16:creationId xmlns:a16="http://schemas.microsoft.com/office/drawing/2014/main" id="{BCD6AC20-08D5-102B-65E8-05F57610EACC}"/>
              </a:ext>
            </a:extLst>
          </p:cNvPr>
          <p:cNvCxnSpPr>
            <a:cxnSpLocks/>
          </p:cNvCxnSpPr>
          <p:nvPr/>
        </p:nvCxnSpPr>
        <p:spPr>
          <a:xfrm flipH="1">
            <a:off x="7435619" y="3972415"/>
            <a:ext cx="5744" cy="926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תיבת טקסט 50">
            <a:extLst>
              <a:ext uri="{FF2B5EF4-FFF2-40B4-BE49-F238E27FC236}">
                <a16:creationId xmlns:a16="http://schemas.microsoft.com/office/drawing/2014/main" id="{9EE478BC-F70E-12AF-C32E-0B45B676A3D0}"/>
              </a:ext>
            </a:extLst>
          </p:cNvPr>
          <p:cNvSpPr txBox="1"/>
          <p:nvPr/>
        </p:nvSpPr>
        <p:spPr>
          <a:xfrm>
            <a:off x="4506578" y="4833932"/>
            <a:ext cx="7811119" cy="7682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marR="0" algn="l" rtl="0">
              <a:lnSpc>
                <a:spcPct val="107000"/>
              </a:lnSpc>
              <a:spcAft>
                <a:spcPts val="800"/>
              </a:spcAft>
            </a:pPr>
            <a:r>
              <a:rPr lang="en-US" sz="1800" dirty="0">
                <a:effectLst/>
                <a:latin typeface="Garamond" panose="02020404030301010803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The Weight assigned to the j-</a:t>
            </a:r>
            <a:r>
              <a:rPr lang="en-US" sz="1800" dirty="0" err="1">
                <a:effectLst/>
                <a:latin typeface="Garamond" panose="02020404030301010803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</a:t>
            </a:r>
            <a:r>
              <a:rPr lang="en-US" sz="1800" dirty="0">
                <a:effectLst/>
                <a:latin typeface="Garamond" panose="02020404030301010803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additional feature</a:t>
            </a:r>
            <a:endParaRPr lang="en-US" sz="1800" dirty="0">
              <a:effectLst/>
              <a:latin typeface="Aptos" panose="020B0004020202020204" pitchFamily="34" charset="0"/>
              <a:ea typeface="Aptos" panose="020B0004020202020204" pitchFamily="34" charset="0"/>
              <a:cs typeface="Aptos" panose="020B0004020202020204" pitchFamily="34" charset="0"/>
            </a:endParaRPr>
          </a:p>
          <a:p>
            <a:endParaRPr lang="en-US" dirty="0"/>
          </a:p>
        </p:txBody>
      </p:sp>
      <p:sp>
        <p:nvSpPr>
          <p:cNvPr id="54" name="אליפסה 53">
            <a:extLst>
              <a:ext uri="{FF2B5EF4-FFF2-40B4-BE49-F238E27FC236}">
                <a16:creationId xmlns:a16="http://schemas.microsoft.com/office/drawing/2014/main" id="{780500A2-6CDB-F929-DB74-B5F9B934F4C5}"/>
              </a:ext>
            </a:extLst>
          </p:cNvPr>
          <p:cNvSpPr/>
          <p:nvPr/>
        </p:nvSpPr>
        <p:spPr>
          <a:xfrm>
            <a:off x="7871762" y="3590841"/>
            <a:ext cx="731961" cy="357840"/>
          </a:xfrm>
          <a:prstGeom prst="ellipse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מחבר חץ ישר 54">
            <a:extLst>
              <a:ext uri="{FF2B5EF4-FFF2-40B4-BE49-F238E27FC236}">
                <a16:creationId xmlns:a16="http://schemas.microsoft.com/office/drawing/2014/main" id="{0560A9E6-3AEE-0430-8EAB-545CFB26898E}"/>
              </a:ext>
            </a:extLst>
          </p:cNvPr>
          <p:cNvCxnSpPr>
            <a:cxnSpLocks/>
          </p:cNvCxnSpPr>
          <p:nvPr/>
        </p:nvCxnSpPr>
        <p:spPr>
          <a:xfrm>
            <a:off x="8282954" y="3906459"/>
            <a:ext cx="572163" cy="2713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תיבת טקסט 56">
            <a:extLst>
              <a:ext uri="{FF2B5EF4-FFF2-40B4-BE49-F238E27FC236}">
                <a16:creationId xmlns:a16="http://schemas.microsoft.com/office/drawing/2014/main" id="{D5EDBADE-1340-87D8-5875-2509A479CED9}"/>
              </a:ext>
            </a:extLst>
          </p:cNvPr>
          <p:cNvSpPr txBox="1"/>
          <p:nvPr/>
        </p:nvSpPr>
        <p:spPr>
          <a:xfrm>
            <a:off x="8751209" y="3646970"/>
            <a:ext cx="3566488" cy="13610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marR="0" algn="l" rtl="0">
              <a:lnSpc>
                <a:spcPct val="107000"/>
              </a:lnSpc>
              <a:spcAft>
                <a:spcPts val="800"/>
              </a:spcAft>
            </a:pPr>
            <a:r>
              <a:rPr lang="en-US" sz="1800" dirty="0">
                <a:effectLst/>
                <a:latin typeface="Garamond" panose="02020404030301010803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Binary value of the j-</a:t>
            </a:r>
            <a:r>
              <a:rPr lang="en-US" sz="1800" dirty="0" err="1">
                <a:effectLst/>
                <a:latin typeface="Garamond" panose="02020404030301010803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</a:t>
            </a:r>
            <a:r>
              <a:rPr lang="en-US" sz="1800" dirty="0">
                <a:effectLst/>
                <a:latin typeface="Garamond" panose="02020404030301010803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additional feature provided by the user         (1 = exist, 0 = doesn’t exist)</a:t>
            </a:r>
            <a:endParaRPr lang="en-US" sz="1800" dirty="0">
              <a:effectLst/>
              <a:latin typeface="Aptos" panose="020B0004020202020204" pitchFamily="34" charset="0"/>
              <a:ea typeface="Aptos" panose="020B0004020202020204" pitchFamily="34" charset="0"/>
              <a:cs typeface="Aptos" panose="020B0004020202020204" pitchFamily="34" charset="0"/>
            </a:endParaRPr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תיבת טקסט 58">
                <a:extLst>
                  <a:ext uri="{FF2B5EF4-FFF2-40B4-BE49-F238E27FC236}">
                    <a16:creationId xmlns:a16="http://schemas.microsoft.com/office/drawing/2014/main" id="{2D46203E-6CD1-B296-1FCE-F2050904DBF8}"/>
                  </a:ext>
                </a:extLst>
              </p:cNvPr>
              <p:cNvSpPr txBox="1"/>
              <p:nvPr/>
            </p:nvSpPr>
            <p:spPr>
              <a:xfrm>
                <a:off x="-754583" y="5212264"/>
                <a:ext cx="6283464" cy="6592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𝑏𝑎𝑠𝑒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i="0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𝑡𝑟𝑒𝑒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9" name="תיבת טקסט 58">
                <a:extLst>
                  <a:ext uri="{FF2B5EF4-FFF2-40B4-BE49-F238E27FC236}">
                    <a16:creationId xmlns:a16="http://schemas.microsoft.com/office/drawing/2014/main" id="{2D46203E-6CD1-B296-1FCE-F2050904DB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54583" y="5212264"/>
                <a:ext cx="6283464" cy="6592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תיבת טקסט 60">
                <a:extLst>
                  <a:ext uri="{FF2B5EF4-FFF2-40B4-BE49-F238E27FC236}">
                    <a16:creationId xmlns:a16="http://schemas.microsoft.com/office/drawing/2014/main" id="{FBDB8B54-382F-5AAD-0D65-D5B85B9109F6}"/>
                  </a:ext>
                </a:extLst>
              </p:cNvPr>
              <p:cNvSpPr txBox="1"/>
              <p:nvPr/>
            </p:nvSpPr>
            <p:spPr>
              <a:xfrm>
                <a:off x="4948069" y="5184814"/>
                <a:ext cx="6536724" cy="6905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subSup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𝑎𝑑𝑑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∗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𝑎𝑑𝑑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1" name="תיבת טקסט 60">
                <a:extLst>
                  <a:ext uri="{FF2B5EF4-FFF2-40B4-BE49-F238E27FC236}">
                    <a16:creationId xmlns:a16="http://schemas.microsoft.com/office/drawing/2014/main" id="{FBDB8B54-382F-5AAD-0D65-D5B85B9109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8069" y="5184814"/>
                <a:ext cx="6536724" cy="6905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תיבת טקסט 61">
            <a:extLst>
              <a:ext uri="{FF2B5EF4-FFF2-40B4-BE49-F238E27FC236}">
                <a16:creationId xmlns:a16="http://schemas.microsoft.com/office/drawing/2014/main" id="{164BD202-6933-2444-C3E8-B784643E389D}"/>
              </a:ext>
            </a:extLst>
          </p:cNvPr>
          <p:cNvSpPr txBox="1"/>
          <p:nvPr/>
        </p:nvSpPr>
        <p:spPr>
          <a:xfrm>
            <a:off x="36330" y="5850318"/>
            <a:ext cx="50565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effectLst/>
                <a:latin typeface="Garamond" panose="02020404030301010803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This part calculates the predicted price </a:t>
            </a:r>
            <a:endParaRPr lang="en-US" dirty="0">
              <a:latin typeface="Garamond" panose="02020404030301010803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dirty="0">
                <a:effectLst/>
                <a:latin typeface="Garamond" panose="02020404030301010803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based on the </a:t>
            </a:r>
            <a:r>
              <a:rPr lang="en-US" dirty="0">
                <a:latin typeface="Garamond" panose="02020404030301010803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existing</a:t>
            </a:r>
            <a:r>
              <a:rPr lang="en-US" sz="1800" dirty="0">
                <a:effectLst/>
                <a:latin typeface="Garamond" panose="02020404030301010803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property features in the database.</a:t>
            </a:r>
            <a:endParaRPr lang="en-US" dirty="0"/>
          </a:p>
        </p:txBody>
      </p:sp>
      <p:sp>
        <p:nvSpPr>
          <p:cNvPr id="63" name="תיבת טקסט 62">
            <a:extLst>
              <a:ext uri="{FF2B5EF4-FFF2-40B4-BE49-F238E27FC236}">
                <a16:creationId xmlns:a16="http://schemas.microsoft.com/office/drawing/2014/main" id="{8C6702C6-2489-03AB-9D42-CB0CD2100E99}"/>
              </a:ext>
            </a:extLst>
          </p:cNvPr>
          <p:cNvSpPr txBox="1"/>
          <p:nvPr/>
        </p:nvSpPr>
        <p:spPr>
          <a:xfrm>
            <a:off x="6234877" y="5907295"/>
            <a:ext cx="60596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effectLst/>
                <a:latin typeface="Garamond" panose="02020404030301010803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This part adds the influence of the additional features. </a:t>
            </a:r>
          </a:p>
          <a:p>
            <a:r>
              <a:rPr lang="en-US" sz="1800" dirty="0">
                <a:effectLst/>
                <a:latin typeface="Garamond" panose="02020404030301010803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(The missing data)</a:t>
            </a:r>
          </a:p>
          <a:p>
            <a:r>
              <a:rPr lang="en-US" dirty="0">
                <a:latin typeface="Garamond" panose="02020404030301010803" pitchFamily="18" charset="0"/>
              </a:rPr>
              <a:t>More important features have higher weights.</a:t>
            </a:r>
            <a:endParaRPr lang="he-IL" dirty="0">
              <a:latin typeface="Garamond" panose="02020404030301010803" pitchFamily="18" charset="0"/>
            </a:endParaRPr>
          </a:p>
        </p:txBody>
      </p:sp>
      <p:sp>
        <p:nvSpPr>
          <p:cNvPr id="7" name="אליפסה 6">
            <a:extLst>
              <a:ext uri="{FF2B5EF4-FFF2-40B4-BE49-F238E27FC236}">
                <a16:creationId xmlns:a16="http://schemas.microsoft.com/office/drawing/2014/main" id="{8A418B5D-A24E-4EE8-2469-C9E6F093A61E}"/>
              </a:ext>
            </a:extLst>
          </p:cNvPr>
          <p:cNvSpPr/>
          <p:nvPr/>
        </p:nvSpPr>
        <p:spPr>
          <a:xfrm>
            <a:off x="4703721" y="3606364"/>
            <a:ext cx="588865" cy="325439"/>
          </a:xfrm>
          <a:prstGeom prst="ellipse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מחבר חץ ישר 8">
            <a:extLst>
              <a:ext uri="{FF2B5EF4-FFF2-40B4-BE49-F238E27FC236}">
                <a16:creationId xmlns:a16="http://schemas.microsoft.com/office/drawing/2014/main" id="{1891E776-8B01-4528-CA6E-892D216C57C5}"/>
              </a:ext>
            </a:extLst>
          </p:cNvPr>
          <p:cNvCxnSpPr>
            <a:cxnSpLocks/>
          </p:cNvCxnSpPr>
          <p:nvPr/>
        </p:nvCxnSpPr>
        <p:spPr>
          <a:xfrm flipV="1">
            <a:off x="4989664" y="3027578"/>
            <a:ext cx="41590" cy="5845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תיבת טקסט 9">
            <a:extLst>
              <a:ext uri="{FF2B5EF4-FFF2-40B4-BE49-F238E27FC236}">
                <a16:creationId xmlns:a16="http://schemas.microsoft.com/office/drawing/2014/main" id="{D24EEEAE-C04D-EE58-2AE6-620E33B58956}"/>
              </a:ext>
            </a:extLst>
          </p:cNvPr>
          <p:cNvSpPr txBox="1"/>
          <p:nvPr/>
        </p:nvSpPr>
        <p:spPr>
          <a:xfrm>
            <a:off x="3821128" y="2707390"/>
            <a:ext cx="41087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effectLst/>
                <a:latin typeface="Garamond" panose="02020404030301010803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Vector of base features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8654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42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8" dur="5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42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6" dur="5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8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42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1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1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9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0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42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1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1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12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0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32" dur="5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5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3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42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9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0" dur="1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1" dur="1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6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60" dur="500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1" dur="500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6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42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8" dur="1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9" dur="1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6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7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8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3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4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5" fill="hold">
                      <p:stCondLst>
                        <p:cond delay="indefinite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8" dur="500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9" dur="500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9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42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6" dur="1000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7" dur="1000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9" fill="hold">
                      <p:stCondLst>
                        <p:cond delay="indefinite"/>
                      </p:stCondLst>
                      <p:childTnLst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4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5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2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3" fill="hold">
                      <p:stCondLst>
                        <p:cond delay="indefinite"/>
                      </p:stCondLst>
                      <p:childTnLst>
                        <p:par>
                          <p:cTn id="214" fill="hold">
                            <p:stCondLst>
                              <p:cond delay="0"/>
                            </p:stCondLst>
                            <p:childTnLst>
                              <p:par>
                                <p:cTn id="215" presetID="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16" dur="500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7" dur="500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22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2" presetID="42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3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4" dur="1000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5" dur="1000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7" fill="hold">
                      <p:stCondLst>
                        <p:cond delay="indefinite"/>
                      </p:stCondLst>
                      <p:childTnLst>
                        <p:par>
                          <p:cTn id="228" fill="hold">
                            <p:stCondLst>
                              <p:cond delay="0"/>
                            </p:stCondLst>
                            <p:childTnLst>
                              <p:par>
                                <p:cTn id="229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31" dur="2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4" dur="1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5" dur="1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6" dur="1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7" dur="1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8" fill="hold">
                      <p:stCondLst>
                        <p:cond delay="indefinite"/>
                      </p:stCondLst>
                      <p:childTnLst>
                        <p:par>
                          <p:cTn id="239" fill="hold">
                            <p:stCondLst>
                              <p:cond delay="0"/>
                            </p:stCondLst>
                            <p:childTnLst>
                              <p:par>
                                <p:cTn id="24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42" dur="2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5" dur="1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6" dur="1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7" dur="1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8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13" grpId="0"/>
      <p:bldP spid="13" grpId="1"/>
      <p:bldP spid="15" grpId="0" animBg="1"/>
      <p:bldP spid="15" grpId="1" animBg="1"/>
      <p:bldP spid="27" grpId="0"/>
      <p:bldP spid="27" grpId="1"/>
      <p:bldP spid="29" grpId="0" animBg="1"/>
      <p:bldP spid="29" grpId="1" animBg="1"/>
      <p:bldP spid="35" grpId="0"/>
      <p:bldP spid="35" grpId="1"/>
      <p:bldP spid="37" grpId="0" animBg="1"/>
      <p:bldP spid="37" grpId="1" animBg="1"/>
      <p:bldP spid="41" grpId="0"/>
      <p:bldP spid="41" grpId="1"/>
      <p:bldP spid="42" grpId="0" animBg="1"/>
      <p:bldP spid="42" grpId="1" animBg="1"/>
      <p:bldP spid="45" grpId="0"/>
      <p:bldP spid="45" grpId="1"/>
      <p:bldP spid="46" grpId="0" animBg="1"/>
      <p:bldP spid="46" grpId="1" animBg="1"/>
      <p:bldP spid="51" grpId="0"/>
      <p:bldP spid="51" grpId="1"/>
      <p:bldP spid="54" grpId="0" animBg="1"/>
      <p:bldP spid="54" grpId="1" animBg="1"/>
      <p:bldP spid="57" grpId="0"/>
      <p:bldP spid="57" grpId="1"/>
      <p:bldP spid="59" grpId="0"/>
      <p:bldP spid="61" grpId="0"/>
      <p:bldP spid="62" grpId="0"/>
      <p:bldP spid="63" grpId="0"/>
      <p:bldP spid="7" grpId="0" animBg="1"/>
      <p:bldP spid="7" grpId="1" animBg="1"/>
      <p:bldP spid="10" grpId="0"/>
      <p:bldP spid="10" grpId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EDA2D4-27BE-6DD2-FCE8-6D00A6CA3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8EB5ABB-03AF-590C-D97A-7484E2220A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BAA930F-3B95-E843-FAA8-9A7437B8EC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FEEDCE8-1BB0-27B3-20F7-3BDF2A49A2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0CD0DE8-8D5B-9145-04A3-6D762686F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C481489-F2E8-C902-4FC3-54E24ADF1C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8D4FFFF-34A5-5819-3BD5-47E2C05EE5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240AAD6-042F-5BEB-3183-8A62E03E91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B304F639-2651-09C7-8777-8715217CB2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nivers Condensed Light"/>
              <a:ea typeface="+mn-ea"/>
              <a:cs typeface="+mn-cs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CACEA15-44B0-F856-A8BD-CAAC9C8704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3"/>
            <a:ext cx="12192000" cy="20089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nivers Condensed Light"/>
              <a:ea typeface="+mn-ea"/>
              <a:cs typeface="+mn-cs"/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506EAF5-C20A-AFE7-2BDB-A31409F092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CB544FA-0B13-CAEE-6A3D-8229FB8242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478117" y="0"/>
            <a:ext cx="340591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14FA5CF-B095-AFB5-7801-37D8A07FF7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331150" y="1171094"/>
            <a:ext cx="4860850" cy="82402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EB9FAAD-DBBE-CE1B-CA2C-D920F29AF2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8968704" y="0"/>
            <a:ext cx="2147217" cy="1995117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4C327E7-9136-1336-94A2-B7002C7FF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83871" y="889760"/>
            <a:ext cx="8104625" cy="1086847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 algn="ctr">
              <a:lnSpc>
                <a:spcPts val="9600"/>
              </a:lnSpc>
            </a:pPr>
            <a:r>
              <a:rPr lang="en-US" sz="3600" dirty="0">
                <a:latin typeface="Walbaum Display Light (כותרות)"/>
              </a:rPr>
              <a:t>Expectations</a:t>
            </a:r>
            <a:br>
              <a:rPr lang="en-US" dirty="0">
                <a:latin typeface="Walbaum Display Light (כותרות)"/>
              </a:rPr>
            </a:br>
            <a:endParaRPr lang="en-US" sz="3600" i="0" dirty="0">
              <a:solidFill>
                <a:srgbClr val="FFFFFF"/>
              </a:solidFill>
              <a:latin typeface="Walbaum Display Light (כותרות)"/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071CEFC-6493-8EAF-1FEF-46DEEB770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94353" y="0"/>
            <a:ext cx="239059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תיבת טקסט 5">
            <a:extLst>
              <a:ext uri="{FF2B5EF4-FFF2-40B4-BE49-F238E27FC236}">
                <a16:creationId xmlns:a16="http://schemas.microsoft.com/office/drawing/2014/main" id="{E1DD6551-1DDC-3470-F3BD-23E6B0998E62}"/>
              </a:ext>
            </a:extLst>
          </p:cNvPr>
          <p:cNvSpPr txBox="1"/>
          <p:nvPr/>
        </p:nvSpPr>
        <p:spPr>
          <a:xfrm>
            <a:off x="173839" y="2543956"/>
            <a:ext cx="882436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Univers Condensed Light (גוף)"/>
              </a:rPr>
              <a:t>Accuracy and Performance</a:t>
            </a:r>
          </a:p>
          <a:p>
            <a:endParaRPr lang="en-US" b="1" dirty="0">
              <a:latin typeface="Univers Condensed Light (גוף)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Univers Condensed Light (גוף)"/>
              </a:rPr>
              <a:t> </a:t>
            </a:r>
            <a:r>
              <a:rPr lang="en-US" dirty="0"/>
              <a:t>Fast response time</a:t>
            </a:r>
            <a:endParaRPr lang="en-US" dirty="0">
              <a:latin typeface="Univers Condensed Light (גוף)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Univers Condensed Light (גוף)"/>
              </a:rPr>
              <a:t> At least </a:t>
            </a:r>
            <a:r>
              <a:rPr lang="en-US" b="1" dirty="0">
                <a:latin typeface="Univers Condensed Light (גוף)"/>
              </a:rPr>
              <a:t>90% accuracy</a:t>
            </a:r>
            <a:r>
              <a:rPr lang="en-US" dirty="0">
                <a:latin typeface="Univers Condensed Light (גוף)"/>
              </a:rPr>
              <a:t> for price prediction.</a:t>
            </a:r>
          </a:p>
        </p:txBody>
      </p:sp>
      <p:sp>
        <p:nvSpPr>
          <p:cNvPr id="7" name="תיבת טקסט 6">
            <a:extLst>
              <a:ext uri="{FF2B5EF4-FFF2-40B4-BE49-F238E27FC236}">
                <a16:creationId xmlns:a16="http://schemas.microsoft.com/office/drawing/2014/main" id="{3BF3B56A-3E70-ED8E-087D-2D34309725FD}"/>
              </a:ext>
            </a:extLst>
          </p:cNvPr>
          <p:cNvSpPr txBox="1"/>
          <p:nvPr/>
        </p:nvSpPr>
        <p:spPr>
          <a:xfrm>
            <a:off x="173839" y="4651268"/>
            <a:ext cx="60933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Ease of Use</a:t>
            </a:r>
          </a:p>
          <a:p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Simple user interface.</a:t>
            </a:r>
          </a:p>
        </p:txBody>
      </p:sp>
    </p:spTree>
    <p:extLst>
      <p:ext uri="{BB962C8B-B14F-4D97-AF65-F5344CB8AC3E}">
        <p14:creationId xmlns:p14="http://schemas.microsoft.com/office/powerpoint/2010/main" val="2626807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436E0F2-A64B-471E-93C0-8DFE08CC5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C1E3AB1-2A8C-4607-9FAE-D8BDB280F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6D66059-832F-40B6-A35F-F56C8F38A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515E2ED-7EA9-448D-83FA-54C3DF972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595356-EABD-4767-AC9D-EA21FF115E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8CD9F06-9628-469C-B788-A894E3E082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550A431-0B61-421B-B4B7-24C0CFF0F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EA3B6404-C37D-4FE3-8124-9FC5ECE56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ED61EC8C-9F54-4671-8E82-4AE6101D6C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7177768" y="0"/>
            <a:ext cx="5014232" cy="6868738"/>
          </a:xfrm>
          <a:custGeom>
            <a:avLst/>
            <a:gdLst>
              <a:gd name="connsiteX0" fmla="*/ 0 w 4584879"/>
              <a:gd name="connsiteY0" fmla="*/ 0 h 6863976"/>
              <a:gd name="connsiteX1" fmla="*/ 4584879 w 4584879"/>
              <a:gd name="connsiteY1" fmla="*/ 0 h 6863976"/>
              <a:gd name="connsiteX2" fmla="*/ 2493114 w 4584879"/>
              <a:gd name="connsiteY2" fmla="*/ 6863976 h 6863976"/>
              <a:gd name="connsiteX3" fmla="*/ 0 w 4584879"/>
              <a:gd name="connsiteY3" fmla="*/ 6863976 h 6863976"/>
              <a:gd name="connsiteX0" fmla="*/ 0 w 4584879"/>
              <a:gd name="connsiteY0" fmla="*/ 0 h 6863976"/>
              <a:gd name="connsiteX1" fmla="*/ 4584879 w 4584879"/>
              <a:gd name="connsiteY1" fmla="*/ 0 h 6863976"/>
              <a:gd name="connsiteX2" fmla="*/ 2713264 w 4584879"/>
              <a:gd name="connsiteY2" fmla="*/ 6863976 h 6863976"/>
              <a:gd name="connsiteX3" fmla="*/ 0 w 4584879"/>
              <a:gd name="connsiteY3" fmla="*/ 6863976 h 6863976"/>
              <a:gd name="connsiteX4" fmla="*/ 0 w 4584879"/>
              <a:gd name="connsiteY4" fmla="*/ 0 h 6863976"/>
              <a:gd name="connsiteX0" fmla="*/ 0 w 4408998"/>
              <a:gd name="connsiteY0" fmla="*/ 4762 h 6868738"/>
              <a:gd name="connsiteX1" fmla="*/ 4408998 w 4408998"/>
              <a:gd name="connsiteY1" fmla="*/ 0 h 6868738"/>
              <a:gd name="connsiteX2" fmla="*/ 2713264 w 4408998"/>
              <a:gd name="connsiteY2" fmla="*/ 6868738 h 6868738"/>
              <a:gd name="connsiteX3" fmla="*/ 0 w 4408998"/>
              <a:gd name="connsiteY3" fmla="*/ 6868738 h 6868738"/>
              <a:gd name="connsiteX4" fmla="*/ 0 w 4408998"/>
              <a:gd name="connsiteY4" fmla="*/ 4762 h 68687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408998" h="6868738">
                <a:moveTo>
                  <a:pt x="0" y="4762"/>
                </a:moveTo>
                <a:lnTo>
                  <a:pt x="4408998" y="0"/>
                </a:lnTo>
                <a:lnTo>
                  <a:pt x="2713264" y="6868738"/>
                </a:lnTo>
                <a:lnTo>
                  <a:pt x="0" y="6868738"/>
                </a:lnTo>
                <a:lnTo>
                  <a:pt x="0" y="4762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כותרת 1">
            <a:extLst>
              <a:ext uri="{FF2B5EF4-FFF2-40B4-BE49-F238E27FC236}">
                <a16:creationId xmlns:a16="http://schemas.microsoft.com/office/drawing/2014/main" id="{C1B34C31-2BCB-FDE5-88D9-CAD628FE0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09683" y="1071142"/>
            <a:ext cx="3738926" cy="113188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400" dirty="0"/>
              <a:t>USE CASE</a:t>
            </a:r>
          </a:p>
        </p:txBody>
      </p:sp>
      <p:pic>
        <p:nvPicPr>
          <p:cNvPr id="6" name="מציין מיקום תוכן 5" descr="תמונה שמכילה טקסט, תרשים, צילום מסך, קו&#10;&#10;התיאור נוצר באופן אוטומטי">
            <a:extLst>
              <a:ext uri="{FF2B5EF4-FFF2-40B4-BE49-F238E27FC236}">
                <a16:creationId xmlns:a16="http://schemas.microsoft.com/office/drawing/2014/main" id="{BB316738-1D09-FD6F-2ED6-620B256135A4}"/>
              </a:ext>
            </a:extLst>
          </p:cNvPr>
          <p:cNvPicPr>
            <a:picLocks noGrp="1" noChangeAspect="1"/>
          </p:cNvPicPr>
          <p:nvPr>
            <p:ph sz="half" idx="1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675" y="533400"/>
            <a:ext cx="6160851" cy="5791200"/>
          </a:xfrm>
          <a:prstGeom prst="rect">
            <a:avLst/>
          </a:prstGeom>
        </p:spPr>
      </p:pic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A5D40F5-A8C4-4952-BCA6-4D0D14F8BF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758751" y="0"/>
            <a:ext cx="532263" cy="68580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955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436E0F2-A64B-471E-93C0-8DFE08CC5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C1E3AB1-2A8C-4607-9FAE-D8BDB280F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6D66059-832F-40B6-A35F-F56C8F38A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515E2ED-7EA9-448D-83FA-54C3DF972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595356-EABD-4767-AC9D-EA21FF115E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8CD9F06-9628-469C-B788-A894E3E082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550A431-0B61-421B-B4B7-24C0CFF0F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052B717E-679E-41A4-B95A-8F7DFAD3FA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3">
            <a:extLst>
              <a:ext uri="{FF2B5EF4-FFF2-40B4-BE49-F238E27FC236}">
                <a16:creationId xmlns:a16="http://schemas.microsoft.com/office/drawing/2014/main" id="{0B0EB278-F8C7-43AD-BCE2-A2F4D98C4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-1"/>
            <a:ext cx="7960944" cy="6859759"/>
          </a:xfrm>
          <a:custGeom>
            <a:avLst/>
            <a:gdLst>
              <a:gd name="connsiteX0" fmla="*/ 0 w 5803153"/>
              <a:gd name="connsiteY0" fmla="*/ 0 h 6857998"/>
              <a:gd name="connsiteX1" fmla="*/ 5803153 w 5803153"/>
              <a:gd name="connsiteY1" fmla="*/ 0 h 6857998"/>
              <a:gd name="connsiteX2" fmla="*/ 5803153 w 5803153"/>
              <a:gd name="connsiteY2" fmla="*/ 6857998 h 6857998"/>
              <a:gd name="connsiteX3" fmla="*/ 0 w 5803153"/>
              <a:gd name="connsiteY3" fmla="*/ 6857998 h 6857998"/>
              <a:gd name="connsiteX4" fmla="*/ 0 w 5803153"/>
              <a:gd name="connsiteY4" fmla="*/ 0 h 6857998"/>
              <a:gd name="connsiteX0" fmla="*/ 1016000 w 5803153"/>
              <a:gd name="connsiteY0" fmla="*/ 0 h 6857998"/>
              <a:gd name="connsiteX1" fmla="*/ 5803153 w 5803153"/>
              <a:gd name="connsiteY1" fmla="*/ 0 h 6857998"/>
              <a:gd name="connsiteX2" fmla="*/ 5803153 w 5803153"/>
              <a:gd name="connsiteY2" fmla="*/ 6857998 h 6857998"/>
              <a:gd name="connsiteX3" fmla="*/ 0 w 5803153"/>
              <a:gd name="connsiteY3" fmla="*/ 6857998 h 6857998"/>
              <a:gd name="connsiteX4" fmla="*/ 1016000 w 5803153"/>
              <a:gd name="connsiteY4" fmla="*/ 0 h 6857998"/>
              <a:gd name="connsiteX0" fmla="*/ 1338729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338729 w 6125882"/>
              <a:gd name="connsiteY4" fmla="*/ 0 h 6857998"/>
              <a:gd name="connsiteX0" fmla="*/ 1697317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697317 w 6125882"/>
              <a:gd name="connsiteY4" fmla="*/ 0 h 6857998"/>
              <a:gd name="connsiteX0" fmla="*/ 2702091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2702091 w 6125882"/>
              <a:gd name="connsiteY4" fmla="*/ 0 h 6857998"/>
              <a:gd name="connsiteX0" fmla="*/ 3837993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3837993 w 6125882"/>
              <a:gd name="connsiteY4" fmla="*/ 0 h 6857998"/>
              <a:gd name="connsiteX0" fmla="*/ 3244301 w 6125882"/>
              <a:gd name="connsiteY0" fmla="*/ 0 h 6868949"/>
              <a:gd name="connsiteX1" fmla="*/ 6125882 w 6125882"/>
              <a:gd name="connsiteY1" fmla="*/ 10951 h 6868949"/>
              <a:gd name="connsiteX2" fmla="*/ 6125882 w 6125882"/>
              <a:gd name="connsiteY2" fmla="*/ 6868949 h 6868949"/>
              <a:gd name="connsiteX3" fmla="*/ 0 w 6125882"/>
              <a:gd name="connsiteY3" fmla="*/ 6856996 h 6868949"/>
              <a:gd name="connsiteX4" fmla="*/ 3244301 w 6125882"/>
              <a:gd name="connsiteY4" fmla="*/ 0 h 6868949"/>
              <a:gd name="connsiteX0" fmla="*/ 3010169 w 6125882"/>
              <a:gd name="connsiteY0" fmla="*/ 0 h 6868949"/>
              <a:gd name="connsiteX1" fmla="*/ 6125882 w 6125882"/>
              <a:gd name="connsiteY1" fmla="*/ 10951 h 6868949"/>
              <a:gd name="connsiteX2" fmla="*/ 6125882 w 6125882"/>
              <a:gd name="connsiteY2" fmla="*/ 6868949 h 6868949"/>
              <a:gd name="connsiteX3" fmla="*/ 0 w 6125882"/>
              <a:gd name="connsiteY3" fmla="*/ 6856996 h 6868949"/>
              <a:gd name="connsiteX4" fmla="*/ 3010169 w 6125882"/>
              <a:gd name="connsiteY4" fmla="*/ 0 h 6868949"/>
              <a:gd name="connsiteX0" fmla="*/ 2951635 w 6067348"/>
              <a:gd name="connsiteY0" fmla="*/ 0 h 6868949"/>
              <a:gd name="connsiteX1" fmla="*/ 6067348 w 6067348"/>
              <a:gd name="connsiteY1" fmla="*/ 10951 h 6868949"/>
              <a:gd name="connsiteX2" fmla="*/ 6067348 w 6067348"/>
              <a:gd name="connsiteY2" fmla="*/ 6868949 h 6868949"/>
              <a:gd name="connsiteX3" fmla="*/ 0 w 6067348"/>
              <a:gd name="connsiteY3" fmla="*/ 6867946 h 6868949"/>
              <a:gd name="connsiteX4" fmla="*/ 2951635 w 6067348"/>
              <a:gd name="connsiteY4" fmla="*/ 0 h 6868949"/>
              <a:gd name="connsiteX0" fmla="*/ 2762929 w 6067348"/>
              <a:gd name="connsiteY0" fmla="*/ 0 h 6859759"/>
              <a:gd name="connsiteX1" fmla="*/ 6067348 w 6067348"/>
              <a:gd name="connsiteY1" fmla="*/ 1761 h 6859759"/>
              <a:gd name="connsiteX2" fmla="*/ 6067348 w 6067348"/>
              <a:gd name="connsiteY2" fmla="*/ 6859759 h 6859759"/>
              <a:gd name="connsiteX3" fmla="*/ 0 w 6067348"/>
              <a:gd name="connsiteY3" fmla="*/ 6858756 h 6859759"/>
              <a:gd name="connsiteX4" fmla="*/ 2762929 w 6067348"/>
              <a:gd name="connsiteY4" fmla="*/ 0 h 6859759"/>
              <a:gd name="connsiteX0" fmla="*/ 2675315 w 6067348"/>
              <a:gd name="connsiteY0" fmla="*/ 0 h 6859759"/>
              <a:gd name="connsiteX1" fmla="*/ 6067348 w 6067348"/>
              <a:gd name="connsiteY1" fmla="*/ 1761 h 6859759"/>
              <a:gd name="connsiteX2" fmla="*/ 6067348 w 6067348"/>
              <a:gd name="connsiteY2" fmla="*/ 6859759 h 6859759"/>
              <a:gd name="connsiteX3" fmla="*/ 0 w 6067348"/>
              <a:gd name="connsiteY3" fmla="*/ 6858756 h 6859759"/>
              <a:gd name="connsiteX4" fmla="*/ 2675315 w 6067348"/>
              <a:gd name="connsiteY4" fmla="*/ 0 h 6859759"/>
              <a:gd name="connsiteX0" fmla="*/ 2446171 w 5838204"/>
              <a:gd name="connsiteY0" fmla="*/ 0 h 6859759"/>
              <a:gd name="connsiteX1" fmla="*/ 5838204 w 5838204"/>
              <a:gd name="connsiteY1" fmla="*/ 1761 h 6859759"/>
              <a:gd name="connsiteX2" fmla="*/ 5838204 w 5838204"/>
              <a:gd name="connsiteY2" fmla="*/ 6859759 h 6859759"/>
              <a:gd name="connsiteX3" fmla="*/ 0 w 5838204"/>
              <a:gd name="connsiteY3" fmla="*/ 6858756 h 6859759"/>
              <a:gd name="connsiteX4" fmla="*/ 2446171 w 5838204"/>
              <a:gd name="connsiteY4" fmla="*/ 0 h 6859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38204" h="6859759">
                <a:moveTo>
                  <a:pt x="2446171" y="0"/>
                </a:moveTo>
                <a:lnTo>
                  <a:pt x="5838204" y="1761"/>
                </a:lnTo>
                <a:lnTo>
                  <a:pt x="5838204" y="6859759"/>
                </a:lnTo>
                <a:lnTo>
                  <a:pt x="0" y="6858756"/>
                </a:lnTo>
                <a:lnTo>
                  <a:pt x="2446171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545968-70F7-0180-6448-3547E442E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350" y="541964"/>
            <a:ext cx="4768938" cy="381866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/>
              <a:t>Activity diagram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0A7A0AD-25ED-4137-AA04-A0E36CAA8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6521187" y="10631"/>
            <a:ext cx="876073" cy="68580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186F20B-6445-4368-B022-F9EABF15A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9307961" y="640726"/>
            <a:ext cx="2884039" cy="6217274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9F97BBF-9EBF-4BEE-B39C-E6C666941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434086" y="0"/>
            <a:ext cx="2757914" cy="142520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image9.png" descr="תמונה שמכילה תרשים, טקסט, תוכנית, צילום מסך&#10;&#10;התיאור נוצר באופן אוטומטי">
            <a:extLst>
              <a:ext uri="{FF2B5EF4-FFF2-40B4-BE49-F238E27FC236}">
                <a16:creationId xmlns:a16="http://schemas.microsoft.com/office/drawing/2014/main" id="{A75881D5-28F6-DF07-BA85-881B7C8684E1}"/>
              </a:ext>
            </a:extLst>
          </p:cNvPr>
          <p:cNvPicPr>
            <a:picLocks noGrp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6095999" y="396510"/>
            <a:ext cx="5969225" cy="6222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9771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4436E0F2-A64B-471E-93C0-8DFE08CC5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DC1E3AB1-2A8C-4607-9FAE-D8BDB280F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26D66059-832F-40B6-A35F-F56C8F38A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A515E2ED-7EA9-448D-83FA-54C3DF972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20595356-EABD-4767-AC9D-EA21FF115E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28CD9F06-9628-469C-B788-A894E3E082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8550A431-0B61-421B-B4B7-24C0CFF0F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88" name="Rectangle 87">
            <a:extLst>
              <a:ext uri="{FF2B5EF4-FFF2-40B4-BE49-F238E27FC236}">
                <a16:creationId xmlns:a16="http://schemas.microsoft.com/office/drawing/2014/main" id="{18576E04-BA34-4597-8F97-B162CC6EB5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DE042673-822C-46F2-A208-165D88D07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3"/>
            <a:ext cx="12192000" cy="20089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66BEB57C-767A-46B2-9BA5-F4F819024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CC3477A7-8AEF-46BF-AC02-D5FC1E680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478117" y="0"/>
            <a:ext cx="340591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C018B765-6717-4B34-BFEF-724385420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0" y="1299548"/>
            <a:ext cx="1769035" cy="69557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145F12F5-726F-4271-BC7E-64F830BADF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331150" y="1171094"/>
            <a:ext cx="4860850" cy="82402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6F5DB7FB-9146-42E5-86F5-98E06A0DC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8968704" y="0"/>
            <a:ext cx="2147217" cy="1995117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5D030A76-B788-B363-104E-266B7C7F7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533399"/>
            <a:ext cx="8279559" cy="109556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400"/>
              <a:t>User interface</a:t>
            </a: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D96FB07B-2FCF-46DD-933B-15CB99718E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94353" y="-14436"/>
            <a:ext cx="239059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תיבת טקסט 10">
            <a:extLst>
              <a:ext uri="{FF2B5EF4-FFF2-40B4-BE49-F238E27FC236}">
                <a16:creationId xmlns:a16="http://schemas.microsoft.com/office/drawing/2014/main" id="{C44C0325-1A85-883C-2609-9890496AA9F3}"/>
              </a:ext>
            </a:extLst>
          </p:cNvPr>
          <p:cNvSpPr txBox="1"/>
          <p:nvPr/>
        </p:nvSpPr>
        <p:spPr>
          <a:xfrm>
            <a:off x="2140312" y="6208864"/>
            <a:ext cx="1318098" cy="490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buSzPct val="80000"/>
            </a:pPr>
            <a:r>
              <a:rPr lang="en-US" b="1" dirty="0">
                <a:solidFill>
                  <a:schemeClr val="tx2"/>
                </a:solidFill>
                <a:effectLst/>
              </a:rPr>
              <a:t>Home Page</a:t>
            </a:r>
            <a:endParaRPr lang="en-US" dirty="0">
              <a:solidFill>
                <a:schemeClr val="tx2"/>
              </a:solidFill>
              <a:effectLst/>
            </a:endParaRPr>
          </a:p>
          <a:p>
            <a:pPr indent="-228600">
              <a:spcAft>
                <a:spcPts val="600"/>
              </a:spcAft>
              <a:buSzPct val="80000"/>
              <a:buFont typeface="Arial" panose="020B0604020202020204" pitchFamily="34" charset="0"/>
              <a:buChar char="•"/>
            </a:pPr>
            <a:endParaRPr lang="en-US" dirty="0">
              <a:solidFill>
                <a:schemeClr val="tx2"/>
              </a:solidFill>
            </a:endParaRPr>
          </a:p>
        </p:txBody>
      </p:sp>
      <p:pic>
        <p:nvPicPr>
          <p:cNvPr id="17" name="image13.png" descr="תמונה שמכילה טקסט, צילום מסך, גופן, תוכנה&#10;&#10;התיאור נוצר באופן אוטומטי">
            <a:extLst>
              <a:ext uri="{FF2B5EF4-FFF2-40B4-BE49-F238E27FC236}">
                <a16:creationId xmlns:a16="http://schemas.microsoft.com/office/drawing/2014/main" id="{ECCC6EF4-1631-0122-60A3-1CA35862525B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2046628"/>
            <a:ext cx="5734628" cy="4030491"/>
          </a:xfrm>
          <a:prstGeom prst="rect">
            <a:avLst/>
          </a:prstGeom>
        </p:spPr>
      </p:pic>
      <p:pic>
        <p:nvPicPr>
          <p:cNvPr id="19" name="תמונה 18" descr="תמונה שמכילה טקסט, צילום מסך, תוכנה, מספר&#10;&#10;התיאור נוצר באופן אוטומטי">
            <a:extLst>
              <a:ext uri="{FF2B5EF4-FFF2-40B4-BE49-F238E27FC236}">
                <a16:creationId xmlns:a16="http://schemas.microsoft.com/office/drawing/2014/main" id="{58B818EA-97FF-6801-325F-59AC4F8389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5634" y="2014316"/>
            <a:ext cx="6326366" cy="4240161"/>
          </a:xfrm>
          <a:prstGeom prst="rect">
            <a:avLst/>
          </a:prstGeom>
        </p:spPr>
      </p:pic>
      <p:sp>
        <p:nvSpPr>
          <p:cNvPr id="21" name="תיבת טקסט 20">
            <a:extLst>
              <a:ext uri="{FF2B5EF4-FFF2-40B4-BE49-F238E27FC236}">
                <a16:creationId xmlns:a16="http://schemas.microsoft.com/office/drawing/2014/main" id="{EA4DD730-F4CD-6B9B-99AD-0845C963914D}"/>
              </a:ext>
            </a:extLst>
          </p:cNvPr>
          <p:cNvSpPr txBox="1"/>
          <p:nvPr/>
        </p:nvSpPr>
        <p:spPr>
          <a:xfrm>
            <a:off x="8045636" y="6217622"/>
            <a:ext cx="23443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rgbClr val="000000"/>
                </a:solidFill>
                <a:effectLst/>
                <a:latin typeface="Garamond" panose="02020404030301010803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Estimate Page (Property Form)</a:t>
            </a:r>
            <a:endParaRPr lang="en-US" sz="1800" dirty="0">
              <a:effectLst/>
              <a:latin typeface="Aptos" panose="020B0004020202020204" pitchFamily="34" charset="0"/>
              <a:ea typeface="Aptos" panose="020B0004020202020204" pitchFamily="34" charset="0"/>
              <a:cs typeface="Aptos" panose="020B00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37779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E10E52-63D0-E17D-9F56-00CDFD68C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D73AD615-EE97-841B-137C-4B178EB74F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20AAFC8B-1A1F-7CBC-80C6-BAC13720A2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0F7B0D2B-7051-16B5-E8F4-E7DE3CC324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6EC42E67-03A2-626F-719E-30EA4C9E2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6E63A1F7-02B6-0B73-0542-D46795AC23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654D71FD-C009-BABE-40C8-1012CEFE21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07AA1539-09BF-E400-86EC-7BBA203123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88" name="Rectangle 87">
            <a:extLst>
              <a:ext uri="{FF2B5EF4-FFF2-40B4-BE49-F238E27FC236}">
                <a16:creationId xmlns:a16="http://schemas.microsoft.com/office/drawing/2014/main" id="{F7481A14-0ACA-D6C8-9364-04E5DC22CF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D7E4A1A3-2DE8-8178-F166-240D6EDF0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3"/>
            <a:ext cx="12192000" cy="20089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359CD2C5-16F2-39A2-A1F4-198E8939B5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32CE95E2-8964-C34B-42C2-CF698B45A1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478117" y="0"/>
            <a:ext cx="340591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1FBF02FD-21ED-D824-7729-69D83AC11F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0" y="1299548"/>
            <a:ext cx="1769035" cy="69557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318D939-5E58-0160-E8F7-637EB1FD4D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331150" y="1171094"/>
            <a:ext cx="4860850" cy="82402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FF4E808E-61FB-72A1-0E71-AF942E94D9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8968704" y="0"/>
            <a:ext cx="2147217" cy="1995117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627C05D2-2DB8-2E6C-F71D-075ED9A44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533399"/>
            <a:ext cx="8279559" cy="109556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400"/>
              <a:t>User interface</a:t>
            </a: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0C2B981-8327-804D-5372-DC7DBB0417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94353" y="-14436"/>
            <a:ext cx="239059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תיבת טקסט 10">
            <a:extLst>
              <a:ext uri="{FF2B5EF4-FFF2-40B4-BE49-F238E27FC236}">
                <a16:creationId xmlns:a16="http://schemas.microsoft.com/office/drawing/2014/main" id="{0A22AA5E-B78B-2973-4D1A-EF055CF78482}"/>
              </a:ext>
            </a:extLst>
          </p:cNvPr>
          <p:cNvSpPr txBox="1"/>
          <p:nvPr/>
        </p:nvSpPr>
        <p:spPr>
          <a:xfrm>
            <a:off x="2043208" y="6107831"/>
            <a:ext cx="1318098" cy="490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/>
          <a:p>
            <a:pPr marL="0" marR="0" algn="l" rtl="0">
              <a:lnSpc>
                <a:spcPct val="1070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US" sz="1900" b="1" dirty="0">
                <a:solidFill>
                  <a:srgbClr val="000000"/>
                </a:solidFill>
                <a:effectLst/>
                <a:latin typeface="Garamond" panose="02020404030301010803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Results Page </a:t>
            </a:r>
            <a:endParaRPr lang="en-US" sz="1900" b="1" dirty="0">
              <a:effectLst/>
              <a:latin typeface="Aptos" panose="020B0004020202020204" pitchFamily="34" charset="0"/>
              <a:ea typeface="Aptos" panose="020B0004020202020204" pitchFamily="34" charset="0"/>
              <a:cs typeface="Aptos" panose="020B0004020202020204" pitchFamily="34" charset="0"/>
            </a:endParaRPr>
          </a:p>
          <a:p>
            <a:pPr indent="-228600">
              <a:spcAft>
                <a:spcPts val="600"/>
              </a:spcAft>
              <a:buSzPct val="80000"/>
              <a:buFont typeface="Arial" panose="020B0604020202020204" pitchFamily="34" charset="0"/>
              <a:buChar char="•"/>
            </a:pP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1" name="תיבת טקסט 20">
            <a:extLst>
              <a:ext uri="{FF2B5EF4-FFF2-40B4-BE49-F238E27FC236}">
                <a16:creationId xmlns:a16="http://schemas.microsoft.com/office/drawing/2014/main" id="{FAF4B6BD-F364-0E7C-8B56-28654A925BD8}"/>
              </a:ext>
            </a:extLst>
          </p:cNvPr>
          <p:cNvSpPr txBox="1"/>
          <p:nvPr/>
        </p:nvSpPr>
        <p:spPr>
          <a:xfrm>
            <a:off x="8462964" y="5914808"/>
            <a:ext cx="2344366" cy="8195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algn="l" rtl="0">
              <a:lnSpc>
                <a:spcPct val="1070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  <a:effectLst/>
                <a:latin typeface="Garamond" panose="02020404030301010803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Help Page</a:t>
            </a:r>
            <a:endParaRPr lang="en-US" sz="1800" dirty="0">
              <a:effectLst/>
              <a:latin typeface="Aptos" panose="020B0004020202020204" pitchFamily="34" charset="0"/>
              <a:ea typeface="Aptos" panose="020B0004020202020204" pitchFamily="34" charset="0"/>
              <a:cs typeface="Aptos" panose="020B0004020202020204" pitchFamily="34" charset="0"/>
            </a:endParaRPr>
          </a:p>
          <a:p>
            <a:endParaRPr lang="en-US" dirty="0"/>
          </a:p>
        </p:txBody>
      </p:sp>
      <p:pic>
        <p:nvPicPr>
          <p:cNvPr id="3" name="image15.png" descr="תמונה שמכילה טקסט, צילום מסך, תוכנה, גופן&#10;&#10;התיאור נוצר באופן אוטומטי">
            <a:extLst>
              <a:ext uri="{FF2B5EF4-FFF2-40B4-BE49-F238E27FC236}">
                <a16:creationId xmlns:a16="http://schemas.microsoft.com/office/drawing/2014/main" id="{3FB734A2-FF39-2E0A-9BF6-ACBBC988E5E3}"/>
              </a:ext>
            </a:extLst>
          </p:cNvPr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183584" y="2226072"/>
            <a:ext cx="5359459" cy="3668467"/>
          </a:xfrm>
          <a:prstGeom prst="rect">
            <a:avLst/>
          </a:prstGeom>
          <a:ln/>
        </p:spPr>
      </p:pic>
      <p:pic>
        <p:nvPicPr>
          <p:cNvPr id="4" name="image2.png" descr="תמונה שמכילה טקסט, צילום מסך, תוכנה, דף אינטרנט&#10;&#10;התיאור נוצר באופן אוטומטי">
            <a:extLst>
              <a:ext uri="{FF2B5EF4-FFF2-40B4-BE49-F238E27FC236}">
                <a16:creationId xmlns:a16="http://schemas.microsoft.com/office/drawing/2014/main" id="{B1A1E522-E3CF-F859-7879-318E9D844D88}"/>
              </a:ext>
            </a:extLst>
          </p:cNvPr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6419197" y="2208905"/>
            <a:ext cx="5274310" cy="3685634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42450662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Straight Connector 12">
            <a:extLst>
              <a:ext uri="{FF2B5EF4-FFF2-40B4-BE49-F238E27FC236}">
                <a16:creationId xmlns:a16="http://schemas.microsoft.com/office/drawing/2014/main" id="{4436E0F2-A64B-471E-93C0-8DFE08CC5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14">
            <a:extLst>
              <a:ext uri="{FF2B5EF4-FFF2-40B4-BE49-F238E27FC236}">
                <a16:creationId xmlns:a16="http://schemas.microsoft.com/office/drawing/2014/main" id="{DC1E3AB1-2A8C-4607-9FAE-D8BDB280F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16">
            <a:extLst>
              <a:ext uri="{FF2B5EF4-FFF2-40B4-BE49-F238E27FC236}">
                <a16:creationId xmlns:a16="http://schemas.microsoft.com/office/drawing/2014/main" id="{26D66059-832F-40B6-A35F-F56C8F38A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18">
            <a:extLst>
              <a:ext uri="{FF2B5EF4-FFF2-40B4-BE49-F238E27FC236}">
                <a16:creationId xmlns:a16="http://schemas.microsoft.com/office/drawing/2014/main" id="{A515E2ED-7EA9-448D-83FA-54C3DF972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20">
            <a:extLst>
              <a:ext uri="{FF2B5EF4-FFF2-40B4-BE49-F238E27FC236}">
                <a16:creationId xmlns:a16="http://schemas.microsoft.com/office/drawing/2014/main" id="{20595356-EABD-4767-AC9D-EA21FF115E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22">
            <a:extLst>
              <a:ext uri="{FF2B5EF4-FFF2-40B4-BE49-F238E27FC236}">
                <a16:creationId xmlns:a16="http://schemas.microsoft.com/office/drawing/2014/main" id="{28CD9F06-9628-469C-B788-A894E3E082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24">
            <a:extLst>
              <a:ext uri="{FF2B5EF4-FFF2-40B4-BE49-F238E27FC236}">
                <a16:creationId xmlns:a16="http://schemas.microsoft.com/office/drawing/2014/main" id="{8550A431-0B61-421B-B4B7-24C0CFF0F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73" name="Rectangle 26">
            <a:extLst>
              <a:ext uri="{FF2B5EF4-FFF2-40B4-BE49-F238E27FC236}">
                <a16:creationId xmlns:a16="http://schemas.microsoft.com/office/drawing/2014/main" id="{052B717E-679E-41A4-B95A-8F7DFAD3FA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23">
            <a:extLst>
              <a:ext uri="{FF2B5EF4-FFF2-40B4-BE49-F238E27FC236}">
                <a16:creationId xmlns:a16="http://schemas.microsoft.com/office/drawing/2014/main" id="{0B0EB278-F8C7-43AD-BCE2-A2F4D98C4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-1"/>
            <a:ext cx="7960944" cy="6859759"/>
          </a:xfrm>
          <a:custGeom>
            <a:avLst/>
            <a:gdLst>
              <a:gd name="connsiteX0" fmla="*/ 0 w 5803153"/>
              <a:gd name="connsiteY0" fmla="*/ 0 h 6857998"/>
              <a:gd name="connsiteX1" fmla="*/ 5803153 w 5803153"/>
              <a:gd name="connsiteY1" fmla="*/ 0 h 6857998"/>
              <a:gd name="connsiteX2" fmla="*/ 5803153 w 5803153"/>
              <a:gd name="connsiteY2" fmla="*/ 6857998 h 6857998"/>
              <a:gd name="connsiteX3" fmla="*/ 0 w 5803153"/>
              <a:gd name="connsiteY3" fmla="*/ 6857998 h 6857998"/>
              <a:gd name="connsiteX4" fmla="*/ 0 w 5803153"/>
              <a:gd name="connsiteY4" fmla="*/ 0 h 6857998"/>
              <a:gd name="connsiteX0" fmla="*/ 1016000 w 5803153"/>
              <a:gd name="connsiteY0" fmla="*/ 0 h 6857998"/>
              <a:gd name="connsiteX1" fmla="*/ 5803153 w 5803153"/>
              <a:gd name="connsiteY1" fmla="*/ 0 h 6857998"/>
              <a:gd name="connsiteX2" fmla="*/ 5803153 w 5803153"/>
              <a:gd name="connsiteY2" fmla="*/ 6857998 h 6857998"/>
              <a:gd name="connsiteX3" fmla="*/ 0 w 5803153"/>
              <a:gd name="connsiteY3" fmla="*/ 6857998 h 6857998"/>
              <a:gd name="connsiteX4" fmla="*/ 1016000 w 5803153"/>
              <a:gd name="connsiteY4" fmla="*/ 0 h 6857998"/>
              <a:gd name="connsiteX0" fmla="*/ 1338729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338729 w 6125882"/>
              <a:gd name="connsiteY4" fmla="*/ 0 h 6857998"/>
              <a:gd name="connsiteX0" fmla="*/ 1697317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1697317 w 6125882"/>
              <a:gd name="connsiteY4" fmla="*/ 0 h 6857998"/>
              <a:gd name="connsiteX0" fmla="*/ 2702091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2702091 w 6125882"/>
              <a:gd name="connsiteY4" fmla="*/ 0 h 6857998"/>
              <a:gd name="connsiteX0" fmla="*/ 3837993 w 6125882"/>
              <a:gd name="connsiteY0" fmla="*/ 0 h 6857998"/>
              <a:gd name="connsiteX1" fmla="*/ 6125882 w 6125882"/>
              <a:gd name="connsiteY1" fmla="*/ 0 h 6857998"/>
              <a:gd name="connsiteX2" fmla="*/ 6125882 w 6125882"/>
              <a:gd name="connsiteY2" fmla="*/ 6857998 h 6857998"/>
              <a:gd name="connsiteX3" fmla="*/ 0 w 6125882"/>
              <a:gd name="connsiteY3" fmla="*/ 6846045 h 6857998"/>
              <a:gd name="connsiteX4" fmla="*/ 3837993 w 6125882"/>
              <a:gd name="connsiteY4" fmla="*/ 0 h 6857998"/>
              <a:gd name="connsiteX0" fmla="*/ 3244301 w 6125882"/>
              <a:gd name="connsiteY0" fmla="*/ 0 h 6868949"/>
              <a:gd name="connsiteX1" fmla="*/ 6125882 w 6125882"/>
              <a:gd name="connsiteY1" fmla="*/ 10951 h 6868949"/>
              <a:gd name="connsiteX2" fmla="*/ 6125882 w 6125882"/>
              <a:gd name="connsiteY2" fmla="*/ 6868949 h 6868949"/>
              <a:gd name="connsiteX3" fmla="*/ 0 w 6125882"/>
              <a:gd name="connsiteY3" fmla="*/ 6856996 h 6868949"/>
              <a:gd name="connsiteX4" fmla="*/ 3244301 w 6125882"/>
              <a:gd name="connsiteY4" fmla="*/ 0 h 6868949"/>
              <a:gd name="connsiteX0" fmla="*/ 3010169 w 6125882"/>
              <a:gd name="connsiteY0" fmla="*/ 0 h 6868949"/>
              <a:gd name="connsiteX1" fmla="*/ 6125882 w 6125882"/>
              <a:gd name="connsiteY1" fmla="*/ 10951 h 6868949"/>
              <a:gd name="connsiteX2" fmla="*/ 6125882 w 6125882"/>
              <a:gd name="connsiteY2" fmla="*/ 6868949 h 6868949"/>
              <a:gd name="connsiteX3" fmla="*/ 0 w 6125882"/>
              <a:gd name="connsiteY3" fmla="*/ 6856996 h 6868949"/>
              <a:gd name="connsiteX4" fmla="*/ 3010169 w 6125882"/>
              <a:gd name="connsiteY4" fmla="*/ 0 h 6868949"/>
              <a:gd name="connsiteX0" fmla="*/ 2951635 w 6067348"/>
              <a:gd name="connsiteY0" fmla="*/ 0 h 6868949"/>
              <a:gd name="connsiteX1" fmla="*/ 6067348 w 6067348"/>
              <a:gd name="connsiteY1" fmla="*/ 10951 h 6868949"/>
              <a:gd name="connsiteX2" fmla="*/ 6067348 w 6067348"/>
              <a:gd name="connsiteY2" fmla="*/ 6868949 h 6868949"/>
              <a:gd name="connsiteX3" fmla="*/ 0 w 6067348"/>
              <a:gd name="connsiteY3" fmla="*/ 6867946 h 6868949"/>
              <a:gd name="connsiteX4" fmla="*/ 2951635 w 6067348"/>
              <a:gd name="connsiteY4" fmla="*/ 0 h 6868949"/>
              <a:gd name="connsiteX0" fmla="*/ 2762929 w 6067348"/>
              <a:gd name="connsiteY0" fmla="*/ 0 h 6859759"/>
              <a:gd name="connsiteX1" fmla="*/ 6067348 w 6067348"/>
              <a:gd name="connsiteY1" fmla="*/ 1761 h 6859759"/>
              <a:gd name="connsiteX2" fmla="*/ 6067348 w 6067348"/>
              <a:gd name="connsiteY2" fmla="*/ 6859759 h 6859759"/>
              <a:gd name="connsiteX3" fmla="*/ 0 w 6067348"/>
              <a:gd name="connsiteY3" fmla="*/ 6858756 h 6859759"/>
              <a:gd name="connsiteX4" fmla="*/ 2762929 w 6067348"/>
              <a:gd name="connsiteY4" fmla="*/ 0 h 6859759"/>
              <a:gd name="connsiteX0" fmla="*/ 2675315 w 6067348"/>
              <a:gd name="connsiteY0" fmla="*/ 0 h 6859759"/>
              <a:gd name="connsiteX1" fmla="*/ 6067348 w 6067348"/>
              <a:gd name="connsiteY1" fmla="*/ 1761 h 6859759"/>
              <a:gd name="connsiteX2" fmla="*/ 6067348 w 6067348"/>
              <a:gd name="connsiteY2" fmla="*/ 6859759 h 6859759"/>
              <a:gd name="connsiteX3" fmla="*/ 0 w 6067348"/>
              <a:gd name="connsiteY3" fmla="*/ 6858756 h 6859759"/>
              <a:gd name="connsiteX4" fmla="*/ 2675315 w 6067348"/>
              <a:gd name="connsiteY4" fmla="*/ 0 h 6859759"/>
              <a:gd name="connsiteX0" fmla="*/ 2446171 w 5838204"/>
              <a:gd name="connsiteY0" fmla="*/ 0 h 6859759"/>
              <a:gd name="connsiteX1" fmla="*/ 5838204 w 5838204"/>
              <a:gd name="connsiteY1" fmla="*/ 1761 h 6859759"/>
              <a:gd name="connsiteX2" fmla="*/ 5838204 w 5838204"/>
              <a:gd name="connsiteY2" fmla="*/ 6859759 h 6859759"/>
              <a:gd name="connsiteX3" fmla="*/ 0 w 5838204"/>
              <a:gd name="connsiteY3" fmla="*/ 6858756 h 6859759"/>
              <a:gd name="connsiteX4" fmla="*/ 2446171 w 5838204"/>
              <a:gd name="connsiteY4" fmla="*/ 0 h 6859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38204" h="6859759">
                <a:moveTo>
                  <a:pt x="2446171" y="0"/>
                </a:moveTo>
                <a:lnTo>
                  <a:pt x="5838204" y="1761"/>
                </a:lnTo>
                <a:lnTo>
                  <a:pt x="5838204" y="6859759"/>
                </a:lnTo>
                <a:lnTo>
                  <a:pt x="0" y="6858756"/>
                </a:lnTo>
                <a:lnTo>
                  <a:pt x="2446171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FC59F6-9B22-C211-4B4C-A2FD4B914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350" y="541964"/>
            <a:ext cx="4768938" cy="381866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/>
              <a:t>Testing</a:t>
            </a:r>
          </a:p>
        </p:txBody>
      </p:sp>
      <p:cxnSp>
        <p:nvCxnSpPr>
          <p:cNvPr id="75" name="Straight Connector 30">
            <a:extLst>
              <a:ext uri="{FF2B5EF4-FFF2-40B4-BE49-F238E27FC236}">
                <a16:creationId xmlns:a16="http://schemas.microsoft.com/office/drawing/2014/main" id="{50A7A0AD-25ED-4137-AA04-A0E36CAA8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6521187" y="10631"/>
            <a:ext cx="876073" cy="68580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32">
            <a:extLst>
              <a:ext uri="{FF2B5EF4-FFF2-40B4-BE49-F238E27FC236}">
                <a16:creationId xmlns:a16="http://schemas.microsoft.com/office/drawing/2014/main" id="{B186F20B-6445-4368-B022-F9EABF15A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9307961" y="640726"/>
            <a:ext cx="2884039" cy="6217274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34">
            <a:extLst>
              <a:ext uri="{FF2B5EF4-FFF2-40B4-BE49-F238E27FC236}">
                <a16:creationId xmlns:a16="http://schemas.microsoft.com/office/drawing/2014/main" id="{99F97BBF-9EBF-4BEE-B39C-E6C666941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434086" y="0"/>
            <a:ext cx="2757914" cy="142520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1">
            <a:extLst>
              <a:ext uri="{FF2B5EF4-FFF2-40B4-BE49-F238E27FC236}">
                <a16:creationId xmlns:a16="http://schemas.microsoft.com/office/drawing/2014/main" id="{CDAFC250-FF4B-D736-6505-F1386B559E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2238" y="193992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F240F97B-88B8-B7E4-6F2D-8F69C9110E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2238" y="193992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7" name="טבלה 6">
            <a:extLst>
              <a:ext uri="{FF2B5EF4-FFF2-40B4-BE49-F238E27FC236}">
                <a16:creationId xmlns:a16="http://schemas.microsoft.com/office/drawing/2014/main" id="{FEFF5048-7292-C265-310D-D1454C88A8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7409778"/>
              </p:ext>
            </p:extLst>
          </p:nvPr>
        </p:nvGraphicFramePr>
        <p:xfrm>
          <a:off x="5729288" y="303696"/>
          <a:ext cx="6462712" cy="6311114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671234">
                  <a:extLst>
                    <a:ext uri="{9D8B030D-6E8A-4147-A177-3AD203B41FA5}">
                      <a16:colId xmlns:a16="http://schemas.microsoft.com/office/drawing/2014/main" val="3015531137"/>
                    </a:ext>
                  </a:extLst>
                </a:gridCol>
                <a:gridCol w="2360161">
                  <a:extLst>
                    <a:ext uri="{9D8B030D-6E8A-4147-A177-3AD203B41FA5}">
                      <a16:colId xmlns:a16="http://schemas.microsoft.com/office/drawing/2014/main" val="65099735"/>
                    </a:ext>
                  </a:extLst>
                </a:gridCol>
                <a:gridCol w="3431317">
                  <a:extLst>
                    <a:ext uri="{9D8B030D-6E8A-4147-A177-3AD203B41FA5}">
                      <a16:colId xmlns:a16="http://schemas.microsoft.com/office/drawing/2014/main" val="1527291431"/>
                    </a:ext>
                  </a:extLst>
                </a:gridCol>
              </a:tblGrid>
              <a:tr h="315171">
                <a:tc>
                  <a:txBody>
                    <a:bodyPr/>
                    <a:lstStyle/>
                    <a:p>
                      <a:pPr marL="0" marR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</a:pPr>
                      <a:r>
                        <a:rPr lang="en-US" sz="1400">
                          <a:effectLst/>
                        </a:rPr>
                        <a:t>Case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4194" marR="64194" marT="0" marB="0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</a:pPr>
                      <a:r>
                        <a:rPr lang="en-US" sz="1400">
                          <a:effectLst/>
                        </a:rPr>
                        <a:t>Test Case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4194" marR="64194" marT="0" marB="0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</a:pPr>
                      <a:r>
                        <a:rPr lang="en-US" sz="1400">
                          <a:effectLst/>
                        </a:rPr>
                        <a:t>Expected Result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4194" marR="64194" marT="0" marB="0"/>
                </a:tc>
                <a:extLst>
                  <a:ext uri="{0D108BD9-81ED-4DB2-BD59-A6C34878D82A}">
                    <a16:rowId xmlns:a16="http://schemas.microsoft.com/office/drawing/2014/main" val="31721409"/>
                  </a:ext>
                </a:extLst>
              </a:tr>
              <a:tr h="544353">
                <a:tc>
                  <a:txBody>
                    <a:bodyPr/>
                    <a:lstStyle/>
                    <a:p>
                      <a:pPr marL="0" marR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</a:pPr>
                      <a:r>
                        <a:rPr lang="en-US" sz="1400">
                          <a:effectLst/>
                        </a:rPr>
                        <a:t>1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4194" marR="64194" marT="0" marB="0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</a:pPr>
                      <a:r>
                        <a:rPr lang="en-US" sz="1200" dirty="0">
                          <a:effectLst/>
                        </a:rPr>
                        <a:t>Press "Get Started".</a:t>
                      </a:r>
                      <a:endParaRPr lang="en-US" sz="1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4194" marR="64194" marT="0" marB="0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</a:pPr>
                      <a:r>
                        <a:rPr lang="en-US" sz="1200">
                          <a:effectLst/>
                        </a:rPr>
                        <a:t> The user is taken to the next page (Estimate page).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4194" marR="64194" marT="0" marB="0"/>
                </a:tc>
                <a:extLst>
                  <a:ext uri="{0D108BD9-81ED-4DB2-BD59-A6C34878D82A}">
                    <a16:rowId xmlns:a16="http://schemas.microsoft.com/office/drawing/2014/main" val="3357044102"/>
                  </a:ext>
                </a:extLst>
              </a:tr>
              <a:tr h="984381">
                <a:tc>
                  <a:txBody>
                    <a:bodyPr/>
                    <a:lstStyle/>
                    <a:p>
                      <a:pPr marL="0" marR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</a:pPr>
                      <a:r>
                        <a:rPr lang="en-US" sz="1400">
                          <a:effectLst/>
                        </a:rPr>
                        <a:t>2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4194" marR="64194" marT="0" marB="0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200" dirty="0">
                          <a:effectLst/>
                        </a:rPr>
                        <a:t>Entering the necessary property details correctly and completely and Press” Estimate Price”.</a:t>
                      </a:r>
                      <a:endParaRPr lang="en-US" sz="1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4194" marR="64194" marT="0" marB="0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200">
                          <a:effectLst/>
                        </a:rPr>
                        <a:t>The system accepts the details and proceeds to estimate the property price, the result (price + impact factors) is displayed to the user.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4194" marR="64194" marT="0" marB="0"/>
                </a:tc>
                <a:extLst>
                  <a:ext uri="{0D108BD9-81ED-4DB2-BD59-A6C34878D82A}">
                    <a16:rowId xmlns:a16="http://schemas.microsoft.com/office/drawing/2014/main" val="850040177"/>
                  </a:ext>
                </a:extLst>
              </a:tr>
              <a:tr h="1417075">
                <a:tc>
                  <a:txBody>
                    <a:bodyPr/>
                    <a:lstStyle/>
                    <a:p>
                      <a:pPr marL="0" marR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</a:pPr>
                      <a:r>
                        <a:rPr lang="en-US" sz="1400">
                          <a:effectLst/>
                        </a:rPr>
                        <a:t>3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4194" marR="64194" marT="0" marB="0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200">
                          <a:effectLst/>
                        </a:rPr>
                        <a:t>Entering the necessary property details not correctly or not completely and Press” Estimate Price”.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4194" marR="64194" marT="0" marB="0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</a:pPr>
                      <a:r>
                        <a:rPr lang="en-US" sz="1200">
                          <a:effectLst/>
                        </a:rPr>
                        <a:t>Error is shown:</a:t>
                      </a:r>
                      <a:endParaRPr lang="en-US" sz="1100">
                        <a:effectLst/>
                      </a:endParaRPr>
                    </a:p>
                    <a:p>
                      <a:pPr marL="0" marR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</a:pPr>
                      <a:r>
                        <a:rPr lang="en-US" sz="1200">
                          <a:effectLst/>
                        </a:rPr>
                        <a:t>“The property details you entered are incomplete or incorrect. Please review the information and try again. ”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4194" marR="64194" marT="0" marB="0"/>
                </a:tc>
                <a:extLst>
                  <a:ext uri="{0D108BD9-81ED-4DB2-BD59-A6C34878D82A}">
                    <a16:rowId xmlns:a16="http://schemas.microsoft.com/office/drawing/2014/main" val="2770248681"/>
                  </a:ext>
                </a:extLst>
              </a:tr>
              <a:tr h="1164060">
                <a:tc>
                  <a:txBody>
                    <a:bodyPr/>
                    <a:lstStyle/>
                    <a:p>
                      <a:pPr marL="0" marR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</a:pPr>
                      <a:r>
                        <a:rPr lang="en-US" sz="1400">
                          <a:effectLst/>
                        </a:rPr>
                        <a:t>4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4194" marR="64194" marT="0" marB="0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</a:pPr>
                      <a:r>
                        <a:rPr lang="en-US" sz="1200">
                          <a:effectLst/>
                        </a:rPr>
                        <a:t>Press "Estimate another property"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4194" marR="64194" marT="0" marB="0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</a:pPr>
                      <a:r>
                        <a:rPr lang="en-US" sz="1200">
                          <a:effectLst/>
                        </a:rPr>
                        <a:t>The user is taken to the Estimate page to start a new estimation.</a:t>
                      </a:r>
                      <a:endParaRPr lang="en-US" sz="1100">
                        <a:effectLst/>
                      </a:endParaRPr>
                    </a:p>
                    <a:p>
                      <a:pPr marL="0" marR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</a:pPr>
                      <a:r>
                        <a:rPr lang="en-US" sz="1200">
                          <a:effectLst/>
                        </a:rPr>
                        <a:t> 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4194" marR="64194" marT="0" marB="0"/>
                </a:tc>
                <a:extLst>
                  <a:ext uri="{0D108BD9-81ED-4DB2-BD59-A6C34878D82A}">
                    <a16:rowId xmlns:a16="http://schemas.microsoft.com/office/drawing/2014/main" val="3657146022"/>
                  </a:ext>
                </a:extLst>
              </a:tr>
              <a:tr h="544353">
                <a:tc>
                  <a:txBody>
                    <a:bodyPr/>
                    <a:lstStyle/>
                    <a:p>
                      <a:pPr marL="0" marR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</a:pPr>
                      <a:r>
                        <a:rPr lang="en-US" sz="1400">
                          <a:effectLst/>
                        </a:rPr>
                        <a:t>5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4194" marR="64194" marT="0" marB="0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</a:pPr>
                      <a:r>
                        <a:rPr lang="en-US" sz="1200">
                          <a:effectLst/>
                        </a:rPr>
                        <a:t>Access Help &amp; FAQ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4194" marR="64194" marT="0" marB="0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</a:pPr>
                      <a:r>
                        <a:rPr lang="en-US" sz="1200">
                          <a:effectLst/>
                        </a:rPr>
                        <a:t>The system redirects the user to the Help &amp; FAQ section.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4194" marR="64194" marT="0" marB="0"/>
                </a:tc>
                <a:extLst>
                  <a:ext uri="{0D108BD9-81ED-4DB2-BD59-A6C34878D82A}">
                    <a16:rowId xmlns:a16="http://schemas.microsoft.com/office/drawing/2014/main" val="3424122778"/>
                  </a:ext>
                </a:extLst>
              </a:tr>
              <a:tr h="544353">
                <a:tc>
                  <a:txBody>
                    <a:bodyPr/>
                    <a:lstStyle/>
                    <a:p>
                      <a:pPr marL="0" marR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</a:pPr>
                      <a:r>
                        <a:rPr lang="en-US" sz="1400">
                          <a:effectLst/>
                        </a:rPr>
                        <a:t>6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4194" marR="64194" marT="0" marB="0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</a:pPr>
                      <a:r>
                        <a:rPr lang="en-US" sz="1200" dirty="0">
                          <a:effectLst/>
                        </a:rPr>
                        <a:t>Return to the main page</a:t>
                      </a:r>
                      <a:endParaRPr lang="en-US" sz="1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4194" marR="64194" marT="0" marB="0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</a:pPr>
                      <a:r>
                        <a:rPr lang="en-US" sz="1200">
                          <a:effectLst/>
                        </a:rPr>
                        <a:t>The system redirects the user to the home page.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4194" marR="64194" marT="0" marB="0"/>
                </a:tc>
                <a:extLst>
                  <a:ext uri="{0D108BD9-81ED-4DB2-BD59-A6C34878D82A}">
                    <a16:rowId xmlns:a16="http://schemas.microsoft.com/office/drawing/2014/main" val="2988626205"/>
                  </a:ext>
                </a:extLst>
              </a:tr>
              <a:tr h="797368">
                <a:tc>
                  <a:txBody>
                    <a:bodyPr/>
                    <a:lstStyle/>
                    <a:p>
                      <a:pPr marL="0" marR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</a:pPr>
                      <a:r>
                        <a:rPr lang="en-US" sz="1400">
                          <a:effectLst/>
                        </a:rPr>
                        <a:t>7</a:t>
                      </a:r>
                      <a:endParaRPr lang="en-US" sz="1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4194" marR="64194" marT="0" marB="0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</a:pPr>
                      <a:r>
                        <a:rPr lang="en-US" sz="1200" dirty="0">
                          <a:effectLst/>
                        </a:rPr>
                        <a:t>No result output in the final step</a:t>
                      </a:r>
                      <a:endParaRPr lang="en-US" sz="1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4194" marR="64194" marT="0" marB="0"/>
                </a:tc>
                <a:tc>
                  <a:txBody>
                    <a:bodyPr/>
                    <a:lstStyle/>
                    <a:p>
                      <a:pPr marL="0" marR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800"/>
                        </a:spcAft>
                      </a:pPr>
                      <a:r>
                        <a:rPr lang="en-US" sz="1200" dirty="0">
                          <a:effectLst/>
                        </a:rPr>
                        <a:t>Error is shown: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>
                          <a:effectLst/>
                        </a:rPr>
                        <a:t> “An error occurred while evaluating the property details. Please try again.”</a:t>
                      </a:r>
                      <a:endParaRPr lang="en-US" sz="1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ptos" panose="020B0004020202020204" pitchFamily="34" charset="0"/>
                      </a:endParaRPr>
                    </a:p>
                  </a:txBody>
                  <a:tcPr marL="64194" marR="64194" marT="0" marB="0"/>
                </a:tc>
                <a:extLst>
                  <a:ext uri="{0D108BD9-81ED-4DB2-BD59-A6C34878D82A}">
                    <a16:rowId xmlns:a16="http://schemas.microsoft.com/office/drawing/2014/main" val="38312181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46306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1" name="Straight Connector 1030">
            <a:extLst>
              <a:ext uri="{FF2B5EF4-FFF2-40B4-BE49-F238E27FC236}">
                <a16:creationId xmlns:a16="http://schemas.microsoft.com/office/drawing/2014/main" id="{4436E0F2-A64B-471E-93C0-8DFE08CC5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3" name="Straight Connector 1032">
            <a:extLst>
              <a:ext uri="{FF2B5EF4-FFF2-40B4-BE49-F238E27FC236}">
                <a16:creationId xmlns:a16="http://schemas.microsoft.com/office/drawing/2014/main" id="{DC1E3AB1-2A8C-4607-9FAE-D8BDB280F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5" name="Straight Connector 1034">
            <a:extLst>
              <a:ext uri="{FF2B5EF4-FFF2-40B4-BE49-F238E27FC236}">
                <a16:creationId xmlns:a16="http://schemas.microsoft.com/office/drawing/2014/main" id="{26D66059-832F-40B6-A35F-F56C8F38A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7" name="Straight Connector 1036">
            <a:extLst>
              <a:ext uri="{FF2B5EF4-FFF2-40B4-BE49-F238E27FC236}">
                <a16:creationId xmlns:a16="http://schemas.microsoft.com/office/drawing/2014/main" id="{A515E2ED-7EA9-448D-83FA-54C3DF972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9" name="Straight Connector 1038">
            <a:extLst>
              <a:ext uri="{FF2B5EF4-FFF2-40B4-BE49-F238E27FC236}">
                <a16:creationId xmlns:a16="http://schemas.microsoft.com/office/drawing/2014/main" id="{20595356-EABD-4767-AC9D-EA21FF115E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1" name="Straight Connector 1040">
            <a:extLst>
              <a:ext uri="{FF2B5EF4-FFF2-40B4-BE49-F238E27FC236}">
                <a16:creationId xmlns:a16="http://schemas.microsoft.com/office/drawing/2014/main" id="{28CD9F06-9628-469C-B788-A894E3E082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3" name="Straight Connector 1042">
            <a:extLst>
              <a:ext uri="{FF2B5EF4-FFF2-40B4-BE49-F238E27FC236}">
                <a16:creationId xmlns:a16="http://schemas.microsoft.com/office/drawing/2014/main" id="{8550A431-0B61-421B-B4B7-24C0CFF0F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045" name="Rectangle 1044">
            <a:extLst>
              <a:ext uri="{FF2B5EF4-FFF2-40B4-BE49-F238E27FC236}">
                <a16:creationId xmlns:a16="http://schemas.microsoft.com/office/drawing/2014/main" id="{DD16DE02-C2C8-477C-9FD7-70A983BDE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7" name="Rectangle 1046">
            <a:extLst>
              <a:ext uri="{FF2B5EF4-FFF2-40B4-BE49-F238E27FC236}">
                <a16:creationId xmlns:a16="http://schemas.microsoft.com/office/drawing/2014/main" id="{D13AF29F-D5EC-4489-BF8F-3B356C5972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3"/>
            <a:ext cx="12192000" cy="20089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9" name="Straight Connector 1048">
            <a:extLst>
              <a:ext uri="{FF2B5EF4-FFF2-40B4-BE49-F238E27FC236}">
                <a16:creationId xmlns:a16="http://schemas.microsoft.com/office/drawing/2014/main" id="{60173A01-F891-430E-B39E-483E711B2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1" name="Straight Connector 1050">
            <a:extLst>
              <a:ext uri="{FF2B5EF4-FFF2-40B4-BE49-F238E27FC236}">
                <a16:creationId xmlns:a16="http://schemas.microsoft.com/office/drawing/2014/main" id="{1E0363E9-7CD0-497E-88D7-940136490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478117" y="0"/>
            <a:ext cx="340591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3" name="Straight Connector 1052">
            <a:extLst>
              <a:ext uri="{FF2B5EF4-FFF2-40B4-BE49-F238E27FC236}">
                <a16:creationId xmlns:a16="http://schemas.microsoft.com/office/drawing/2014/main" id="{ECCD4B14-FFCC-4CE5-BC9D-DF47AA1AD7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331150" y="1171094"/>
            <a:ext cx="4860850" cy="82402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5" name="Straight Connector 1054">
            <a:extLst>
              <a:ext uri="{FF2B5EF4-FFF2-40B4-BE49-F238E27FC236}">
                <a16:creationId xmlns:a16="http://schemas.microsoft.com/office/drawing/2014/main" id="{15DED734-54E5-48ED-AEE6-165F24827C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8968704" y="0"/>
            <a:ext cx="2147217" cy="1995117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כותרת 1">
            <a:extLst>
              <a:ext uri="{FF2B5EF4-FFF2-40B4-BE49-F238E27FC236}">
                <a16:creationId xmlns:a16="http://schemas.microsoft.com/office/drawing/2014/main" id="{70AB336E-41B8-0D37-925D-3180CF963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9553" y="584791"/>
            <a:ext cx="10064376" cy="1086847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400"/>
              <a:t>Validation</a:t>
            </a:r>
          </a:p>
        </p:txBody>
      </p:sp>
      <p:cxnSp>
        <p:nvCxnSpPr>
          <p:cNvPr id="1068" name="Straight Connector 1056">
            <a:extLst>
              <a:ext uri="{FF2B5EF4-FFF2-40B4-BE49-F238E27FC236}">
                <a16:creationId xmlns:a16="http://schemas.microsoft.com/office/drawing/2014/main" id="{34222167-616B-448F-A79B-219A4FD3DD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594353" y="0"/>
            <a:ext cx="239059" cy="200955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תיבת טקסט 4">
                <a:extLst>
                  <a:ext uri="{FF2B5EF4-FFF2-40B4-BE49-F238E27FC236}">
                    <a16:creationId xmlns:a16="http://schemas.microsoft.com/office/drawing/2014/main" id="{13A266B6-E7D6-500E-BF4D-D22D71BD74A9}"/>
                  </a:ext>
                </a:extLst>
              </p:cNvPr>
              <p:cNvSpPr txBox="1"/>
              <p:nvPr/>
            </p:nvSpPr>
            <p:spPr>
              <a:xfrm>
                <a:off x="0" y="2009553"/>
                <a:ext cx="5831833" cy="41440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/>
              <a:p>
                <a:pPr>
                  <a:spcAft>
                    <a:spcPts val="600"/>
                  </a:spcAft>
                  <a:buSzPct val="80000"/>
                </a:pPr>
                <a:r>
                  <a:rPr lang="en-US" b="1" dirty="0">
                    <a:solidFill>
                      <a:schemeClr val="tx2"/>
                    </a:solidFill>
                  </a:rPr>
                  <a:t>Model:</a:t>
                </a:r>
              </a:p>
              <a:p>
                <a:pPr indent="-228600">
                  <a:spcAft>
                    <a:spcPts val="600"/>
                  </a:spcAft>
                  <a:buSzPct val="80000"/>
                  <a:buFont typeface="Arial" panose="020B0604020202020204" pitchFamily="34" charset="0"/>
                  <a:buChar char="•"/>
                </a:pPr>
                <a:endParaRPr lang="en-US" dirty="0">
                  <a:solidFill>
                    <a:schemeClr val="tx2"/>
                  </a:solidFill>
                </a:endParaRPr>
              </a:p>
              <a:p>
                <a:pPr>
                  <a:spcAft>
                    <a:spcPts val="600"/>
                  </a:spcAft>
                  <a:buSzPct val="80000"/>
                </a:pPr>
                <a:r>
                  <a:rPr lang="en-US" dirty="0">
                    <a:solidFill>
                      <a:srgbClr val="002060"/>
                    </a:solidFill>
                  </a:rPr>
                  <a:t>Using recent valuations done by appraisers (not from the database).</a:t>
                </a:r>
              </a:p>
              <a:p>
                <a:pPr>
                  <a:spcAft>
                    <a:spcPts val="600"/>
                  </a:spcAft>
                  <a:buSzPct val="80000"/>
                </a:pPr>
                <a:r>
                  <a:rPr lang="en-US" dirty="0">
                    <a:solidFill>
                      <a:srgbClr val="002060"/>
                    </a:solidFill>
                  </a:rPr>
                  <a:t>We will use </a:t>
                </a:r>
                <a:r>
                  <a:rPr lang="en-US" sz="1800" dirty="0">
                    <a:solidFill>
                      <a:srgbClr val="002060"/>
                    </a:solidFill>
                    <a:effectLst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Root Mean Square Error (</a:t>
                </a:r>
                <a:r>
                  <a:rPr lang="en-US" dirty="0">
                    <a:solidFill>
                      <a:srgbClr val="002060"/>
                    </a:solidFill>
                  </a:rPr>
                  <a:t>RMSE) to measure the accuracy of the price.</a:t>
                </a:r>
              </a:p>
              <a:p>
                <a:pPr>
                  <a:spcAft>
                    <a:spcPts val="600"/>
                  </a:spcAft>
                  <a:buSzPct val="8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𝑅𝑀𝑆𝐸</m:t>
                      </m:r>
                      <m:r>
                        <a:rPr lang="en-US" sz="13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3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13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3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3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sz="13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3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  <m:r>
                                <a:rPr lang="en-US" sz="13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=</m:t>
                              </m:r>
                              <m:r>
                                <a:rPr lang="en-US" sz="13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3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13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3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sz="13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3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13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3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3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3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3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3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3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13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en-US" dirty="0">
                  <a:solidFill>
                    <a:schemeClr val="tx2">
                      <a:lumMod val="90000"/>
                      <a:lumOff val="10000"/>
                    </a:schemeClr>
                  </a:solidFill>
                </a:endParaRPr>
              </a:p>
              <a:p>
                <a:pPr>
                  <a:spcAft>
                    <a:spcPts val="600"/>
                  </a:spcAft>
                  <a:buSzPct val="80000"/>
                </a:pPr>
                <a:r>
                  <a:rPr lang="en-US" b="1" dirty="0">
                    <a:solidFill>
                      <a:schemeClr val="tx2"/>
                    </a:solidFill>
                  </a:rPr>
                  <a:t>User Experience:</a:t>
                </a:r>
              </a:p>
              <a:p>
                <a:pPr indent="-228600">
                  <a:spcAft>
                    <a:spcPts val="600"/>
                  </a:spcAft>
                  <a:buSzPct val="80000"/>
                  <a:buFont typeface="Arial" panose="020B0604020202020204" pitchFamily="34" charset="0"/>
                  <a:buChar char="•"/>
                </a:pPr>
                <a:endParaRPr lang="en-US" dirty="0">
                  <a:solidFill>
                    <a:schemeClr val="tx2"/>
                  </a:solidFill>
                </a:endParaRPr>
              </a:p>
              <a:p>
                <a:pPr>
                  <a:spcAft>
                    <a:spcPts val="600"/>
                  </a:spcAft>
                  <a:buSzPct val="80000"/>
                </a:pPr>
                <a:r>
                  <a:rPr lang="en-US" dirty="0">
                    <a:solidFill>
                      <a:srgbClr val="002060"/>
                    </a:solidFill>
                  </a:rPr>
                  <a:t>Collecting feedback from both appraisers and non-appraisers.</a:t>
                </a:r>
              </a:p>
            </p:txBody>
          </p:sp>
        </mc:Choice>
        <mc:Fallback xmlns="">
          <p:sp>
            <p:nvSpPr>
              <p:cNvPr id="5" name="תיבת טקסט 4">
                <a:extLst>
                  <a:ext uri="{FF2B5EF4-FFF2-40B4-BE49-F238E27FC236}">
                    <a16:creationId xmlns:a16="http://schemas.microsoft.com/office/drawing/2014/main" id="{13A266B6-E7D6-500E-BF4D-D22D71BD74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009553"/>
                <a:ext cx="5831833" cy="4144039"/>
              </a:xfrm>
              <a:prstGeom prst="rect">
                <a:avLst/>
              </a:prstGeom>
              <a:blipFill>
                <a:blip r:embed="rId2"/>
                <a:stretch>
                  <a:fillRect l="-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116856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Placeholder 5" descr="Close-up of a bridge with wires">
            <a:extLst>
              <a:ext uri="{FF2B5EF4-FFF2-40B4-BE49-F238E27FC236}">
                <a16:creationId xmlns:a16="http://schemas.microsoft.com/office/drawing/2014/main" id="{E461669C-A7BA-D639-22CB-B5FBBE698B3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" r="20"/>
          <a:stretch/>
        </p:blipFill>
        <p:spPr>
          <a:noFill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BAC361-0D7A-DC05-86B5-6DD77D322F5B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anchor="b"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210802199"/>
      </p:ext>
    </p:extLst>
  </p:cSld>
  <p:clrMapOvr>
    <a:masterClrMapping/>
  </p:clrMapOvr>
</p:sld>
</file>

<file path=ppt/theme/theme1.xml><?xml version="1.0" encoding="utf-8"?>
<a:theme xmlns:a="http://schemas.openxmlformats.org/drawingml/2006/main" name="AngleLinesVTI">
  <a:themeElements>
    <a:clrScheme name="Custom 34">
      <a:dk1>
        <a:sysClr val="windowText" lastClr="000000"/>
      </a:dk1>
      <a:lt1>
        <a:sysClr val="window" lastClr="FFFFFF"/>
      </a:lt1>
      <a:dk2>
        <a:srgbClr val="001E2E"/>
      </a:dk2>
      <a:lt2>
        <a:srgbClr val="F0ECEC"/>
      </a:lt2>
      <a:accent1>
        <a:srgbClr val="155767"/>
      </a:accent1>
      <a:accent2>
        <a:srgbClr val="BA9CA0"/>
      </a:accent2>
      <a:accent3>
        <a:srgbClr val="A57931"/>
      </a:accent3>
      <a:accent4>
        <a:srgbClr val="0E577C"/>
      </a:accent4>
      <a:accent5>
        <a:srgbClr val="CC846E"/>
      </a:accent5>
      <a:accent6>
        <a:srgbClr val="93767A"/>
      </a:accent6>
      <a:hlink>
        <a:srgbClr val="0563C1"/>
      </a:hlink>
      <a:folHlink>
        <a:srgbClr val="954F72"/>
      </a:folHlink>
    </a:clrScheme>
    <a:fontScheme name="Walbaum Light Univers Light">
      <a:majorFont>
        <a:latin typeface="Walbaum Display Light"/>
        <a:ea typeface=""/>
        <a:cs typeface=""/>
      </a:majorFont>
      <a:minorFont>
        <a:latin typeface="Univers Condensed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ngleLinesVTI" id="{BC1FC193-C72F-4761-9899-1105EDF6BAE8}" vid="{64612625-F022-44B7-B9FA-9D26DEDBDC2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30E62E91-3991-445A-ADE0-DB143B39320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C180A77-4928-484F-9529-F716C85D6A6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C20BE78-9FDF-401B-B412-3AA10EC5BEA3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{C74B6D96-A963-448E-94CE-50E2AB4F8F5C}tf22797433_win32</Template>
  <TotalTime>2376</TotalTime>
  <Words>837</Words>
  <Application>Microsoft Office PowerPoint</Application>
  <PresentationFormat>מסך רחב</PresentationFormat>
  <Paragraphs>173</Paragraphs>
  <Slides>20</Slides>
  <Notes>18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11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20</vt:i4>
      </vt:variant>
    </vt:vector>
  </HeadingPairs>
  <TitlesOfParts>
    <vt:vector size="32" baseType="lpstr">
      <vt:lpstr>Aptos</vt:lpstr>
      <vt:lpstr>Arial</vt:lpstr>
      <vt:lpstr>Calibri</vt:lpstr>
      <vt:lpstr>Cambria Math</vt:lpstr>
      <vt:lpstr>Garamond</vt:lpstr>
      <vt:lpstr>League Spartan</vt:lpstr>
      <vt:lpstr>Times New Roman</vt:lpstr>
      <vt:lpstr>Univers Condensed Light</vt:lpstr>
      <vt:lpstr>Univers Condensed Light (גוף)</vt:lpstr>
      <vt:lpstr>Walbaum Display Light</vt:lpstr>
      <vt:lpstr>Walbaum Display Light (כותרות)</vt:lpstr>
      <vt:lpstr>AngleLinesVTI</vt:lpstr>
      <vt:lpstr>Real Estate Price Estimation using machine learning </vt:lpstr>
      <vt:lpstr>מצגת של PowerPoint‏</vt:lpstr>
      <vt:lpstr>Traditional  Real Estate  Valuation</vt:lpstr>
      <vt:lpstr>The problem </vt:lpstr>
      <vt:lpstr>Existing Solutions</vt:lpstr>
      <vt:lpstr>Our Solution</vt:lpstr>
      <vt:lpstr>Software Architecture Diagram</vt:lpstr>
      <vt:lpstr>Decision Tree</vt:lpstr>
      <vt:lpstr>The model(random forest)</vt:lpstr>
      <vt:lpstr>Dataset</vt:lpstr>
      <vt:lpstr>Challenge: Completing the missing data</vt:lpstr>
      <vt:lpstr>The prediction equation</vt:lpstr>
      <vt:lpstr>Expectations </vt:lpstr>
      <vt:lpstr>USE CASE</vt:lpstr>
      <vt:lpstr>Activity diagram</vt:lpstr>
      <vt:lpstr>User interface</vt:lpstr>
      <vt:lpstr>User interface</vt:lpstr>
      <vt:lpstr>Testing</vt:lpstr>
      <vt:lpstr>Validation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גול חוראני</dc:creator>
  <cp:lastModifiedBy>אסעד סג'ים</cp:lastModifiedBy>
  <cp:revision>26</cp:revision>
  <dcterms:created xsi:type="dcterms:W3CDTF">2025-02-01T09:13:15Z</dcterms:created>
  <dcterms:modified xsi:type="dcterms:W3CDTF">2025-02-04T17:53:50Z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