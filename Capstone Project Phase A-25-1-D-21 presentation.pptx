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25"/>
  </p:notesMasterIdLst>
  <p:handoutMasterIdLst>
    <p:handoutMasterId r:id="rId26"/>
  </p:handoutMasterIdLst>
  <p:sldIdLst>
    <p:sldId id="289" r:id="rId5"/>
    <p:sldId id="288" r:id="rId6"/>
    <p:sldId id="276" r:id="rId7"/>
    <p:sldId id="296" r:id="rId8"/>
    <p:sldId id="298" r:id="rId9"/>
    <p:sldId id="261" r:id="rId10"/>
    <p:sldId id="264" r:id="rId11"/>
    <p:sldId id="265" r:id="rId12"/>
    <p:sldId id="290" r:id="rId13"/>
    <p:sldId id="263" r:id="rId14"/>
    <p:sldId id="293" r:id="rId15"/>
    <p:sldId id="294" r:id="rId16"/>
    <p:sldId id="295" r:id="rId17"/>
    <p:sldId id="297" r:id="rId18"/>
    <p:sldId id="268" r:id="rId19"/>
    <p:sldId id="266" r:id="rId20"/>
    <p:sldId id="291" r:id="rId21"/>
    <p:sldId id="267" r:id="rId22"/>
    <p:sldId id="299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526315B0-7191-450F-8345-695B112D5068}">
          <p14:sldIdLst>
            <p14:sldId id="289"/>
            <p14:sldId id="288"/>
            <p14:sldId id="276"/>
            <p14:sldId id="296"/>
            <p14:sldId id="298"/>
            <p14:sldId id="261"/>
            <p14:sldId id="264"/>
            <p14:sldId id="265"/>
            <p14:sldId id="290"/>
            <p14:sldId id="263"/>
            <p14:sldId id="293"/>
            <p14:sldId id="294"/>
            <p14:sldId id="295"/>
            <p14:sldId id="297"/>
            <p14:sldId id="268"/>
            <p14:sldId id="266"/>
            <p14:sldId id="291"/>
            <p14:sldId id="267"/>
            <p14:sldId id="299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94" autoAdjust="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B48E03-894F-4158-A4BD-55FBAFD613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71C42F-2151-4A80-8C9F-5A881CD561AF}">
      <dgm:prSet/>
      <dgm:spPr/>
      <dgm:t>
        <a:bodyPr/>
        <a:lstStyle/>
        <a:p>
          <a:r>
            <a:rPr lang="en-US" b="1" dirty="0"/>
            <a:t>On-Site Inspection</a:t>
          </a:r>
          <a:endParaRPr lang="en-US" dirty="0"/>
        </a:p>
      </dgm:t>
    </dgm:pt>
    <dgm:pt modelId="{FC2E1CB3-2719-4FB8-B5D6-A5735D44005E}" type="parTrans" cxnId="{C6343CB9-0656-4334-A504-1B4210905686}">
      <dgm:prSet/>
      <dgm:spPr/>
      <dgm:t>
        <a:bodyPr/>
        <a:lstStyle/>
        <a:p>
          <a:endParaRPr lang="en-US"/>
        </a:p>
      </dgm:t>
    </dgm:pt>
    <dgm:pt modelId="{A070DF7F-6E21-4C2C-8358-497940226078}" type="sibTrans" cxnId="{C6343CB9-0656-4334-A504-1B4210905686}">
      <dgm:prSet/>
      <dgm:spPr/>
      <dgm:t>
        <a:bodyPr/>
        <a:lstStyle/>
        <a:p>
          <a:endParaRPr lang="en-US"/>
        </a:p>
      </dgm:t>
    </dgm:pt>
    <dgm:pt modelId="{18831059-BF9B-48CB-A393-0EC628031495}">
      <dgm:prSet/>
      <dgm:spPr/>
      <dgm:t>
        <a:bodyPr/>
        <a:lstStyle/>
        <a:p>
          <a:r>
            <a:rPr lang="en-US" b="1" dirty="0"/>
            <a:t>Compare to similar properties</a:t>
          </a:r>
        </a:p>
      </dgm:t>
    </dgm:pt>
    <dgm:pt modelId="{A9294FD5-768A-4E6D-96A6-AF40222BDB6D}" type="parTrans" cxnId="{73CB9402-0DCF-4D1A-953B-56B997F38F7A}">
      <dgm:prSet/>
      <dgm:spPr/>
      <dgm:t>
        <a:bodyPr/>
        <a:lstStyle/>
        <a:p>
          <a:endParaRPr lang="en-US"/>
        </a:p>
      </dgm:t>
    </dgm:pt>
    <dgm:pt modelId="{21C750C0-6A5F-41C3-B06D-C74ECFED84E1}" type="sibTrans" cxnId="{73CB9402-0DCF-4D1A-953B-56B997F38F7A}">
      <dgm:prSet/>
      <dgm:spPr/>
      <dgm:t>
        <a:bodyPr/>
        <a:lstStyle/>
        <a:p>
          <a:endParaRPr lang="en-US"/>
        </a:p>
      </dgm:t>
    </dgm:pt>
    <dgm:pt modelId="{063074CD-119A-478E-AFD8-605EB2BC713B}">
      <dgm:prSet/>
      <dgm:spPr/>
      <dgm:t>
        <a:bodyPr/>
        <a:lstStyle/>
        <a:p>
          <a:r>
            <a:rPr lang="en-US" b="1" dirty="0"/>
            <a:t>Calculations</a:t>
          </a:r>
        </a:p>
      </dgm:t>
    </dgm:pt>
    <dgm:pt modelId="{B77437B5-A6A8-4D06-B80C-EBF0F0CA8BAB}" type="parTrans" cxnId="{8DC1898A-E968-4F06-9C7B-85F3932C2827}">
      <dgm:prSet/>
      <dgm:spPr/>
      <dgm:t>
        <a:bodyPr/>
        <a:lstStyle/>
        <a:p>
          <a:pPr rtl="1"/>
          <a:endParaRPr lang="he-IL"/>
        </a:p>
      </dgm:t>
    </dgm:pt>
    <dgm:pt modelId="{8AEFA5B0-9D75-4151-9E31-3BBF268E1E6C}" type="sibTrans" cxnId="{8DC1898A-E968-4F06-9C7B-85F3932C2827}">
      <dgm:prSet/>
      <dgm:spPr/>
      <dgm:t>
        <a:bodyPr/>
        <a:lstStyle/>
        <a:p>
          <a:pPr rtl="1"/>
          <a:endParaRPr lang="he-IL"/>
        </a:p>
      </dgm:t>
    </dgm:pt>
    <dgm:pt modelId="{D7DFE5BA-EFD4-4CDC-AEB1-13234CBE3694}" type="pres">
      <dgm:prSet presAssocID="{7CB48E03-894F-4158-A4BD-55FBAFD613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FCCB871-8711-42FA-AFB3-EDC7BC177DE1}" type="pres">
      <dgm:prSet presAssocID="{0B71C42F-2151-4A80-8C9F-5A881CD561AF}" presName="hierRoot1" presStyleCnt="0"/>
      <dgm:spPr/>
    </dgm:pt>
    <dgm:pt modelId="{035EC50C-79DF-416F-9ED0-C5C305A913B2}" type="pres">
      <dgm:prSet presAssocID="{0B71C42F-2151-4A80-8C9F-5A881CD561AF}" presName="composite" presStyleCnt="0"/>
      <dgm:spPr/>
    </dgm:pt>
    <dgm:pt modelId="{A662275E-06A9-44AB-95B2-40432DD45AA5}" type="pres">
      <dgm:prSet presAssocID="{0B71C42F-2151-4A80-8C9F-5A881CD561AF}" presName="background" presStyleLbl="node0" presStyleIdx="0" presStyleCnt="3"/>
      <dgm:spPr/>
    </dgm:pt>
    <dgm:pt modelId="{06FA9747-3CE2-453F-9FE5-305B5514E665}" type="pres">
      <dgm:prSet presAssocID="{0B71C42F-2151-4A80-8C9F-5A881CD561AF}" presName="text" presStyleLbl="fgAcc0" presStyleIdx="0" presStyleCnt="3">
        <dgm:presLayoutVars>
          <dgm:chPref val="3"/>
        </dgm:presLayoutVars>
      </dgm:prSet>
      <dgm:spPr/>
    </dgm:pt>
    <dgm:pt modelId="{266B991B-7222-4256-B295-89613673B005}" type="pres">
      <dgm:prSet presAssocID="{0B71C42F-2151-4A80-8C9F-5A881CD561AF}" presName="hierChild2" presStyleCnt="0"/>
      <dgm:spPr/>
    </dgm:pt>
    <dgm:pt modelId="{00DB2CED-6080-42EA-9151-7113FCBFC047}" type="pres">
      <dgm:prSet presAssocID="{18831059-BF9B-48CB-A393-0EC628031495}" presName="hierRoot1" presStyleCnt="0"/>
      <dgm:spPr/>
    </dgm:pt>
    <dgm:pt modelId="{4A6E3CDC-EF6A-4E06-8865-DF099960E724}" type="pres">
      <dgm:prSet presAssocID="{18831059-BF9B-48CB-A393-0EC628031495}" presName="composite" presStyleCnt="0"/>
      <dgm:spPr/>
    </dgm:pt>
    <dgm:pt modelId="{675B6C20-DCD1-445C-9F47-5EF762B4C5DA}" type="pres">
      <dgm:prSet presAssocID="{18831059-BF9B-48CB-A393-0EC628031495}" presName="background" presStyleLbl="node0" presStyleIdx="1" presStyleCnt="3"/>
      <dgm:spPr/>
    </dgm:pt>
    <dgm:pt modelId="{11E4BD9A-2ADF-40A3-9B39-015BF90609A2}" type="pres">
      <dgm:prSet presAssocID="{18831059-BF9B-48CB-A393-0EC628031495}" presName="text" presStyleLbl="fgAcc0" presStyleIdx="1" presStyleCnt="3">
        <dgm:presLayoutVars>
          <dgm:chPref val="3"/>
        </dgm:presLayoutVars>
      </dgm:prSet>
      <dgm:spPr/>
    </dgm:pt>
    <dgm:pt modelId="{8E94BDD9-B9BF-4B60-A44A-BB3E822C1432}" type="pres">
      <dgm:prSet presAssocID="{18831059-BF9B-48CB-A393-0EC628031495}" presName="hierChild2" presStyleCnt="0"/>
      <dgm:spPr/>
    </dgm:pt>
    <dgm:pt modelId="{E87ECC93-1806-46A5-B574-FABE47A17B9F}" type="pres">
      <dgm:prSet presAssocID="{063074CD-119A-478E-AFD8-605EB2BC713B}" presName="hierRoot1" presStyleCnt="0"/>
      <dgm:spPr/>
    </dgm:pt>
    <dgm:pt modelId="{2214C8F0-7A75-42D9-8977-D4B8D45B86CB}" type="pres">
      <dgm:prSet presAssocID="{063074CD-119A-478E-AFD8-605EB2BC713B}" presName="composite" presStyleCnt="0"/>
      <dgm:spPr/>
    </dgm:pt>
    <dgm:pt modelId="{A6BE7F5C-283E-4A36-916B-2D212788041E}" type="pres">
      <dgm:prSet presAssocID="{063074CD-119A-478E-AFD8-605EB2BC713B}" presName="background" presStyleLbl="node0" presStyleIdx="2" presStyleCnt="3"/>
      <dgm:spPr/>
    </dgm:pt>
    <dgm:pt modelId="{9AB149BD-211C-44AF-A409-B3B95DE48673}" type="pres">
      <dgm:prSet presAssocID="{063074CD-119A-478E-AFD8-605EB2BC713B}" presName="text" presStyleLbl="fgAcc0" presStyleIdx="2" presStyleCnt="3">
        <dgm:presLayoutVars>
          <dgm:chPref val="3"/>
        </dgm:presLayoutVars>
      </dgm:prSet>
      <dgm:spPr/>
    </dgm:pt>
    <dgm:pt modelId="{E686A74A-E800-4633-84BC-1B6873DF9E8A}" type="pres">
      <dgm:prSet presAssocID="{063074CD-119A-478E-AFD8-605EB2BC713B}" presName="hierChild2" presStyleCnt="0"/>
      <dgm:spPr/>
    </dgm:pt>
  </dgm:ptLst>
  <dgm:cxnLst>
    <dgm:cxn modelId="{73CB9402-0DCF-4D1A-953B-56B997F38F7A}" srcId="{7CB48E03-894F-4158-A4BD-55FBAFD613C4}" destId="{18831059-BF9B-48CB-A393-0EC628031495}" srcOrd="1" destOrd="0" parTransId="{A9294FD5-768A-4E6D-96A6-AF40222BDB6D}" sibTransId="{21C750C0-6A5F-41C3-B06D-C74ECFED84E1}"/>
    <dgm:cxn modelId="{8331A212-6D9F-491B-BA34-6761D1108730}" type="presOf" srcId="{063074CD-119A-478E-AFD8-605EB2BC713B}" destId="{9AB149BD-211C-44AF-A409-B3B95DE48673}" srcOrd="0" destOrd="0" presId="urn:microsoft.com/office/officeart/2005/8/layout/hierarchy1"/>
    <dgm:cxn modelId="{64F19883-195C-498B-ABCC-DFDD06B6103F}" type="presOf" srcId="{18831059-BF9B-48CB-A393-0EC628031495}" destId="{11E4BD9A-2ADF-40A3-9B39-015BF90609A2}" srcOrd="0" destOrd="0" presId="urn:microsoft.com/office/officeart/2005/8/layout/hierarchy1"/>
    <dgm:cxn modelId="{8DC1898A-E968-4F06-9C7B-85F3932C2827}" srcId="{7CB48E03-894F-4158-A4BD-55FBAFD613C4}" destId="{063074CD-119A-478E-AFD8-605EB2BC713B}" srcOrd="2" destOrd="0" parTransId="{B77437B5-A6A8-4D06-B80C-EBF0F0CA8BAB}" sibTransId="{8AEFA5B0-9D75-4151-9E31-3BBF268E1E6C}"/>
    <dgm:cxn modelId="{63C43EAA-2ABC-428D-A4BA-1D16BB58E0C6}" type="presOf" srcId="{0B71C42F-2151-4A80-8C9F-5A881CD561AF}" destId="{06FA9747-3CE2-453F-9FE5-305B5514E665}" srcOrd="0" destOrd="0" presId="urn:microsoft.com/office/officeart/2005/8/layout/hierarchy1"/>
    <dgm:cxn modelId="{C6343CB9-0656-4334-A504-1B4210905686}" srcId="{7CB48E03-894F-4158-A4BD-55FBAFD613C4}" destId="{0B71C42F-2151-4A80-8C9F-5A881CD561AF}" srcOrd="0" destOrd="0" parTransId="{FC2E1CB3-2719-4FB8-B5D6-A5735D44005E}" sibTransId="{A070DF7F-6E21-4C2C-8358-497940226078}"/>
    <dgm:cxn modelId="{42F766CC-C289-4CEB-9FBF-C64DBA438565}" type="presOf" srcId="{7CB48E03-894F-4158-A4BD-55FBAFD613C4}" destId="{D7DFE5BA-EFD4-4CDC-AEB1-13234CBE3694}" srcOrd="0" destOrd="0" presId="urn:microsoft.com/office/officeart/2005/8/layout/hierarchy1"/>
    <dgm:cxn modelId="{9A633A7F-5AEE-495B-82CF-78A363FDCEA7}" type="presParOf" srcId="{D7DFE5BA-EFD4-4CDC-AEB1-13234CBE3694}" destId="{3FCCB871-8711-42FA-AFB3-EDC7BC177DE1}" srcOrd="0" destOrd="0" presId="urn:microsoft.com/office/officeart/2005/8/layout/hierarchy1"/>
    <dgm:cxn modelId="{BF8FE88A-746F-425C-A6F8-DA2289611CB8}" type="presParOf" srcId="{3FCCB871-8711-42FA-AFB3-EDC7BC177DE1}" destId="{035EC50C-79DF-416F-9ED0-C5C305A913B2}" srcOrd="0" destOrd="0" presId="urn:microsoft.com/office/officeart/2005/8/layout/hierarchy1"/>
    <dgm:cxn modelId="{E24B5326-04FE-48E6-984D-EFF8754DD8F8}" type="presParOf" srcId="{035EC50C-79DF-416F-9ED0-C5C305A913B2}" destId="{A662275E-06A9-44AB-95B2-40432DD45AA5}" srcOrd="0" destOrd="0" presId="urn:microsoft.com/office/officeart/2005/8/layout/hierarchy1"/>
    <dgm:cxn modelId="{53BC4FF4-A2B7-4908-981C-D5964C633B58}" type="presParOf" srcId="{035EC50C-79DF-416F-9ED0-C5C305A913B2}" destId="{06FA9747-3CE2-453F-9FE5-305B5514E665}" srcOrd="1" destOrd="0" presId="urn:microsoft.com/office/officeart/2005/8/layout/hierarchy1"/>
    <dgm:cxn modelId="{EBF12098-134E-4174-90C2-CC78F5724E34}" type="presParOf" srcId="{3FCCB871-8711-42FA-AFB3-EDC7BC177DE1}" destId="{266B991B-7222-4256-B295-89613673B005}" srcOrd="1" destOrd="0" presId="urn:microsoft.com/office/officeart/2005/8/layout/hierarchy1"/>
    <dgm:cxn modelId="{EC6187EC-CA32-4A3B-B87A-5E43D96755DB}" type="presParOf" srcId="{D7DFE5BA-EFD4-4CDC-AEB1-13234CBE3694}" destId="{00DB2CED-6080-42EA-9151-7113FCBFC047}" srcOrd="1" destOrd="0" presId="urn:microsoft.com/office/officeart/2005/8/layout/hierarchy1"/>
    <dgm:cxn modelId="{34299C15-212F-4827-B8C8-AE85F56FC127}" type="presParOf" srcId="{00DB2CED-6080-42EA-9151-7113FCBFC047}" destId="{4A6E3CDC-EF6A-4E06-8865-DF099960E724}" srcOrd="0" destOrd="0" presId="urn:microsoft.com/office/officeart/2005/8/layout/hierarchy1"/>
    <dgm:cxn modelId="{8C9B4ADD-ABEA-498B-9BEE-5C3A95C868A9}" type="presParOf" srcId="{4A6E3CDC-EF6A-4E06-8865-DF099960E724}" destId="{675B6C20-DCD1-445C-9F47-5EF762B4C5DA}" srcOrd="0" destOrd="0" presId="urn:microsoft.com/office/officeart/2005/8/layout/hierarchy1"/>
    <dgm:cxn modelId="{F6036A8F-A8F1-47FA-8924-93112EB97083}" type="presParOf" srcId="{4A6E3CDC-EF6A-4E06-8865-DF099960E724}" destId="{11E4BD9A-2ADF-40A3-9B39-015BF90609A2}" srcOrd="1" destOrd="0" presId="urn:microsoft.com/office/officeart/2005/8/layout/hierarchy1"/>
    <dgm:cxn modelId="{0946EC69-9133-4F5B-BEE7-9504825035ED}" type="presParOf" srcId="{00DB2CED-6080-42EA-9151-7113FCBFC047}" destId="{8E94BDD9-B9BF-4B60-A44A-BB3E822C1432}" srcOrd="1" destOrd="0" presId="urn:microsoft.com/office/officeart/2005/8/layout/hierarchy1"/>
    <dgm:cxn modelId="{E9C188EA-70F2-48AE-9C7B-1BF17D696E84}" type="presParOf" srcId="{D7DFE5BA-EFD4-4CDC-AEB1-13234CBE3694}" destId="{E87ECC93-1806-46A5-B574-FABE47A17B9F}" srcOrd="2" destOrd="0" presId="urn:microsoft.com/office/officeart/2005/8/layout/hierarchy1"/>
    <dgm:cxn modelId="{F1DE1035-3967-443B-9A61-87C46B95D88E}" type="presParOf" srcId="{E87ECC93-1806-46A5-B574-FABE47A17B9F}" destId="{2214C8F0-7A75-42D9-8977-D4B8D45B86CB}" srcOrd="0" destOrd="0" presId="urn:microsoft.com/office/officeart/2005/8/layout/hierarchy1"/>
    <dgm:cxn modelId="{8FDE036A-3169-4C0E-8861-CE7FFA91878D}" type="presParOf" srcId="{2214C8F0-7A75-42D9-8977-D4B8D45B86CB}" destId="{A6BE7F5C-283E-4A36-916B-2D212788041E}" srcOrd="0" destOrd="0" presId="urn:microsoft.com/office/officeart/2005/8/layout/hierarchy1"/>
    <dgm:cxn modelId="{B5C68615-3202-42F3-B619-5FA6E3238E13}" type="presParOf" srcId="{2214C8F0-7A75-42D9-8977-D4B8D45B86CB}" destId="{9AB149BD-211C-44AF-A409-B3B95DE48673}" srcOrd="1" destOrd="0" presId="urn:microsoft.com/office/officeart/2005/8/layout/hierarchy1"/>
    <dgm:cxn modelId="{D49D897A-B06C-4F34-A0C9-CBA48BD7046A}" type="presParOf" srcId="{E87ECC93-1806-46A5-B574-FABE47A17B9F}" destId="{E686A74A-E800-4633-84BC-1B6873DF9E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2275E-06A9-44AB-95B2-40432DD45AA5}">
      <dsp:nvSpPr>
        <dsp:cNvPr id="0" name=""/>
        <dsp:cNvSpPr/>
      </dsp:nvSpPr>
      <dsp:spPr>
        <a:xfrm>
          <a:off x="0" y="2191026"/>
          <a:ext cx="1902825" cy="1208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A9747-3CE2-453F-9FE5-305B5514E665}">
      <dsp:nvSpPr>
        <dsp:cNvPr id="0" name=""/>
        <dsp:cNvSpPr/>
      </dsp:nvSpPr>
      <dsp:spPr>
        <a:xfrm>
          <a:off x="211425" y="2391879"/>
          <a:ext cx="1902825" cy="12082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On-Site Inspection</a:t>
          </a:r>
          <a:endParaRPr lang="en-US" sz="2200" kern="1200" dirty="0"/>
        </a:p>
      </dsp:txBody>
      <dsp:txXfrm>
        <a:off x="246815" y="2427269"/>
        <a:ext cx="1832045" cy="1137514"/>
      </dsp:txXfrm>
    </dsp:sp>
    <dsp:sp modelId="{675B6C20-DCD1-445C-9F47-5EF762B4C5DA}">
      <dsp:nvSpPr>
        <dsp:cNvPr id="0" name=""/>
        <dsp:cNvSpPr/>
      </dsp:nvSpPr>
      <dsp:spPr>
        <a:xfrm>
          <a:off x="2325675" y="2191026"/>
          <a:ext cx="1902825" cy="1208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4BD9A-2ADF-40A3-9B39-015BF90609A2}">
      <dsp:nvSpPr>
        <dsp:cNvPr id="0" name=""/>
        <dsp:cNvSpPr/>
      </dsp:nvSpPr>
      <dsp:spPr>
        <a:xfrm>
          <a:off x="2537100" y="2391879"/>
          <a:ext cx="1902825" cy="12082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Compare to similar properties</a:t>
          </a:r>
        </a:p>
      </dsp:txBody>
      <dsp:txXfrm>
        <a:off x="2572490" y="2427269"/>
        <a:ext cx="1832045" cy="1137514"/>
      </dsp:txXfrm>
    </dsp:sp>
    <dsp:sp modelId="{A6BE7F5C-283E-4A36-916B-2D212788041E}">
      <dsp:nvSpPr>
        <dsp:cNvPr id="0" name=""/>
        <dsp:cNvSpPr/>
      </dsp:nvSpPr>
      <dsp:spPr>
        <a:xfrm>
          <a:off x="4651350" y="2191026"/>
          <a:ext cx="1902825" cy="1208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149BD-211C-44AF-A409-B3B95DE48673}">
      <dsp:nvSpPr>
        <dsp:cNvPr id="0" name=""/>
        <dsp:cNvSpPr/>
      </dsp:nvSpPr>
      <dsp:spPr>
        <a:xfrm>
          <a:off x="4862775" y="2391879"/>
          <a:ext cx="1902825" cy="12082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Calculations</a:t>
          </a:r>
        </a:p>
      </dsp:txBody>
      <dsp:txXfrm>
        <a:off x="4898165" y="2427269"/>
        <a:ext cx="1832045" cy="113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BEFE4-713C-491B-D6E7-BD3BAD9B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82584-6A2A-4131-90C9-A4D477D5C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11A3C-35E3-65DC-ED04-4DE88B07A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FB706-B655-C6D0-20A0-0765E8049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29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5DA344-5FA2-43F7-9D95-CA56C82B08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E78D-3E8F-3A6E-BAF8-E6E154BE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980A6-C56D-8032-5D10-5EFE630E1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544CF-035C-F55A-6FB4-EF3714E56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D2277-84AC-C761-DAF0-3BC0F57B4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5DA344-5FA2-43F7-9D95-CA56C82B08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31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EB36B-C2C4-24A7-9BEA-1B0BBFE1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5555A-485F-FA0C-1C12-4786A3BBD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CB3C7-97DF-E201-2CFA-ADF93E581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2DD95-06B4-E758-48F0-794A91755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5DA344-5FA2-43F7-9D95-CA56C82B08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17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3EE5-31E5-AF89-5BB4-9CE3C45F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30262-5FF7-7E1B-9A6C-7B810F83E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33BC7-8A9C-00DC-204A-CBBCC9561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E2F61-15FF-00F0-A365-1D385B5F5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5DA344-5FA2-43F7-9D95-CA56C82B08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7079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5459-CA9C-ACE3-EF13-100CD122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49BE5-825B-FBDC-5F0E-322E521F6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0FD24-83FD-E46A-75B9-6C5483641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B70F1-D856-01EA-89EF-8600A5F44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5DA344-5FA2-43F7-9D95-CA56C82B08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409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ABF5-98D5-6BAA-1705-EDB733B6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5D869-4F9F-8CF2-5904-A4B098830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588D4-E7E9-ADF7-535B-5512A2099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D0E8F-2146-7D3E-6143-9CC8E4A1B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4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9186-500F-4F83-A975-08C8463A913F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A1F2-1175-4FBA-A186-2CE9E3B965A6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5B2C-D2A5-4929-B81A-3E138FFB0A95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A1DD-CA27-4447-82F3-2CA877A7E72F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BE9F8-EB06-4C68-95F8-A48AAE58AFF3}" type="datetime1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530F-3379-4B96-A6D9-8BF6B5EC335C}" type="datetime1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F8725-B138-45E8-9223-89DF3CD051C3}" type="datetime1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D68-CF2B-4D58-867C-4E100CDA59D3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C55-53FB-4EB3-AF39-CF1518C171B7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F65A-52C5-4C53-93D8-6B7BC19D83B4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4093-2EB1-4B2E-B5FE-D8D304208650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A4E8-BCFE-41FF-B35C-D0E2404E9E86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4A033-8564-40F8-B460-23B519628991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E6B5-AB26-4CA4-84FC-5B17676BC18D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BE948-0788-4BDA-AB0F-A6A5505F04B4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he-IL"/>
              <a:t>לחץ על הסמל כדי להוסיף טבלה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2ED66-772C-4FF5-8227-60D79588E02B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2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E2FD-89AB-42CD-B100-2341294FE2DF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he-IL"/>
              <a:t>לחץ על הסמל כדי להוסיף טבלה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04F14-B2A6-42CA-AA4C-ACCA40EE61E8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42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4398A54E-4586-47C6-A5F1-3922EF60E597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745" y="-2313706"/>
            <a:ext cx="6457444" cy="4903157"/>
          </a:xfrm>
        </p:spPr>
        <p:txBody>
          <a:bodyPr/>
          <a:lstStyle/>
          <a:p>
            <a:r>
              <a:rPr lang="en-US" sz="3200" dirty="0"/>
              <a:t>Real Estate Price Estimation using machine learning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2" name="Google Shape;93;p13">
            <a:extLst>
              <a:ext uri="{FF2B5EF4-FFF2-40B4-BE49-F238E27FC236}">
                <a16:creationId xmlns:a16="http://schemas.microsoft.com/office/drawing/2014/main" id="{44F2FC3A-CDB1-B052-2294-90B3107341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96198"/>
            <a:ext cx="3268214" cy="769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3B049AC-21ED-23A5-15BF-7974F0C6017E}"/>
              </a:ext>
            </a:extLst>
          </p:cNvPr>
          <p:cNvSpPr txBox="1"/>
          <p:nvPr/>
        </p:nvSpPr>
        <p:spPr>
          <a:xfrm>
            <a:off x="635224" y="3088096"/>
            <a:ext cx="6125670" cy="87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Students</a:t>
            </a:r>
            <a:r>
              <a:rPr lang="en-US" sz="18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Joul</a:t>
            </a:r>
            <a:r>
              <a:rPr lang="en-US" sz="18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Hourany</a:t>
            </a:r>
            <a:r>
              <a:rPr lang="en-US" sz="18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&amp; </a:t>
            </a:r>
            <a:r>
              <a:rPr lang="en-US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Asaad </a:t>
            </a:r>
            <a:r>
              <a:rPr lang="en-US" dirty="0" err="1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sajim</a:t>
            </a:r>
            <a:endParaRPr lang="en-US" sz="18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Supervisor</a:t>
            </a:r>
            <a:r>
              <a:rPr lang="en-US" sz="18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Dr. Reuven Cohen</a:t>
            </a:r>
          </a:p>
        </p:txBody>
      </p:sp>
      <p:pic>
        <p:nvPicPr>
          <p:cNvPr id="8" name="Picture Placeholder 6" descr="Looking up view of a city with skyscrapers">
            <a:extLst>
              <a:ext uri="{FF2B5EF4-FFF2-40B4-BE49-F238E27FC236}">
                <a16:creationId xmlns:a16="http://schemas.microsoft.com/office/drawing/2014/main" id="{ED35945E-1234-126E-980F-A53DC7023F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>
          <a:xfrm>
            <a:off x="5624513" y="-6350"/>
            <a:ext cx="6578600" cy="6894513"/>
          </a:xfrm>
        </p:spPr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4D733E6-CE9A-0576-2C3F-7E9743BBB492}"/>
              </a:ext>
            </a:extLst>
          </p:cNvPr>
          <p:cNvSpPr txBox="1"/>
          <p:nvPr/>
        </p:nvSpPr>
        <p:spPr>
          <a:xfrm>
            <a:off x="1111169" y="847465"/>
            <a:ext cx="3090441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Table of contents</a:t>
            </a:r>
            <a:endParaRPr lang="he-IL" sz="5400" dirty="0">
              <a:solidFill>
                <a:schemeClr val="bg1"/>
              </a:solidFill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73ADF9FB-F893-E76B-A21A-C853A493A71B}"/>
              </a:ext>
            </a:extLst>
          </p:cNvPr>
          <p:cNvSpPr txBox="1"/>
          <p:nvPr/>
        </p:nvSpPr>
        <p:spPr>
          <a:xfrm>
            <a:off x="4479252" y="1481560"/>
            <a:ext cx="4791919" cy="50167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Traditional Real Estate Valuation	3</a:t>
            </a:r>
          </a:p>
          <a:p>
            <a:r>
              <a:rPr lang="en-US" sz="2000" dirty="0"/>
              <a:t>The Problem			4</a:t>
            </a:r>
          </a:p>
          <a:p>
            <a:r>
              <a:rPr lang="en-US" sz="2000" dirty="0"/>
              <a:t>Existing Solutions			5</a:t>
            </a:r>
          </a:p>
          <a:p>
            <a:r>
              <a:rPr lang="en-US" sz="2000" dirty="0"/>
              <a:t>Our Solution			6</a:t>
            </a:r>
          </a:p>
          <a:p>
            <a:r>
              <a:rPr lang="en-US" sz="2000" dirty="0"/>
              <a:t>Software Architecture Diagram	7</a:t>
            </a:r>
          </a:p>
          <a:p>
            <a:r>
              <a:rPr lang="en-US" sz="2000" dirty="0"/>
              <a:t>Decision Tree			8</a:t>
            </a:r>
          </a:p>
          <a:p>
            <a:r>
              <a:rPr lang="en-US" sz="2000" dirty="0"/>
              <a:t>Random Forest	                	9</a:t>
            </a:r>
          </a:p>
          <a:p>
            <a:r>
              <a:rPr lang="en-US" sz="2000" dirty="0"/>
              <a:t>Dataset		                	10</a:t>
            </a:r>
          </a:p>
          <a:p>
            <a:r>
              <a:rPr lang="en-US" sz="2000" dirty="0"/>
              <a:t>Challenge		                11</a:t>
            </a:r>
          </a:p>
          <a:p>
            <a:r>
              <a:rPr lang="en-US" sz="2000" dirty="0"/>
              <a:t>Prediction equation	                	12</a:t>
            </a:r>
          </a:p>
          <a:p>
            <a:r>
              <a:rPr lang="en-US" sz="2000" dirty="0"/>
              <a:t>Expectations		                13</a:t>
            </a:r>
          </a:p>
          <a:p>
            <a:r>
              <a:rPr lang="en-US" sz="2000" dirty="0" err="1"/>
              <a:t>UseCase</a:t>
            </a:r>
            <a:r>
              <a:rPr lang="en-US" sz="2000" dirty="0"/>
              <a:t> Diagram	                	14</a:t>
            </a:r>
          </a:p>
          <a:p>
            <a:r>
              <a:rPr lang="en-US" sz="2000" dirty="0"/>
              <a:t>Activity Diagram	                	15</a:t>
            </a:r>
          </a:p>
          <a:p>
            <a:r>
              <a:rPr lang="en-US" sz="2000" dirty="0"/>
              <a:t>User Interface	                	16</a:t>
            </a:r>
          </a:p>
          <a:p>
            <a:r>
              <a:rPr lang="en-US" sz="2000" dirty="0"/>
              <a:t>Testing		                	18</a:t>
            </a:r>
          </a:p>
          <a:p>
            <a:r>
              <a:rPr lang="en-US" sz="2000"/>
              <a:t>Valuations</a:t>
            </a:r>
            <a:r>
              <a:rPr lang="en-US" sz="2000" dirty="0"/>
              <a:t>			19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A727593-9B07-4A52-BD38-D0D1449C0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78FC9412-3D82-4FEB-B522-2A63FFBB9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89378"/>
            <a:ext cx="3846486" cy="33774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500" dirty="0"/>
              <a:t>Traditional</a:t>
            </a:r>
            <a:br>
              <a:rPr lang="en-US" sz="3500" dirty="0"/>
            </a:br>
            <a:br>
              <a:rPr lang="en-US" sz="3500" dirty="0"/>
            </a:br>
            <a:r>
              <a:rPr lang="en-US" sz="3500" dirty="0"/>
              <a:t>Real Estate</a:t>
            </a:r>
            <a:br>
              <a:rPr lang="en-US" sz="3500" dirty="0"/>
            </a:br>
            <a:br>
              <a:rPr lang="en-US" sz="3500" dirty="0"/>
            </a:br>
            <a:r>
              <a:rPr lang="en-US" sz="3500" dirty="0"/>
              <a:t>Valuation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65F5202-1798-429B-BEB0-642EC2B14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תיבת טקסט 6">
            <a:extLst>
              <a:ext uri="{FF2B5EF4-FFF2-40B4-BE49-F238E27FC236}">
                <a16:creationId xmlns:a16="http://schemas.microsoft.com/office/drawing/2014/main" id="{A1C289CF-39F9-68A7-E009-B629C6110E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3099754"/>
              </p:ext>
            </p:extLst>
          </p:nvPr>
        </p:nvGraphicFramePr>
        <p:xfrm>
          <a:off x="4210029" y="-144282"/>
          <a:ext cx="6765601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image14.png" descr="תמונה שמכילה אומנות ילדים, שרטוט, אוריגמי&#10;&#10;התיאור נוצר באופן אוטומטי">
            <a:extLst>
              <a:ext uri="{FF2B5EF4-FFF2-40B4-BE49-F238E27FC236}">
                <a16:creationId xmlns:a16="http://schemas.microsoft.com/office/drawing/2014/main" id="{8880AF50-3A5A-98E2-EB04-78F1E52ADAA9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8"/>
          <a:srcRect t="3806" b="5454"/>
          <a:stretch/>
        </p:blipFill>
        <p:spPr>
          <a:xfrm>
            <a:off x="2044700" y="4445000"/>
            <a:ext cx="10147300" cy="2413000"/>
          </a:xfrm>
          <a:prstGeom prst="rect">
            <a:avLst/>
          </a:prstGeom>
          <a:ln/>
        </p:spPr>
      </p:pic>
      <p:sp>
        <p:nvSpPr>
          <p:cNvPr id="15" name="מלבן 14">
            <a:extLst>
              <a:ext uri="{FF2B5EF4-FFF2-40B4-BE49-F238E27FC236}">
                <a16:creationId xmlns:a16="http://schemas.microsoft.com/office/drawing/2014/main" id="{CFFFB9D3-193F-29E7-F8C0-AA611408FBA1}"/>
              </a:ext>
            </a:extLst>
          </p:cNvPr>
          <p:cNvSpPr/>
          <p:nvPr/>
        </p:nvSpPr>
        <p:spPr>
          <a:xfrm rot="619356">
            <a:off x="-319791" y="4027241"/>
            <a:ext cx="2651657" cy="2950092"/>
          </a:xfrm>
          <a:prstGeom prst="rect">
            <a:avLst/>
          </a:prstGeom>
          <a:solidFill>
            <a:srgbClr val="F0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420E-D3C7-9B35-8542-44816594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87E2DE-79AE-79A0-5EB2-7E8147C52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64262" y="330977"/>
            <a:ext cx="9144000" cy="890920"/>
          </a:xfrm>
          <a:noFill/>
        </p:spPr>
        <p:txBody>
          <a:bodyPr anchor="b"/>
          <a:lstStyle/>
          <a:p>
            <a:r>
              <a:rPr lang="en-US" dirty="0"/>
              <a:t>The problem 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A70F27D4-80E2-548C-5674-2A4D75E777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CF18B10-D98C-51F9-3B56-8F9937FB7CBE}"/>
              </a:ext>
            </a:extLst>
          </p:cNvPr>
          <p:cNvSpPr txBox="1"/>
          <p:nvPr/>
        </p:nvSpPr>
        <p:spPr>
          <a:xfrm>
            <a:off x="658810" y="1630247"/>
            <a:ext cx="693625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Challenges in Property Valuation:</a:t>
            </a:r>
          </a:p>
          <a:p>
            <a:pPr lvl="1"/>
            <a:endParaRPr lang="he-I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2525"/>
                </a:solidFill>
                <a:latin typeface="Univers Condensed Light (גוף)"/>
                <a:ea typeface="Petrona Bold" pitchFamily="34" charset="-122"/>
              </a:rPr>
              <a:t>Difficulty Finding Comparable Properties</a:t>
            </a:r>
            <a:endParaRPr lang="he-IL" sz="2000" dirty="0">
              <a:latin typeface="Univers Condensed Light (גוף)"/>
            </a:endParaRPr>
          </a:p>
          <a:p>
            <a:pPr lvl="1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Time-consuming processes. </a:t>
            </a:r>
          </a:p>
          <a:p>
            <a:pPr lvl="1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High Costs</a:t>
            </a:r>
          </a:p>
          <a:p>
            <a:pPr lvl="1"/>
            <a:endParaRPr lang="en-US" dirty="0"/>
          </a:p>
          <a:p>
            <a:r>
              <a:rPr lang="en-US" b="1" dirty="0"/>
              <a:t>Impact:</a:t>
            </a:r>
            <a:r>
              <a:rPr lang="en-US" dirty="0"/>
              <a:t> Difficulty in making fair decisions for buyers and sellers.</a:t>
            </a:r>
          </a:p>
        </p:txBody>
      </p:sp>
    </p:spTree>
    <p:extLst>
      <p:ext uri="{BB962C8B-B14F-4D97-AF65-F5344CB8AC3E}">
        <p14:creationId xmlns:p14="http://schemas.microsoft.com/office/powerpoint/2010/main" val="228500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561" y="-2142053"/>
            <a:ext cx="6804135" cy="3354992"/>
          </a:xfrm>
          <a:noFill/>
        </p:spPr>
        <p:txBody>
          <a:bodyPr>
            <a:noAutofit/>
          </a:bodyPr>
          <a:lstStyle/>
          <a:p>
            <a:r>
              <a:rPr lang="en-US" b="1" dirty="0"/>
              <a:t>Existing Solutions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088" y="1402520"/>
            <a:ext cx="9006434" cy="4336925"/>
          </a:xfrm>
          <a:noFill/>
        </p:spPr>
        <p:txBody>
          <a:bodyPr anchor="t"/>
          <a:lstStyle/>
          <a:p>
            <a:r>
              <a:rPr lang="en-US" dirty="0"/>
              <a:t> </a:t>
            </a:r>
            <a:r>
              <a:rPr lang="en-US" b="1" dirty="0"/>
              <a:t>Current Tools: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</a:p>
          <a:p>
            <a:r>
              <a:rPr lang="en-US" dirty="0">
                <a:solidFill>
                  <a:schemeClr val="tx1"/>
                </a:solidFill>
              </a:rPr>
              <a:t>        Online platforms like Zillow and </a:t>
            </a:r>
            <a:r>
              <a:rPr lang="en-US" dirty="0" err="1">
                <a:solidFill>
                  <a:schemeClr val="tx1"/>
                </a:solidFill>
              </a:rPr>
              <a:t>Idealista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>
          <a:xfrm>
            <a:off x="9542834" y="-11576"/>
            <a:ext cx="2660741" cy="6903720"/>
          </a:xfrm>
        </p:spPr>
      </p:pic>
      <p:pic>
        <p:nvPicPr>
          <p:cNvPr id="5" name="image12.png" descr="תמונה שמכילה טקסט, שמיים, צילום מסך, בחוץ&#10;&#10;התיאור נוצר באופן אוטומטי">
            <a:extLst>
              <a:ext uri="{FF2B5EF4-FFF2-40B4-BE49-F238E27FC236}">
                <a16:creationId xmlns:a16="http://schemas.microsoft.com/office/drawing/2014/main" id="{6032D8F1-8F53-DE73-E625-12A92A3F0D4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226860" y="4469528"/>
            <a:ext cx="4972997" cy="2190634"/>
          </a:xfrm>
          <a:prstGeom prst="rect">
            <a:avLst/>
          </a:prstGeom>
          <a:ln/>
        </p:spPr>
      </p:pic>
      <p:sp>
        <p:nvSpPr>
          <p:cNvPr id="4" name="אליפסה 3">
            <a:extLst>
              <a:ext uri="{FF2B5EF4-FFF2-40B4-BE49-F238E27FC236}">
                <a16:creationId xmlns:a16="http://schemas.microsoft.com/office/drawing/2014/main" id="{38E0ADAE-6E84-8E35-2EE5-854A317D0B20}"/>
              </a:ext>
            </a:extLst>
          </p:cNvPr>
          <p:cNvSpPr/>
          <p:nvPr/>
        </p:nvSpPr>
        <p:spPr>
          <a:xfrm>
            <a:off x="3269183" y="2201034"/>
            <a:ext cx="784928" cy="356049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174C895D-AA2F-CCA3-1155-B37513A7B05A}"/>
              </a:ext>
            </a:extLst>
          </p:cNvPr>
          <p:cNvCxnSpPr/>
          <p:nvPr/>
        </p:nvCxnSpPr>
        <p:spPr>
          <a:xfrm flipV="1">
            <a:off x="3657600" y="1731696"/>
            <a:ext cx="178025" cy="436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2057877-FD3E-FCB5-3910-5599F08E353E}"/>
              </a:ext>
            </a:extLst>
          </p:cNvPr>
          <p:cNvSpPr txBox="1"/>
          <p:nvPr/>
        </p:nvSpPr>
        <p:spPr>
          <a:xfrm>
            <a:off x="2345984" y="1293155"/>
            <a:ext cx="427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well-known platform in the United States.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372262F3-CC7C-2218-4E1B-E6D3C39B14D0}"/>
              </a:ext>
            </a:extLst>
          </p:cNvPr>
          <p:cNvSpPr/>
          <p:nvPr/>
        </p:nvSpPr>
        <p:spPr>
          <a:xfrm>
            <a:off x="4385884" y="2201034"/>
            <a:ext cx="1092424" cy="356049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2C279E74-B388-330F-34BD-B712ED7DC065}"/>
              </a:ext>
            </a:extLst>
          </p:cNvPr>
          <p:cNvCxnSpPr>
            <a:cxnSpLocks/>
          </p:cNvCxnSpPr>
          <p:nvPr/>
        </p:nvCxnSpPr>
        <p:spPr>
          <a:xfrm flipV="1">
            <a:off x="5252125" y="1996776"/>
            <a:ext cx="226183" cy="292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2A40713-996F-97D7-A68E-CC92036B6EA0}"/>
              </a:ext>
            </a:extLst>
          </p:cNvPr>
          <p:cNvSpPr txBox="1"/>
          <p:nvPr/>
        </p:nvSpPr>
        <p:spPr>
          <a:xfrm>
            <a:off x="4433023" y="1619804"/>
            <a:ext cx="4972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platform mainly used in Spain, Italy, and Portugal.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B66B0B9A-4692-C503-EC6E-994A20E8D6DE}"/>
              </a:ext>
            </a:extLst>
          </p:cNvPr>
          <p:cNvCxnSpPr>
            <a:cxnSpLocks/>
          </p:cNvCxnSpPr>
          <p:nvPr/>
        </p:nvCxnSpPr>
        <p:spPr>
          <a:xfrm>
            <a:off x="3645266" y="2596060"/>
            <a:ext cx="12334" cy="499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F8F41DEF-1ED5-91A4-90A8-31947FA77590}"/>
              </a:ext>
            </a:extLst>
          </p:cNvPr>
          <p:cNvSpPr txBox="1"/>
          <p:nvPr/>
        </p:nvSpPr>
        <p:spPr>
          <a:xfrm>
            <a:off x="2908226" y="3132163"/>
            <a:ext cx="442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Neither of them is designed for Israel.</a:t>
            </a:r>
          </a:p>
        </p:txBody>
      </p: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D658ADBE-E297-F348-5EF9-FD554BD1521C}"/>
              </a:ext>
            </a:extLst>
          </p:cNvPr>
          <p:cNvCxnSpPr>
            <a:cxnSpLocks/>
          </p:cNvCxnSpPr>
          <p:nvPr/>
        </p:nvCxnSpPr>
        <p:spPr>
          <a:xfrm flipH="1">
            <a:off x="4523891" y="2519866"/>
            <a:ext cx="378936" cy="575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0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8" grpId="1"/>
      <p:bldP spid="9" grpId="0" animBg="1"/>
      <p:bldP spid="12" grpId="0"/>
      <p:bldP spid="12" grpId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b="1" dirty="0"/>
              <a:t>Our Solution</a:t>
            </a:r>
            <a:endParaRPr lang="en-US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70116" y="2022395"/>
            <a:ext cx="6930839" cy="429768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A web platform that predicts real estate prices for the Israeli market.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Real-Time Property Valuation Using Machine Learning Model</a:t>
            </a:r>
          </a:p>
          <a:p>
            <a:pPr lvl="1"/>
            <a:r>
              <a:rPr lang="en-US" dirty="0"/>
              <a:t>Combination of Standard and User-Provided Property Features for Accurate Predictions</a:t>
            </a:r>
          </a:p>
          <a:p>
            <a:pPr lvl="1"/>
            <a:r>
              <a:rPr lang="en-US" dirty="0"/>
              <a:t>User-Friendly Interface for Instant Price Predictions and Key Factor Explanations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914400" marR="457200" lvl="2" algn="l" rt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400"/>
            </a:pPr>
            <a:r>
              <a:rPr lang="en-US" sz="3400" b="1" i="1" kern="1200" cap="all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Software Architecture Diagram</a:t>
            </a:r>
            <a:endParaRPr lang="en-US" sz="3400" i="1" kern="1200" cap="all" dirty="0"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10.png">
            <a:extLst>
              <a:ext uri="{FF2B5EF4-FFF2-40B4-BE49-F238E27FC236}">
                <a16:creationId xmlns:a16="http://schemas.microsoft.com/office/drawing/2014/main" id="{336D1B04-4EE3-A168-D4C1-13BEA01B9F5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6771"/>
            <a:ext cx="12192000" cy="48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>
              <a:spcAft>
                <a:spcPts val="1200"/>
              </a:spcAft>
            </a:pPr>
            <a:r>
              <a:rPr lang="en-US" sz="4400" b="1" dirty="0">
                <a:effectLst/>
              </a:rPr>
              <a:t>Decision Tree</a:t>
            </a:r>
            <a:endParaRPr lang="en-US" sz="4400" dirty="0">
              <a:effectLst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7.png" descr="תמונה שמכילה טקסט, צילום מסך, גופן, תרשים&#10;&#10;התיאור נוצר באופן אוטומטי">
            <a:extLst>
              <a:ext uri="{FF2B5EF4-FFF2-40B4-BE49-F238E27FC236}">
                <a16:creationId xmlns:a16="http://schemas.microsoft.com/office/drawing/2014/main" id="{694B589B-A596-9095-E6FC-3AE7DD0E3E7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135063" y="2912049"/>
            <a:ext cx="7106394" cy="2971721"/>
          </a:xfrm>
          <a:prstGeom prst="rect">
            <a:avLst/>
          </a:prstGeom>
        </p:spPr>
      </p:pic>
      <p:sp>
        <p:nvSpPr>
          <p:cNvPr id="6" name="אליפסה 5">
            <a:extLst>
              <a:ext uri="{FF2B5EF4-FFF2-40B4-BE49-F238E27FC236}">
                <a16:creationId xmlns:a16="http://schemas.microsoft.com/office/drawing/2014/main" id="{A313EFC9-081C-3E03-782A-ACAAE6AC55A5}"/>
              </a:ext>
            </a:extLst>
          </p:cNvPr>
          <p:cNvSpPr/>
          <p:nvPr/>
        </p:nvSpPr>
        <p:spPr>
          <a:xfrm>
            <a:off x="2831306" y="4252912"/>
            <a:ext cx="1008088" cy="990727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5C90FA12-9BC8-8C09-FED9-7525E014C315}"/>
              </a:ext>
            </a:extLst>
          </p:cNvPr>
          <p:cNvSpPr/>
          <p:nvPr/>
        </p:nvSpPr>
        <p:spPr>
          <a:xfrm>
            <a:off x="4333191" y="3571000"/>
            <a:ext cx="882066" cy="990727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E9F03DC3-2255-5A5C-B6A5-FF1FDB331D14}"/>
              </a:ext>
            </a:extLst>
          </p:cNvPr>
          <p:cNvSpPr/>
          <p:nvPr/>
        </p:nvSpPr>
        <p:spPr>
          <a:xfrm>
            <a:off x="5709054" y="4020336"/>
            <a:ext cx="994590" cy="77689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F8C46EDA-3168-7883-89AC-C58034235E6D}"/>
              </a:ext>
            </a:extLst>
          </p:cNvPr>
          <p:cNvCxnSpPr>
            <a:cxnSpLocks/>
          </p:cNvCxnSpPr>
          <p:nvPr/>
        </p:nvCxnSpPr>
        <p:spPr>
          <a:xfrm flipH="1" flipV="1">
            <a:off x="1472750" y="3722336"/>
            <a:ext cx="1358556" cy="990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1CFFFD30-7DCD-88B7-6675-B566B13AD07A}"/>
              </a:ext>
            </a:extLst>
          </p:cNvPr>
          <p:cNvCxnSpPr>
            <a:cxnSpLocks/>
          </p:cNvCxnSpPr>
          <p:nvPr/>
        </p:nvCxnSpPr>
        <p:spPr>
          <a:xfrm flipH="1" flipV="1">
            <a:off x="1559859" y="3564951"/>
            <a:ext cx="2794313" cy="438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E4D08473-9FB6-4C4E-9B2C-4E209D678745}"/>
              </a:ext>
            </a:extLst>
          </p:cNvPr>
          <p:cNvCxnSpPr>
            <a:cxnSpLocks/>
          </p:cNvCxnSpPr>
          <p:nvPr/>
        </p:nvCxnSpPr>
        <p:spPr>
          <a:xfrm flipH="1" flipV="1">
            <a:off x="1472750" y="3676356"/>
            <a:ext cx="4339004" cy="96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38849F10-BDDB-13CC-E4DE-D35A30FBCBAE}"/>
              </a:ext>
            </a:extLst>
          </p:cNvPr>
          <p:cNvSpPr txBox="1"/>
          <p:nvPr/>
        </p:nvSpPr>
        <p:spPr>
          <a:xfrm>
            <a:off x="72828" y="2346690"/>
            <a:ext cx="13585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uses a series of branching questions or conditions based on the input features to classify or predict outcomes.</a:t>
            </a:r>
            <a:endParaRPr lang="en-US" dirty="0"/>
          </a:p>
        </p:txBody>
      </p:sp>
      <p:sp>
        <p:nvSpPr>
          <p:cNvPr id="27" name="אליפסה 26">
            <a:extLst>
              <a:ext uri="{FF2B5EF4-FFF2-40B4-BE49-F238E27FC236}">
                <a16:creationId xmlns:a16="http://schemas.microsoft.com/office/drawing/2014/main" id="{2E156B50-BA3F-3372-D308-FFED92100B72}"/>
              </a:ext>
            </a:extLst>
          </p:cNvPr>
          <p:cNvSpPr/>
          <p:nvPr/>
        </p:nvSpPr>
        <p:spPr>
          <a:xfrm>
            <a:off x="4333191" y="4713063"/>
            <a:ext cx="1008088" cy="772948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אליפסה 30">
            <a:extLst>
              <a:ext uri="{FF2B5EF4-FFF2-40B4-BE49-F238E27FC236}">
                <a16:creationId xmlns:a16="http://schemas.microsoft.com/office/drawing/2014/main" id="{12F992FA-1020-586F-95DA-952C44C80E2A}"/>
              </a:ext>
            </a:extLst>
          </p:cNvPr>
          <p:cNvSpPr/>
          <p:nvPr/>
        </p:nvSpPr>
        <p:spPr>
          <a:xfrm>
            <a:off x="7130881" y="4474638"/>
            <a:ext cx="1008088" cy="772948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אליפסה 32">
            <a:extLst>
              <a:ext uri="{FF2B5EF4-FFF2-40B4-BE49-F238E27FC236}">
                <a16:creationId xmlns:a16="http://schemas.microsoft.com/office/drawing/2014/main" id="{0F5B90A0-24C0-8D93-19A4-F42193944FEB}"/>
              </a:ext>
            </a:extLst>
          </p:cNvPr>
          <p:cNvSpPr/>
          <p:nvPr/>
        </p:nvSpPr>
        <p:spPr>
          <a:xfrm>
            <a:off x="7105367" y="3572142"/>
            <a:ext cx="1008088" cy="772948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אליפסה 34">
            <a:extLst>
              <a:ext uri="{FF2B5EF4-FFF2-40B4-BE49-F238E27FC236}">
                <a16:creationId xmlns:a16="http://schemas.microsoft.com/office/drawing/2014/main" id="{CB397D2F-5CCA-00F6-F119-D0F3DECD4123}"/>
              </a:ext>
            </a:extLst>
          </p:cNvPr>
          <p:cNvSpPr/>
          <p:nvPr/>
        </p:nvSpPr>
        <p:spPr>
          <a:xfrm>
            <a:off x="5753655" y="3172347"/>
            <a:ext cx="1008088" cy="772948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מחבר חץ ישר 38">
            <a:extLst>
              <a:ext uri="{FF2B5EF4-FFF2-40B4-BE49-F238E27FC236}">
                <a16:creationId xmlns:a16="http://schemas.microsoft.com/office/drawing/2014/main" id="{8FA0F6FA-2E3F-B8F1-BB56-0805BB6B0634}"/>
              </a:ext>
            </a:extLst>
          </p:cNvPr>
          <p:cNvCxnSpPr>
            <a:cxnSpLocks/>
          </p:cNvCxnSpPr>
          <p:nvPr/>
        </p:nvCxnSpPr>
        <p:spPr>
          <a:xfrm flipV="1">
            <a:off x="5341279" y="4713063"/>
            <a:ext cx="4420296" cy="539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מחבר חץ ישר 40">
            <a:extLst>
              <a:ext uri="{FF2B5EF4-FFF2-40B4-BE49-F238E27FC236}">
                <a16:creationId xmlns:a16="http://schemas.microsoft.com/office/drawing/2014/main" id="{25945821-13B2-32F1-DD85-90A11913FCCC}"/>
              </a:ext>
            </a:extLst>
          </p:cNvPr>
          <p:cNvCxnSpPr>
            <a:cxnSpLocks/>
          </p:cNvCxnSpPr>
          <p:nvPr/>
        </p:nvCxnSpPr>
        <p:spPr>
          <a:xfrm flipV="1">
            <a:off x="7966139" y="4325876"/>
            <a:ext cx="1734753" cy="331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מחבר חץ ישר 43">
            <a:extLst>
              <a:ext uri="{FF2B5EF4-FFF2-40B4-BE49-F238E27FC236}">
                <a16:creationId xmlns:a16="http://schemas.microsoft.com/office/drawing/2014/main" id="{6B9350DD-FA56-5F5A-9BDC-854C47CBCD57}"/>
              </a:ext>
            </a:extLst>
          </p:cNvPr>
          <p:cNvCxnSpPr>
            <a:cxnSpLocks/>
          </p:cNvCxnSpPr>
          <p:nvPr/>
        </p:nvCxnSpPr>
        <p:spPr>
          <a:xfrm>
            <a:off x="7732823" y="3638392"/>
            <a:ext cx="1968069" cy="179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חץ ישר 45">
            <a:extLst>
              <a:ext uri="{FF2B5EF4-FFF2-40B4-BE49-F238E27FC236}">
                <a16:creationId xmlns:a16="http://schemas.microsoft.com/office/drawing/2014/main" id="{E35453AB-40E1-DD24-2D6E-E856DF42F420}"/>
              </a:ext>
            </a:extLst>
          </p:cNvPr>
          <p:cNvCxnSpPr>
            <a:cxnSpLocks/>
          </p:cNvCxnSpPr>
          <p:nvPr/>
        </p:nvCxnSpPr>
        <p:spPr>
          <a:xfrm>
            <a:off x="6717142" y="3404730"/>
            <a:ext cx="2951552" cy="21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תיבת טקסט 47">
            <a:extLst>
              <a:ext uri="{FF2B5EF4-FFF2-40B4-BE49-F238E27FC236}">
                <a16:creationId xmlns:a16="http://schemas.microsoft.com/office/drawing/2014/main" id="{81D7CB09-517F-366A-0692-1D0193AE200A}"/>
              </a:ext>
            </a:extLst>
          </p:cNvPr>
          <p:cNvSpPr txBox="1"/>
          <p:nvPr/>
        </p:nvSpPr>
        <p:spPr>
          <a:xfrm>
            <a:off x="9852260" y="3312159"/>
            <a:ext cx="2357597" cy="1861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branch represents a decision, and the endpoints, known as "leaves" provide the final prediction or classification.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51" name="תיבת טקסט 50">
            <a:extLst>
              <a:ext uri="{FF2B5EF4-FFF2-40B4-BE49-F238E27FC236}">
                <a16:creationId xmlns:a16="http://schemas.microsoft.com/office/drawing/2014/main" id="{62E776AD-AC40-969D-75FD-BEDC18DEE4C7}"/>
              </a:ext>
            </a:extLst>
          </p:cNvPr>
          <p:cNvSpPr txBox="1"/>
          <p:nvPr/>
        </p:nvSpPr>
        <p:spPr>
          <a:xfrm>
            <a:off x="4124031" y="5891550"/>
            <a:ext cx="3259247" cy="379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FF0000"/>
                </a:solidFill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xample of a simple decision tree</a:t>
            </a:r>
            <a:endParaRPr lang="en-US" sz="18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23" grpId="0"/>
      <p:bldP spid="23" grpId="1"/>
      <p:bldP spid="27" grpId="0" animBg="1"/>
      <p:bldP spid="31" grpId="0" animBg="1"/>
      <p:bldP spid="33" grpId="0" animBg="1"/>
      <p:bldP spid="35" grpId="0" animBg="1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59C5F-6F8A-1742-EFA4-F565AD22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9901D9-646C-F1C5-B54A-E4E802A7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018F4C-19AE-3F85-C9DD-1C933F542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196DD3-C215-5BFF-6847-79CE73321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F3AF07-4B23-1FD1-43BA-22098269B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334781-0DA4-F700-9E32-003B9868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9D3B36-1F0B-2600-FF2E-9EE87CE3A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0A66E6-0E2A-3F32-C7DC-0E9237520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352C3F9-4F9C-8066-FD3D-5A13F6B3B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8FDB4F-A595-F4B2-59FB-1E2BAD278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80B1BB2-5DE9-C209-840F-23762DD6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EC411DB-BBE3-2A73-636A-D008F7778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FF4F26F-4CEA-AD42-4F16-01A8944D1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FD4FFE6-4F56-5D2E-50D5-D35F5B73F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6F513A-900B-53C3-54FD-D29B01D1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914400" marR="457200" lvl="2" algn="l" rt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400"/>
            </a:pPr>
            <a:r>
              <a:rPr lang="en-US" sz="3400" i="1" kern="1200" cap="all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The model(random forest)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82427BD-014D-384F-D101-C9D7E073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96336508-86BC-62C6-211F-EF522595F5BB}"/>
              </a:ext>
            </a:extLst>
          </p:cNvPr>
          <p:cNvSpPr txBox="1"/>
          <p:nvPr/>
        </p:nvSpPr>
        <p:spPr>
          <a:xfrm>
            <a:off x="1129553" y="3077029"/>
            <a:ext cx="294183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i="1" u="sng" dirty="0"/>
              <a:t>Multiple Trees</a:t>
            </a:r>
          </a:p>
          <a:p>
            <a:endParaRPr lang="en-US" sz="1600" b="1" i="1" u="sng" dirty="0"/>
          </a:p>
          <a:p>
            <a:pPr algn="ctr"/>
            <a:r>
              <a:rPr lang="en-US" dirty="0"/>
              <a:t> Grows multiple decision</a:t>
            </a:r>
          </a:p>
          <a:p>
            <a:pPr algn="ctr"/>
            <a:r>
              <a:rPr lang="en-US" dirty="0"/>
              <a:t>trees to improve accuracy.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21B7249-BF0E-8BE7-4D0D-A695C60DAD2C}"/>
              </a:ext>
            </a:extLst>
          </p:cNvPr>
          <p:cNvSpPr txBox="1"/>
          <p:nvPr/>
        </p:nvSpPr>
        <p:spPr>
          <a:xfrm>
            <a:off x="8357093" y="3028064"/>
            <a:ext cx="296995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2. </a:t>
            </a:r>
            <a:r>
              <a:rPr lang="en-US" sz="2400" b="1" i="1" u="sng" dirty="0"/>
              <a:t>Averaging Predictions</a:t>
            </a:r>
          </a:p>
          <a:p>
            <a:r>
              <a:rPr lang="en-US" dirty="0"/>
              <a:t> </a:t>
            </a:r>
          </a:p>
          <a:p>
            <a:pPr algn="ctr"/>
            <a:r>
              <a:rPr lang="en-US" dirty="0"/>
              <a:t>Averages predictions from all trees for a final prediction.</a:t>
            </a:r>
          </a:p>
        </p:txBody>
      </p:sp>
      <p:pic>
        <p:nvPicPr>
          <p:cNvPr id="8" name="image11.png" descr="תמונה שמכילה טקסט, תרשים, צילום מסך, גופן&#10;&#10;התיאור נוצר באופן אוטומטי">
            <a:extLst>
              <a:ext uri="{FF2B5EF4-FFF2-40B4-BE49-F238E27FC236}">
                <a16:creationId xmlns:a16="http://schemas.microsoft.com/office/drawing/2014/main" id="{0BE6B9D4-90BB-510C-FA4A-EE54B3E586B0}"/>
              </a:ext>
            </a:extLst>
          </p:cNvPr>
          <p:cNvPicPr/>
          <p:nvPr/>
        </p:nvPicPr>
        <p:blipFill rotWithShape="1">
          <a:blip r:embed="rId3"/>
          <a:srcRect l="15383" t="27750" r="16053" b="1938"/>
          <a:stretch/>
        </p:blipFill>
        <p:spPr bwMode="auto">
          <a:xfrm>
            <a:off x="3729037" y="3577069"/>
            <a:ext cx="4864705" cy="31413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86C04C70-F263-A5E6-996E-A03E5AB821A5}"/>
              </a:ext>
            </a:extLst>
          </p:cNvPr>
          <p:cNvSpPr/>
          <p:nvPr/>
        </p:nvSpPr>
        <p:spPr>
          <a:xfrm>
            <a:off x="5219363" y="5971922"/>
            <a:ext cx="1950180" cy="145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chemeClr val="tx1"/>
                </a:solidFill>
              </a:rPr>
              <a:t>Averaging </a:t>
            </a:r>
          </a:p>
        </p:txBody>
      </p:sp>
    </p:spTree>
    <p:extLst>
      <p:ext uri="{BB962C8B-B14F-4D97-AF65-F5344CB8AC3E}">
        <p14:creationId xmlns:p14="http://schemas.microsoft.com/office/powerpoint/2010/main" val="55767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1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1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1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2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25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27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Dataset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6776" y="1760994"/>
            <a:ext cx="4750806" cy="5210175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dataset used in this project is sourced from "Israel Tax Authority", an official Israeli government website that provides publicly available information on real estate transactions.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data set includes the following information    on real estate;</a:t>
            </a:r>
            <a:endParaRPr lang="en-US" dirty="0"/>
          </a:p>
          <a:p>
            <a:r>
              <a:rPr lang="en-US" dirty="0">
                <a:effectLst/>
              </a:rPr>
              <a:t>Number of Rooms, the Area, the Year of Built, the city, the Type (apartment, single-family home, community housing, etc..), and the Price.</a:t>
            </a:r>
          </a:p>
          <a:p>
            <a:r>
              <a:rPr lang="en-US" dirty="0">
                <a:effectLst/>
              </a:rPr>
              <a:t>The dataset is sourced from the "Israel Tax Authority" website.</a:t>
            </a:r>
          </a:p>
          <a:p>
            <a:r>
              <a:rPr lang="en-US" dirty="0">
                <a:effectLst/>
              </a:rPr>
              <a:t>It contains publicly available information on real estate transactions in Israel.</a:t>
            </a:r>
          </a:p>
          <a:p>
            <a:r>
              <a:rPr lang="en-US" dirty="0">
                <a:effectLst/>
              </a:rPr>
              <a:t>The dataset includes the following features:</a:t>
            </a:r>
          </a:p>
          <a:p>
            <a:r>
              <a:rPr lang="en-US" dirty="0">
                <a:effectLst/>
              </a:rPr>
              <a:t>Number of rooms</a:t>
            </a:r>
          </a:p>
          <a:p>
            <a:r>
              <a:rPr lang="en-US" dirty="0">
                <a:effectLst/>
              </a:rPr>
              <a:t>Area</a:t>
            </a:r>
          </a:p>
          <a:p>
            <a:r>
              <a:rPr lang="en-US" dirty="0">
                <a:effectLst/>
              </a:rPr>
              <a:t>Year built</a:t>
            </a:r>
          </a:p>
          <a:p>
            <a:r>
              <a:rPr lang="en-US" dirty="0">
                <a:effectLst/>
              </a:rPr>
              <a:t>City</a:t>
            </a:r>
          </a:p>
          <a:p>
            <a:r>
              <a:rPr lang="en-US" dirty="0">
                <a:effectLst/>
              </a:rPr>
              <a:t>Property type (apartment, single-family home, community housing, etc.)</a:t>
            </a:r>
          </a:p>
          <a:p>
            <a:r>
              <a:rPr lang="en-US" dirty="0">
                <a:effectLst/>
              </a:rPr>
              <a:t>Price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image6.png" descr="תמונה שמכילה טקסט, צילום מסך, תוכנה, מספר&#10;&#10;התיאור נוצר באופן אוטומטי">
            <a:extLst>
              <a:ext uri="{FF2B5EF4-FFF2-40B4-BE49-F238E27FC236}">
                <a16:creationId xmlns:a16="http://schemas.microsoft.com/office/drawing/2014/main" id="{7926F66D-172E-5664-1837-F07ED4B055E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241985" cy="6858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AF5B2-FA90-AB2F-000C-7131703E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A42711-1D19-0A3C-50CF-E7E0964B8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FDDE34-B690-E851-8E4B-F943F06F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ACA314-882B-CB75-BE37-DA6373AB5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98D621-BCBA-7474-298C-461AE144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C5FECB-0D26-7C20-B773-45E30958D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EBD270F-0135-E106-49E0-4AD3ED37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F731558-CCE7-F44B-A911-C59F89BE6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B1EBA8C-56EB-5387-DDAA-F9C817FC0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3071BC-7B33-0168-ED56-6765F4682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91CCA89-A8B2-10C6-E82D-EA2366D34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E8BB7F-08EA-C231-2FCC-17CD1DCAC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3EB641-8347-CC3A-0B17-057C4B9FB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5F52EA-4FEC-FD16-24ED-7A73A8679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82FD365-5475-9860-C693-93630BAF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413606" cy="10868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914400" marR="457200" lvl="2" algn="l" rt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400"/>
            </a:pPr>
            <a:r>
              <a:rPr lang="en-US" sz="3400" i="1" kern="1200" cap="all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Challenge: Completing the missing data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A09B3B-3832-3286-97F1-3958622E8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46B5CF1-3D67-7242-2ECB-228855035FCA}"/>
              </a:ext>
            </a:extLst>
          </p:cNvPr>
          <p:cNvSpPr txBox="1"/>
          <p:nvPr/>
        </p:nvSpPr>
        <p:spPr>
          <a:xfrm>
            <a:off x="235098" y="2372945"/>
            <a:ext cx="119451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Missing Data can affect property prices.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EA14E144-D259-F6C1-841E-57E287F64638}"/>
              </a:ext>
            </a:extLst>
          </p:cNvPr>
          <p:cNvSpPr txBox="1"/>
          <p:nvPr/>
        </p:nvSpPr>
        <p:spPr>
          <a:xfrm>
            <a:off x="252786" y="3368005"/>
            <a:ext cx="63967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Missing Data: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Elevator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View</a:t>
            </a:r>
          </a:p>
          <a:p>
            <a:r>
              <a:rPr lang="en-US" sz="2000" dirty="0"/>
              <a:t> Proximity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Schools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Shopping center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Transport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Parks</a:t>
            </a:r>
          </a:p>
        </p:txBody>
      </p:sp>
      <p:pic>
        <p:nvPicPr>
          <p:cNvPr id="25" name="Picture 6" descr="Setting Missing Values When Importing Data — Analytics Made Accessible">
            <a:extLst>
              <a:ext uri="{FF2B5EF4-FFF2-40B4-BE49-F238E27FC236}">
                <a16:creationId xmlns:a16="http://schemas.microsoft.com/office/drawing/2014/main" id="{6032E5AF-CECD-8BB6-1EBF-DBB33329D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343" y="3790929"/>
            <a:ext cx="5094798" cy="286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230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8D6A7-EFCA-DBDB-0714-816E07B9A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BD16FF-8EE5-0DFC-E94A-756A562C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29FCD-52AC-CCA0-612E-0F7A4F5D2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66AAE8-1F52-B5F6-2280-3A7CD9401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00605D-6024-F882-320C-0964D9957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903EBA-6B99-EE57-B152-74741A7D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24918B-49D2-C42A-EDD0-BE35E77F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8F91C-5CBF-B27B-24A6-691E7B696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2FCFD3E-E263-FFCC-2AB5-D3D690EF1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1BFBA8-2F06-2340-8196-43CC96A2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1E14F7-CDEA-281D-0E52-C60DC602A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59B5B8-9B87-133D-4736-9B4450829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32C0C3-26BE-8A8D-BE66-0A4F368A4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AB3D99-EDD0-B587-CCFE-892265C11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90AF6E6-ECF7-EF5B-5573-93A2984F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914400" marR="457200" lvl="2" algn="l" rt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400"/>
            </a:pPr>
            <a:r>
              <a:rPr lang="en-US" sz="4000" dirty="0">
                <a:solidFill>
                  <a:srgbClr val="000000"/>
                </a:solidFill>
                <a:effectLst/>
                <a:latin typeface="Walbaum Display Light (כותרות)"/>
                <a:ea typeface="Times New Roman" panose="02020603050405020304" pitchFamily="18" charset="0"/>
                <a:cs typeface="Times New Roman" panose="02020603050405020304" pitchFamily="18" charset="0"/>
              </a:rPr>
              <a:t>The prediction equation</a:t>
            </a:r>
            <a:endParaRPr lang="en-US" sz="8000" i="1" kern="1200" cap="all" dirty="0">
              <a:solidFill>
                <a:schemeClr val="tx2"/>
              </a:solidFill>
              <a:effectLst/>
              <a:latin typeface="Walbaum Display Light (כותרות)"/>
              <a:ea typeface="+mj-ea"/>
              <a:cs typeface="+mj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A77ECFA-F4EB-1D40-A3CE-CC926B9FB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B85BDAEA-1AC2-A1A7-47B1-6678712A90AA}"/>
                  </a:ext>
                </a:extLst>
              </p:cNvPr>
              <p:cNvSpPr txBox="1"/>
              <p:nvPr/>
            </p:nvSpPr>
            <p:spPr>
              <a:xfrm>
                <a:off x="2843034" y="3361752"/>
                <a:ext cx="612567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𝑡𝑟𝑒𝑒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𝑎𝑑𝑑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𝑎𝑑𝑑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B85BDAEA-1AC2-A1A7-47B1-6678712A9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034" y="3361752"/>
                <a:ext cx="6125670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אליפסה 5">
            <a:extLst>
              <a:ext uri="{FF2B5EF4-FFF2-40B4-BE49-F238E27FC236}">
                <a16:creationId xmlns:a16="http://schemas.microsoft.com/office/drawing/2014/main" id="{FFD1708E-D677-7C2D-0F2B-B2A4B26213E8}"/>
              </a:ext>
            </a:extLst>
          </p:cNvPr>
          <p:cNvSpPr/>
          <p:nvPr/>
        </p:nvSpPr>
        <p:spPr>
          <a:xfrm>
            <a:off x="3119718" y="3609048"/>
            <a:ext cx="327489" cy="258945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F97ADA18-96C8-5B3E-BFB3-F8605FB35537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2913133" y="3091158"/>
            <a:ext cx="254545" cy="555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8B85C25-3260-6552-D0F4-ADC26DDAFBAE}"/>
              </a:ext>
            </a:extLst>
          </p:cNvPr>
          <p:cNvSpPr txBox="1"/>
          <p:nvPr/>
        </p:nvSpPr>
        <p:spPr>
          <a:xfrm>
            <a:off x="451884" y="2693088"/>
            <a:ext cx="278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predicted property price</a:t>
            </a:r>
            <a:endParaRPr lang="en-US" dirty="0"/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903F6C7A-7BF8-9D1B-F45F-7A7A92AC61BF}"/>
              </a:ext>
            </a:extLst>
          </p:cNvPr>
          <p:cNvSpPr/>
          <p:nvPr/>
        </p:nvSpPr>
        <p:spPr>
          <a:xfrm>
            <a:off x="3560146" y="3762827"/>
            <a:ext cx="327489" cy="258945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061B2FE5-3B23-5501-01B6-B1527D64F5F5}"/>
              </a:ext>
            </a:extLst>
          </p:cNvPr>
          <p:cNvCxnSpPr>
            <a:cxnSpLocks/>
          </p:cNvCxnSpPr>
          <p:nvPr/>
        </p:nvCxnSpPr>
        <p:spPr>
          <a:xfrm flipH="1">
            <a:off x="3411442" y="4040733"/>
            <a:ext cx="232737" cy="21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E2E7AD50-174C-3C3D-F2B8-6C408765EC29}"/>
              </a:ext>
            </a:extLst>
          </p:cNvPr>
          <p:cNvSpPr txBox="1"/>
          <p:nvPr/>
        </p:nvSpPr>
        <p:spPr>
          <a:xfrm>
            <a:off x="-1" y="4252912"/>
            <a:ext cx="4774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number of decision trees in the random forest.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29" name="אליפסה 28">
            <a:extLst>
              <a:ext uri="{FF2B5EF4-FFF2-40B4-BE49-F238E27FC236}">
                <a16:creationId xmlns:a16="http://schemas.microsoft.com/office/drawing/2014/main" id="{C086407B-FA5F-77FB-0686-C20BA6036DB2}"/>
              </a:ext>
            </a:extLst>
          </p:cNvPr>
          <p:cNvSpPr/>
          <p:nvPr/>
        </p:nvSpPr>
        <p:spPr>
          <a:xfrm>
            <a:off x="4378099" y="3615792"/>
            <a:ext cx="327489" cy="258945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מחבר חץ ישר 30">
            <a:extLst>
              <a:ext uri="{FF2B5EF4-FFF2-40B4-BE49-F238E27FC236}">
                <a16:creationId xmlns:a16="http://schemas.microsoft.com/office/drawing/2014/main" id="{CA16CC18-3AA3-DFF3-560F-5A293881C864}"/>
              </a:ext>
            </a:extLst>
          </p:cNvPr>
          <p:cNvCxnSpPr>
            <a:cxnSpLocks/>
          </p:cNvCxnSpPr>
          <p:nvPr/>
        </p:nvCxnSpPr>
        <p:spPr>
          <a:xfrm flipV="1">
            <a:off x="4541843" y="3062420"/>
            <a:ext cx="41590" cy="584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BF2E8DD4-3BCB-F34E-D982-D382CFAEDEC1}"/>
              </a:ext>
            </a:extLst>
          </p:cNvPr>
          <p:cNvSpPr txBox="1"/>
          <p:nvPr/>
        </p:nvSpPr>
        <p:spPr>
          <a:xfrm>
            <a:off x="3381304" y="2555043"/>
            <a:ext cx="410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prediction from the </a:t>
            </a:r>
            <a:r>
              <a:rPr lang="en-US" sz="1800" dirty="0" err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i-th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decision tree.</a:t>
            </a:r>
            <a:endParaRPr lang="en-US" dirty="0"/>
          </a:p>
        </p:txBody>
      </p:sp>
      <p:sp>
        <p:nvSpPr>
          <p:cNvPr id="37" name="אליפסה 36">
            <a:extLst>
              <a:ext uri="{FF2B5EF4-FFF2-40B4-BE49-F238E27FC236}">
                <a16:creationId xmlns:a16="http://schemas.microsoft.com/office/drawing/2014/main" id="{C3463E68-0A87-F508-AEC3-4BC0742768D1}"/>
              </a:ext>
            </a:extLst>
          </p:cNvPr>
          <p:cNvSpPr/>
          <p:nvPr/>
        </p:nvSpPr>
        <p:spPr>
          <a:xfrm>
            <a:off x="5677873" y="3573963"/>
            <a:ext cx="588865" cy="35784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מחבר חץ ישר 38">
            <a:extLst>
              <a:ext uri="{FF2B5EF4-FFF2-40B4-BE49-F238E27FC236}">
                <a16:creationId xmlns:a16="http://schemas.microsoft.com/office/drawing/2014/main" id="{2EC6E7A6-7F76-B97E-1DCF-2DB48EFEE371}"/>
              </a:ext>
            </a:extLst>
          </p:cNvPr>
          <p:cNvCxnSpPr>
            <a:cxnSpLocks/>
          </p:cNvCxnSpPr>
          <p:nvPr/>
        </p:nvCxnSpPr>
        <p:spPr>
          <a:xfrm>
            <a:off x="6013299" y="3928951"/>
            <a:ext cx="0" cy="347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032D90A5-C349-443C-3463-33B8A9674E64}"/>
              </a:ext>
            </a:extLst>
          </p:cNvPr>
          <p:cNvSpPr txBox="1"/>
          <p:nvPr/>
        </p:nvSpPr>
        <p:spPr>
          <a:xfrm>
            <a:off x="4817163" y="4269808"/>
            <a:ext cx="456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weight of the diction tree's price-output.</a:t>
            </a:r>
            <a:endParaRPr lang="en-US" dirty="0"/>
          </a:p>
        </p:txBody>
      </p:sp>
      <p:sp>
        <p:nvSpPr>
          <p:cNvPr id="42" name="אליפסה 41">
            <a:extLst>
              <a:ext uri="{FF2B5EF4-FFF2-40B4-BE49-F238E27FC236}">
                <a16:creationId xmlns:a16="http://schemas.microsoft.com/office/drawing/2014/main" id="{0D6C8968-8003-98F1-7E7F-95D9680AAB6F}"/>
              </a:ext>
            </a:extLst>
          </p:cNvPr>
          <p:cNvSpPr/>
          <p:nvPr/>
        </p:nvSpPr>
        <p:spPr>
          <a:xfrm>
            <a:off x="6733866" y="3388025"/>
            <a:ext cx="327489" cy="258945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מחבר חץ ישר 42">
            <a:extLst>
              <a:ext uri="{FF2B5EF4-FFF2-40B4-BE49-F238E27FC236}">
                <a16:creationId xmlns:a16="http://schemas.microsoft.com/office/drawing/2014/main" id="{864AEB58-1AF4-0174-23C5-45409F1235BD}"/>
              </a:ext>
            </a:extLst>
          </p:cNvPr>
          <p:cNvCxnSpPr>
            <a:cxnSpLocks/>
          </p:cNvCxnSpPr>
          <p:nvPr/>
        </p:nvCxnSpPr>
        <p:spPr>
          <a:xfrm flipV="1">
            <a:off x="6941481" y="3117748"/>
            <a:ext cx="434849" cy="342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תיבת טקסט 44">
            <a:extLst>
              <a:ext uri="{FF2B5EF4-FFF2-40B4-BE49-F238E27FC236}">
                <a16:creationId xmlns:a16="http://schemas.microsoft.com/office/drawing/2014/main" id="{4ACD6E32-4B85-DE1E-7694-CF6818F7461B}"/>
              </a:ext>
            </a:extLst>
          </p:cNvPr>
          <p:cNvSpPr txBox="1"/>
          <p:nvPr/>
        </p:nvSpPr>
        <p:spPr>
          <a:xfrm>
            <a:off x="7376330" y="2721826"/>
            <a:ext cx="342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number of additional features. </a:t>
            </a:r>
            <a:endParaRPr lang="en-US" dirty="0"/>
          </a:p>
        </p:txBody>
      </p:sp>
      <p:sp>
        <p:nvSpPr>
          <p:cNvPr id="46" name="אליפסה 45">
            <a:extLst>
              <a:ext uri="{FF2B5EF4-FFF2-40B4-BE49-F238E27FC236}">
                <a16:creationId xmlns:a16="http://schemas.microsoft.com/office/drawing/2014/main" id="{5C1DDC7D-087B-D40E-51F0-8F7C07F395A2}"/>
              </a:ext>
            </a:extLst>
          </p:cNvPr>
          <p:cNvSpPr/>
          <p:nvPr/>
        </p:nvSpPr>
        <p:spPr>
          <a:xfrm>
            <a:off x="7044603" y="3600249"/>
            <a:ext cx="731961" cy="35784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מחבר חץ ישר 46">
            <a:extLst>
              <a:ext uri="{FF2B5EF4-FFF2-40B4-BE49-F238E27FC236}">
                <a16:creationId xmlns:a16="http://schemas.microsoft.com/office/drawing/2014/main" id="{BCD6AC20-08D5-102B-65E8-05F57610EACC}"/>
              </a:ext>
            </a:extLst>
          </p:cNvPr>
          <p:cNvCxnSpPr>
            <a:cxnSpLocks/>
          </p:cNvCxnSpPr>
          <p:nvPr/>
        </p:nvCxnSpPr>
        <p:spPr>
          <a:xfrm flipH="1">
            <a:off x="7435619" y="3972415"/>
            <a:ext cx="5744" cy="926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תיבת טקסט 50">
            <a:extLst>
              <a:ext uri="{FF2B5EF4-FFF2-40B4-BE49-F238E27FC236}">
                <a16:creationId xmlns:a16="http://schemas.microsoft.com/office/drawing/2014/main" id="{9EE478BC-F70E-12AF-C32E-0B45B676A3D0}"/>
              </a:ext>
            </a:extLst>
          </p:cNvPr>
          <p:cNvSpPr txBox="1"/>
          <p:nvPr/>
        </p:nvSpPr>
        <p:spPr>
          <a:xfrm>
            <a:off x="4506578" y="4833932"/>
            <a:ext cx="7811119" cy="768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l" rtl="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Weight assigned to the j-</a:t>
            </a:r>
            <a:r>
              <a:rPr lang="en-US" sz="1800" dirty="0" err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additional feature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54" name="אליפסה 53">
            <a:extLst>
              <a:ext uri="{FF2B5EF4-FFF2-40B4-BE49-F238E27FC236}">
                <a16:creationId xmlns:a16="http://schemas.microsoft.com/office/drawing/2014/main" id="{780500A2-6CDB-F929-DB74-B5F9B934F4C5}"/>
              </a:ext>
            </a:extLst>
          </p:cNvPr>
          <p:cNvSpPr/>
          <p:nvPr/>
        </p:nvSpPr>
        <p:spPr>
          <a:xfrm>
            <a:off x="7871762" y="3590841"/>
            <a:ext cx="731961" cy="35784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מחבר חץ ישר 54">
            <a:extLst>
              <a:ext uri="{FF2B5EF4-FFF2-40B4-BE49-F238E27FC236}">
                <a16:creationId xmlns:a16="http://schemas.microsoft.com/office/drawing/2014/main" id="{0560A9E6-3AEE-0430-8EAB-545CFB26898E}"/>
              </a:ext>
            </a:extLst>
          </p:cNvPr>
          <p:cNvCxnSpPr>
            <a:cxnSpLocks/>
          </p:cNvCxnSpPr>
          <p:nvPr/>
        </p:nvCxnSpPr>
        <p:spPr>
          <a:xfrm>
            <a:off x="8282954" y="3906459"/>
            <a:ext cx="572163" cy="271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תיבת טקסט 56">
            <a:extLst>
              <a:ext uri="{FF2B5EF4-FFF2-40B4-BE49-F238E27FC236}">
                <a16:creationId xmlns:a16="http://schemas.microsoft.com/office/drawing/2014/main" id="{D5EDBADE-1340-87D8-5875-2509A479CED9}"/>
              </a:ext>
            </a:extLst>
          </p:cNvPr>
          <p:cNvSpPr txBox="1"/>
          <p:nvPr/>
        </p:nvSpPr>
        <p:spPr>
          <a:xfrm>
            <a:off x="8751209" y="3646970"/>
            <a:ext cx="3566488" cy="1361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l" rtl="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value of the j-</a:t>
            </a:r>
            <a:r>
              <a:rPr lang="en-US" sz="1800" dirty="0" err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additional feature provided by the user         (1 = exist, 0 = doesn’t exist)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תיבת טקסט 58">
                <a:extLst>
                  <a:ext uri="{FF2B5EF4-FFF2-40B4-BE49-F238E27FC236}">
                    <a16:creationId xmlns:a16="http://schemas.microsoft.com/office/drawing/2014/main" id="{2D46203E-6CD1-B296-1FCE-F2050904DBF8}"/>
                  </a:ext>
                </a:extLst>
              </p:cNvPr>
              <p:cNvSpPr txBox="1"/>
              <p:nvPr/>
            </p:nvSpPr>
            <p:spPr>
              <a:xfrm>
                <a:off x="-754583" y="5212264"/>
                <a:ext cx="6283464" cy="65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𝑡𝑟𝑒𝑒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תיבת טקסט 58">
                <a:extLst>
                  <a:ext uri="{FF2B5EF4-FFF2-40B4-BE49-F238E27FC236}">
                    <a16:creationId xmlns:a16="http://schemas.microsoft.com/office/drawing/2014/main" id="{2D46203E-6CD1-B296-1FCE-F2050904D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4583" y="5212264"/>
                <a:ext cx="6283464" cy="6592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תיבת טקסט 60">
                <a:extLst>
                  <a:ext uri="{FF2B5EF4-FFF2-40B4-BE49-F238E27FC236}">
                    <a16:creationId xmlns:a16="http://schemas.microsoft.com/office/drawing/2014/main" id="{FBDB8B54-382F-5AAD-0D65-D5B85B9109F6}"/>
                  </a:ext>
                </a:extLst>
              </p:cNvPr>
              <p:cNvSpPr txBox="1"/>
              <p:nvPr/>
            </p:nvSpPr>
            <p:spPr>
              <a:xfrm>
                <a:off x="4948069" y="5184814"/>
                <a:ext cx="6536724" cy="690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תיבת טקסט 60">
                <a:extLst>
                  <a:ext uri="{FF2B5EF4-FFF2-40B4-BE49-F238E27FC236}">
                    <a16:creationId xmlns:a16="http://schemas.microsoft.com/office/drawing/2014/main" id="{FBDB8B54-382F-5AAD-0D65-D5B85B910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069" y="5184814"/>
                <a:ext cx="6536724" cy="6905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תיבת טקסט 61">
            <a:extLst>
              <a:ext uri="{FF2B5EF4-FFF2-40B4-BE49-F238E27FC236}">
                <a16:creationId xmlns:a16="http://schemas.microsoft.com/office/drawing/2014/main" id="{164BD202-6933-2444-C3E8-B784643E389D}"/>
              </a:ext>
            </a:extLst>
          </p:cNvPr>
          <p:cNvSpPr txBox="1"/>
          <p:nvPr/>
        </p:nvSpPr>
        <p:spPr>
          <a:xfrm>
            <a:off x="36330" y="5850318"/>
            <a:ext cx="5056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part calculates the predicted price </a:t>
            </a:r>
            <a:endParaRPr lang="en-US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the </a:t>
            </a:r>
            <a:r>
              <a:rPr lang="en-US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property features in the database.</a:t>
            </a:r>
            <a:endParaRPr lang="en-US" dirty="0"/>
          </a:p>
        </p:txBody>
      </p:sp>
      <p:sp>
        <p:nvSpPr>
          <p:cNvPr id="63" name="תיבת טקסט 62">
            <a:extLst>
              <a:ext uri="{FF2B5EF4-FFF2-40B4-BE49-F238E27FC236}">
                <a16:creationId xmlns:a16="http://schemas.microsoft.com/office/drawing/2014/main" id="{8C6702C6-2489-03AB-9D42-CB0CD2100E99}"/>
              </a:ext>
            </a:extLst>
          </p:cNvPr>
          <p:cNvSpPr txBox="1"/>
          <p:nvPr/>
        </p:nvSpPr>
        <p:spPr>
          <a:xfrm>
            <a:off x="6234877" y="5907295"/>
            <a:ext cx="6059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part adds the influence of the additional features. </a:t>
            </a:r>
          </a:p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(The missing data)</a:t>
            </a:r>
          </a:p>
          <a:p>
            <a:r>
              <a:rPr lang="en-US" dirty="0">
                <a:latin typeface="Garamond" panose="02020404030301010803" pitchFamily="18" charset="0"/>
              </a:rPr>
              <a:t>More important features have higher weights.</a:t>
            </a:r>
            <a:endParaRPr lang="he-IL" dirty="0">
              <a:latin typeface="Garamond" panose="02020404030301010803" pitchFamily="18" charset="0"/>
            </a:endParaRP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8A418B5D-A24E-4EE8-2469-C9E6F093A61E}"/>
              </a:ext>
            </a:extLst>
          </p:cNvPr>
          <p:cNvSpPr/>
          <p:nvPr/>
        </p:nvSpPr>
        <p:spPr>
          <a:xfrm>
            <a:off x="4703721" y="3606364"/>
            <a:ext cx="588865" cy="325439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1891E776-8B01-4528-CA6E-892D216C57C5}"/>
              </a:ext>
            </a:extLst>
          </p:cNvPr>
          <p:cNvCxnSpPr>
            <a:cxnSpLocks/>
          </p:cNvCxnSpPr>
          <p:nvPr/>
        </p:nvCxnSpPr>
        <p:spPr>
          <a:xfrm flipV="1">
            <a:off x="4989664" y="3027578"/>
            <a:ext cx="41590" cy="584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D24EEEAE-C04D-EE58-2AE6-620E33B58956}"/>
              </a:ext>
            </a:extLst>
          </p:cNvPr>
          <p:cNvSpPr txBox="1"/>
          <p:nvPr/>
        </p:nvSpPr>
        <p:spPr>
          <a:xfrm>
            <a:off x="3821128" y="2707390"/>
            <a:ext cx="410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of base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65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2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3" grpId="0"/>
      <p:bldP spid="13" grpId="1"/>
      <p:bldP spid="15" grpId="0" animBg="1"/>
      <p:bldP spid="15" grpId="1" animBg="1"/>
      <p:bldP spid="27" grpId="0"/>
      <p:bldP spid="27" grpId="1"/>
      <p:bldP spid="29" grpId="0" animBg="1"/>
      <p:bldP spid="29" grpId="1" animBg="1"/>
      <p:bldP spid="35" grpId="0"/>
      <p:bldP spid="35" grpId="1"/>
      <p:bldP spid="37" grpId="0" animBg="1"/>
      <p:bldP spid="37" grpId="1" animBg="1"/>
      <p:bldP spid="41" grpId="0"/>
      <p:bldP spid="41" grpId="1"/>
      <p:bldP spid="42" grpId="0" animBg="1"/>
      <p:bldP spid="42" grpId="1" animBg="1"/>
      <p:bldP spid="45" grpId="0"/>
      <p:bldP spid="45" grpId="1"/>
      <p:bldP spid="46" grpId="0" animBg="1"/>
      <p:bldP spid="46" grpId="1" animBg="1"/>
      <p:bldP spid="51" grpId="0"/>
      <p:bldP spid="51" grpId="1"/>
      <p:bldP spid="54" grpId="0" animBg="1"/>
      <p:bldP spid="54" grpId="1" animBg="1"/>
      <p:bldP spid="57" grpId="0"/>
      <p:bldP spid="57" grpId="1"/>
      <p:bldP spid="59" grpId="0"/>
      <p:bldP spid="61" grpId="0"/>
      <p:bldP spid="62" grpId="0"/>
      <p:bldP spid="63" grpId="0"/>
      <p:bldP spid="7" grpId="0" animBg="1"/>
      <p:bldP spid="7" grpId="1" animBg="1"/>
      <p:bldP spid="10" grpId="0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DA2D4-27BE-6DD2-FCE8-6D00A6CA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EB5ABB-03AF-590C-D97A-7484E2220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AA930F-3B95-E843-FAA8-9A7437B8E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EEDCE8-1BB0-27B3-20F7-3BDF2A49A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CD0DE8-8D5B-9145-04A3-6D762686F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481489-F2E8-C902-4FC3-54E24ADF1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D4FFFF-34A5-5819-3BD5-47E2C05EE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40AAD6-042F-5BEB-3183-8A62E03E9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304F639-2651-09C7-8777-8715217CB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ACEA15-44B0-F856-A8BD-CAAC9C870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06EAF5-C20A-AFE7-2BDB-A31409F09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CB544FA-0B13-CAEE-6A3D-8229FB824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4FA5CF-B095-AFB5-7801-37D8A07FF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EB9FAAD-DBBE-CE1B-CA2C-D920F29AF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4C327E7-9136-1336-94A2-B7002C7F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3871" y="889760"/>
            <a:ext cx="8104625" cy="108684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ts val="9600"/>
              </a:lnSpc>
            </a:pPr>
            <a:r>
              <a:rPr lang="en-US" sz="3600" dirty="0">
                <a:latin typeface="Walbaum Display Light (כותרות)"/>
              </a:rPr>
              <a:t>Expectations</a:t>
            </a:r>
            <a:br>
              <a:rPr lang="en-US" dirty="0">
                <a:latin typeface="Walbaum Display Light (כותרות)"/>
              </a:rPr>
            </a:br>
            <a:endParaRPr lang="en-US" sz="3600" i="0" dirty="0">
              <a:solidFill>
                <a:srgbClr val="FFFFFF"/>
              </a:solidFill>
              <a:latin typeface="Walbaum Display Light (כותרות)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71CEFC-6493-8EAF-1FEF-46DEEB770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1DD6551-1DDC-3470-F3BD-23E6B0998E62}"/>
              </a:ext>
            </a:extLst>
          </p:cNvPr>
          <p:cNvSpPr txBox="1"/>
          <p:nvPr/>
        </p:nvSpPr>
        <p:spPr>
          <a:xfrm>
            <a:off x="173839" y="2543956"/>
            <a:ext cx="8824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Univers Condensed Light (גוף)"/>
              </a:rPr>
              <a:t>Accuracy and Performance</a:t>
            </a:r>
          </a:p>
          <a:p>
            <a:endParaRPr lang="en-US" b="1" dirty="0">
              <a:latin typeface="Univers Condensed Light (גוף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Univers Condensed Light (גוף)"/>
              </a:rPr>
              <a:t> </a:t>
            </a:r>
            <a:r>
              <a:rPr lang="en-US" dirty="0"/>
              <a:t>Fast response time</a:t>
            </a:r>
            <a:endParaRPr lang="en-US" dirty="0">
              <a:latin typeface="Univers Condensed Light (גוף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Univers Condensed Light (גוף)"/>
              </a:rPr>
              <a:t> At least </a:t>
            </a:r>
            <a:r>
              <a:rPr lang="en-US" b="1" dirty="0">
                <a:latin typeface="Univers Condensed Light (גוף)"/>
              </a:rPr>
              <a:t>90% accuracy</a:t>
            </a:r>
            <a:r>
              <a:rPr lang="en-US" dirty="0">
                <a:latin typeface="Univers Condensed Light (גוף)"/>
              </a:rPr>
              <a:t> for price prediction.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BF3B56A-3E70-ED8E-087D-2D34309725FD}"/>
              </a:ext>
            </a:extLst>
          </p:cNvPr>
          <p:cNvSpPr txBox="1"/>
          <p:nvPr/>
        </p:nvSpPr>
        <p:spPr>
          <a:xfrm>
            <a:off x="173839" y="4651268"/>
            <a:ext cx="6093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Ease of Use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262680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D61EC8C-9F54-4671-8E82-4AE6101D6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177768" y="0"/>
            <a:ext cx="5014232" cy="6868738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713264 w 4584879"/>
              <a:gd name="connsiteY2" fmla="*/ 6863976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408998"/>
              <a:gd name="connsiteY0" fmla="*/ 4762 h 6868738"/>
              <a:gd name="connsiteX1" fmla="*/ 4408998 w 4408998"/>
              <a:gd name="connsiteY1" fmla="*/ 0 h 6868738"/>
              <a:gd name="connsiteX2" fmla="*/ 2713264 w 4408998"/>
              <a:gd name="connsiteY2" fmla="*/ 6868738 h 6868738"/>
              <a:gd name="connsiteX3" fmla="*/ 0 w 4408998"/>
              <a:gd name="connsiteY3" fmla="*/ 6868738 h 6868738"/>
              <a:gd name="connsiteX4" fmla="*/ 0 w 4408998"/>
              <a:gd name="connsiteY4" fmla="*/ 4762 h 6868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8998" h="6868738">
                <a:moveTo>
                  <a:pt x="0" y="4762"/>
                </a:moveTo>
                <a:lnTo>
                  <a:pt x="4408998" y="0"/>
                </a:lnTo>
                <a:lnTo>
                  <a:pt x="2713264" y="6868738"/>
                </a:lnTo>
                <a:lnTo>
                  <a:pt x="0" y="6868738"/>
                </a:lnTo>
                <a:lnTo>
                  <a:pt x="0" y="476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1B34C31-2BCB-FDE5-88D9-CAD628FE0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9683" y="1071142"/>
            <a:ext cx="3738926" cy="11318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dirty="0"/>
              <a:t>USE CASE</a:t>
            </a:r>
          </a:p>
        </p:txBody>
      </p:sp>
      <p:pic>
        <p:nvPicPr>
          <p:cNvPr id="6" name="מציין מיקום תוכן 5" descr="תמונה שמכילה טקסט, תרשים, צילום מסך, קו&#10;&#10;התיאור נוצר באופן אוטומטי">
            <a:extLst>
              <a:ext uri="{FF2B5EF4-FFF2-40B4-BE49-F238E27FC236}">
                <a16:creationId xmlns:a16="http://schemas.microsoft.com/office/drawing/2014/main" id="{BB316738-1D09-FD6F-2ED6-620B256135A4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75" y="533400"/>
            <a:ext cx="6160851" cy="579120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A5D40F5-A8C4-4952-BCA6-4D0D14F8B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58751" y="0"/>
            <a:ext cx="532263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5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0" y="541964"/>
            <a:ext cx="4768938" cy="38186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Activity diagram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9.png" descr="תמונה שמכילה תרשים, טקסט, תוכנית, צילום מסך&#10;&#10;התיאור נוצר באופן אוטומטי">
            <a:extLst>
              <a:ext uri="{FF2B5EF4-FFF2-40B4-BE49-F238E27FC236}">
                <a16:creationId xmlns:a16="http://schemas.microsoft.com/office/drawing/2014/main" id="{A75881D5-28F6-DF07-BA85-881B7C8684E1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95999" y="396510"/>
            <a:ext cx="5969225" cy="622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18576E04-BA34-4597-8F97-B162CC6EB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042673-822C-46F2-A208-165D88D07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6BEB57C-767A-46B2-9BA5-F4F819024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C3477A7-8AEF-46BF-AC02-D5FC1E680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18B765-6717-4B34-BFEF-724385420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45F12F5-726F-4271-BC7E-64F830BAD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F5DB7FB-9146-42E5-86F5-98E06A0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399"/>
            <a:ext cx="8279559" cy="10955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User interface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96FB07B-2FCF-46DD-933B-15CB99718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C44C0325-1A85-883C-2609-9890496AA9F3}"/>
              </a:ext>
            </a:extLst>
          </p:cNvPr>
          <p:cNvSpPr txBox="1"/>
          <p:nvPr/>
        </p:nvSpPr>
        <p:spPr>
          <a:xfrm>
            <a:off x="2140312" y="6208864"/>
            <a:ext cx="1318098" cy="49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buSzPct val="80000"/>
            </a:pPr>
            <a:r>
              <a:rPr lang="en-US" b="1" dirty="0">
                <a:solidFill>
                  <a:schemeClr val="tx2"/>
                </a:solidFill>
                <a:effectLst/>
              </a:rPr>
              <a:t>Home Page</a:t>
            </a:r>
            <a:endParaRPr lang="en-US" dirty="0">
              <a:solidFill>
                <a:schemeClr val="tx2"/>
              </a:solidFill>
              <a:effectLst/>
            </a:endParaRP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7" name="image13.png" descr="תמונה שמכילה טקסט, צילום מסך, גופן, תוכנה&#10;&#10;התיאור נוצר באופן אוטומטי">
            <a:extLst>
              <a:ext uri="{FF2B5EF4-FFF2-40B4-BE49-F238E27FC236}">
                <a16:creationId xmlns:a16="http://schemas.microsoft.com/office/drawing/2014/main" id="{ECCC6EF4-1631-0122-60A3-1CA35862525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46628"/>
            <a:ext cx="5734628" cy="4030491"/>
          </a:xfrm>
          <a:prstGeom prst="rect">
            <a:avLst/>
          </a:prstGeom>
        </p:spPr>
      </p:pic>
      <p:pic>
        <p:nvPicPr>
          <p:cNvPr id="19" name="תמונה 18" descr="תמונה שמכילה טקסט, צילום מסך, תוכנה, מספר&#10;&#10;התיאור נוצר באופן אוטומטי">
            <a:extLst>
              <a:ext uri="{FF2B5EF4-FFF2-40B4-BE49-F238E27FC236}">
                <a16:creationId xmlns:a16="http://schemas.microsoft.com/office/drawing/2014/main" id="{58B818EA-97FF-6801-325F-59AC4F838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634" y="2014316"/>
            <a:ext cx="6326366" cy="4240161"/>
          </a:xfrm>
          <a:prstGeom prst="rect">
            <a:avLst/>
          </a:prstGeom>
        </p:spPr>
      </p:pic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EA4DD730-F4CD-6B9B-99AD-0845C963914D}"/>
              </a:ext>
            </a:extLst>
          </p:cNvPr>
          <p:cNvSpPr txBox="1"/>
          <p:nvPr/>
        </p:nvSpPr>
        <p:spPr>
          <a:xfrm>
            <a:off x="8045636" y="6217622"/>
            <a:ext cx="2344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 Page (Property Form)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10E52-63D0-E17D-9F56-00CDFD68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73AD615-EE97-841B-137C-4B178EB74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0AAFC8B-1A1F-7CBC-80C6-BAC13720A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F7B0D2B-7051-16B5-E8F4-E7DE3CC32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EC42E67-03A2-626F-719E-30EA4C9E2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E63A1F7-02B6-0B73-0542-D46795AC2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54D71FD-C009-BABE-40C8-1012CEFE2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7AA1539-09BF-E400-86EC-7BBA20312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F7481A14-0ACA-D6C8-9364-04E5DC22C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7E4A1A3-2DE8-8178-F166-240D6EDF0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59CD2C5-16F2-39A2-A1F4-198E8939B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2CE95E2-8964-C34B-42C2-CF698B45A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FBF02FD-21ED-D824-7729-69D83AC11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318D939-5E58-0160-E8F7-637EB1FD4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F4E808E-61FB-72A1-0E71-AF942E94D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27C05D2-2DB8-2E6C-F71D-075ED9A4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399"/>
            <a:ext cx="8279559" cy="10955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User interface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0C2B981-8327-804D-5372-DC7DBB041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0A22AA5E-B78B-2973-4D1A-EF055CF78482}"/>
              </a:ext>
            </a:extLst>
          </p:cNvPr>
          <p:cNvSpPr txBox="1"/>
          <p:nvPr/>
        </p:nvSpPr>
        <p:spPr>
          <a:xfrm>
            <a:off x="2043208" y="6107831"/>
            <a:ext cx="1318098" cy="49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marR="0" algn="l" rtl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b="1" dirty="0">
                <a:solidFill>
                  <a:srgbClr val="0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 Page </a:t>
            </a:r>
            <a:endParaRPr lang="en-US" sz="19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FAF4B6BD-F364-0E7C-8B56-28654A925BD8}"/>
              </a:ext>
            </a:extLst>
          </p:cNvPr>
          <p:cNvSpPr txBox="1"/>
          <p:nvPr/>
        </p:nvSpPr>
        <p:spPr>
          <a:xfrm>
            <a:off x="8462964" y="5914808"/>
            <a:ext cx="2344366" cy="819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 Page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p:pic>
        <p:nvPicPr>
          <p:cNvPr id="3" name="image15.png" descr="תמונה שמכילה טקסט, צילום מסך, תוכנה, גופן&#10;&#10;התיאור נוצר באופן אוטומטי">
            <a:extLst>
              <a:ext uri="{FF2B5EF4-FFF2-40B4-BE49-F238E27FC236}">
                <a16:creationId xmlns:a16="http://schemas.microsoft.com/office/drawing/2014/main" id="{3FB734A2-FF39-2E0A-9BF6-ACBBC988E5E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83584" y="2226072"/>
            <a:ext cx="5359459" cy="3668467"/>
          </a:xfrm>
          <a:prstGeom prst="rect">
            <a:avLst/>
          </a:prstGeom>
          <a:ln/>
        </p:spPr>
      </p:pic>
      <p:pic>
        <p:nvPicPr>
          <p:cNvPr id="4" name="image2.png" descr="תמונה שמכילה טקסט, צילום מסך, תוכנה, דף אינטרנט&#10;&#10;התיאור נוצר באופן אוטומטי">
            <a:extLst>
              <a:ext uri="{FF2B5EF4-FFF2-40B4-BE49-F238E27FC236}">
                <a16:creationId xmlns:a16="http://schemas.microsoft.com/office/drawing/2014/main" id="{B1A1E522-E3CF-F859-7879-318E9D844D8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419197" y="2208905"/>
            <a:ext cx="5274310" cy="368563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245066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traight Connector 1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1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1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1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2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2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2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3" name="Rectangle 26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0" y="541964"/>
            <a:ext cx="4768938" cy="38186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Testing</a:t>
            </a:r>
          </a:p>
        </p:txBody>
      </p:sp>
      <p:cxnSp>
        <p:nvCxnSpPr>
          <p:cNvPr id="75" name="Straight Connector 30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32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34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DAFC250-FF4B-D736-6505-F1386B559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19399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240F97B-88B8-B7E4-6F2D-8F69C9110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19399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FEFF5048-7292-C265-310D-D1454C88A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409778"/>
              </p:ext>
            </p:extLst>
          </p:nvPr>
        </p:nvGraphicFramePr>
        <p:xfrm>
          <a:off x="5729288" y="303696"/>
          <a:ext cx="6462712" cy="6311114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671234">
                  <a:extLst>
                    <a:ext uri="{9D8B030D-6E8A-4147-A177-3AD203B41FA5}">
                      <a16:colId xmlns:a16="http://schemas.microsoft.com/office/drawing/2014/main" val="3015531137"/>
                    </a:ext>
                  </a:extLst>
                </a:gridCol>
                <a:gridCol w="2360161">
                  <a:extLst>
                    <a:ext uri="{9D8B030D-6E8A-4147-A177-3AD203B41FA5}">
                      <a16:colId xmlns:a16="http://schemas.microsoft.com/office/drawing/2014/main" val="65099735"/>
                    </a:ext>
                  </a:extLst>
                </a:gridCol>
                <a:gridCol w="3431317">
                  <a:extLst>
                    <a:ext uri="{9D8B030D-6E8A-4147-A177-3AD203B41FA5}">
                      <a16:colId xmlns:a16="http://schemas.microsoft.com/office/drawing/2014/main" val="1527291431"/>
                    </a:ext>
                  </a:extLst>
                </a:gridCol>
              </a:tblGrid>
              <a:tr h="31517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Case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Test Case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Expected Result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31721409"/>
                  </a:ext>
                </a:extLst>
              </a:tr>
              <a:tr h="544353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Press "Get Started".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 The user is taken to the next page (Estimate page).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3357044102"/>
                  </a:ext>
                </a:extLst>
              </a:tr>
              <a:tr h="98438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Entering the necessary property details correctly and completely and Press” Estimate Price”.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The system accepts the details and proceeds to estimate the property price, the result (price + impact factors) is displayed to the user.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850040177"/>
                  </a:ext>
                </a:extLst>
              </a:tr>
              <a:tr h="1417075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Entering the necessary property details not correctly or not completely and Press” Estimate Price”.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Error is shown: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“The property details you entered are incomplete or incorrect. Please review the information and try again. ”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2770248681"/>
                  </a:ext>
                </a:extLst>
              </a:tr>
              <a:tr h="116406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Press "Estimate another property"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The user is taken to the Estimate page to start a new estimation.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3657146022"/>
                  </a:ext>
                </a:extLst>
              </a:tr>
              <a:tr h="544353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Access Help &amp; FAQ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The system redirects the user to the Help &amp; FAQ section.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3424122778"/>
                  </a:ext>
                </a:extLst>
              </a:tr>
              <a:tr h="544353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Return to the main page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The system redirects the user to the home page.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2988626205"/>
                  </a:ext>
                </a:extLst>
              </a:tr>
              <a:tr h="797368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No result output in the final step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Error is shown: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 “An error occurred while evaluating the property details. Please try again.”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4194" marR="64194" marT="0" marB="0"/>
                </a:tc>
                <a:extLst>
                  <a:ext uri="{0D108BD9-81ED-4DB2-BD59-A6C34878D82A}">
                    <a16:rowId xmlns:a16="http://schemas.microsoft.com/office/drawing/2014/main" val="3831218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כותרת 1">
            <a:extLst>
              <a:ext uri="{FF2B5EF4-FFF2-40B4-BE49-F238E27FC236}">
                <a16:creationId xmlns:a16="http://schemas.microsoft.com/office/drawing/2014/main" id="{70AB336E-41B8-0D37-925D-3180CF96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Validation</a:t>
            </a:r>
          </a:p>
        </p:txBody>
      </p:sp>
      <p:cxnSp>
        <p:nvCxnSpPr>
          <p:cNvPr id="1068" name="Straight Connector 1056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3A266B6-E7D6-500E-BF4D-D22D71BD74A9}"/>
                  </a:ext>
                </a:extLst>
              </p:cNvPr>
              <p:cNvSpPr txBox="1"/>
              <p:nvPr/>
            </p:nvSpPr>
            <p:spPr>
              <a:xfrm>
                <a:off x="0" y="2009553"/>
                <a:ext cx="5831833" cy="41440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spcAft>
                    <a:spcPts val="600"/>
                  </a:spcAft>
                  <a:buSzPct val="80000"/>
                </a:pPr>
                <a:r>
                  <a:rPr lang="en-US" b="1" dirty="0">
                    <a:solidFill>
                      <a:schemeClr val="tx2"/>
                    </a:solidFill>
                  </a:rPr>
                  <a:t>Model:</a:t>
                </a:r>
              </a:p>
              <a:p>
                <a:pPr indent="-228600">
                  <a:spcAft>
                    <a:spcPts val="600"/>
                  </a:spcAft>
                  <a:buSzPct val="800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>
                  <a:spcAft>
                    <a:spcPts val="600"/>
                  </a:spcAft>
                  <a:buSzPct val="80000"/>
                </a:pPr>
                <a:r>
                  <a:rPr lang="en-US" dirty="0">
                    <a:solidFill>
                      <a:srgbClr val="002060"/>
                    </a:solidFill>
                  </a:rPr>
                  <a:t>Using recent valuations done by appraisers (not from the database).</a:t>
                </a:r>
              </a:p>
              <a:p>
                <a:pPr>
                  <a:spcAft>
                    <a:spcPts val="600"/>
                  </a:spcAft>
                  <a:buSzPct val="80000"/>
                </a:pPr>
                <a:r>
                  <a:rPr lang="en-US" dirty="0">
                    <a:solidFill>
                      <a:srgbClr val="002060"/>
                    </a:solidFill>
                  </a:rPr>
                  <a:t>We will use </a:t>
                </a:r>
                <a:r>
                  <a:rPr lang="en-US" sz="1800" dirty="0">
                    <a:solidFill>
                      <a:srgbClr val="00206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Root Mean Square Error (</a:t>
                </a:r>
                <a:r>
                  <a:rPr lang="en-US" dirty="0">
                    <a:solidFill>
                      <a:srgbClr val="002060"/>
                    </a:solidFill>
                  </a:rPr>
                  <a:t>RMSE) to measure the accuracy of the price.</a:t>
                </a:r>
              </a:p>
              <a:p>
                <a:pPr>
                  <a:spcAft>
                    <a:spcPts val="600"/>
                  </a:spcAft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𝑅𝑀𝑆𝐸</m:t>
                      </m:r>
                      <m:r>
                        <a:rPr lang="en-US" sz="13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3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3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3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3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3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3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3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3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3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3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3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3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  <a:buSzPct val="80000"/>
                </a:pPr>
                <a:r>
                  <a:rPr lang="en-US" b="1" dirty="0">
                    <a:solidFill>
                      <a:schemeClr val="tx2"/>
                    </a:solidFill>
                  </a:rPr>
                  <a:t>User Experience:</a:t>
                </a:r>
              </a:p>
              <a:p>
                <a:pPr indent="-228600">
                  <a:spcAft>
                    <a:spcPts val="600"/>
                  </a:spcAft>
                  <a:buSzPct val="800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>
                  <a:spcAft>
                    <a:spcPts val="600"/>
                  </a:spcAft>
                  <a:buSzPct val="80000"/>
                </a:pPr>
                <a:r>
                  <a:rPr lang="en-US" dirty="0">
                    <a:solidFill>
                      <a:srgbClr val="002060"/>
                    </a:solidFill>
                  </a:rPr>
                  <a:t>Collecting feedback from both appraisers and non-appraisers.</a:t>
                </a:r>
              </a:p>
            </p:txBody>
          </p:sp>
        </mc:Choice>
        <mc:Fallback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3A266B6-E7D6-500E-BF4D-D22D71BD7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09553"/>
                <a:ext cx="5831833" cy="4144039"/>
              </a:xfrm>
              <a:prstGeom prst="rect">
                <a:avLst/>
              </a:prstGeom>
              <a:blipFill>
                <a:blip r:embed="rId2"/>
                <a:stretch>
                  <a:fillRect l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685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{C74B6D96-A963-448E-94CE-50E2AB4F8F5C}tf22797433_win32</Template>
  <TotalTime>1813</TotalTime>
  <Words>913</Words>
  <Application>Microsoft Office PowerPoint</Application>
  <PresentationFormat>מסך רחב</PresentationFormat>
  <Paragraphs>177</Paragraphs>
  <Slides>20</Slides>
  <Notes>18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Garamond</vt:lpstr>
      <vt:lpstr>League Spartan</vt:lpstr>
      <vt:lpstr>Times New Roman</vt:lpstr>
      <vt:lpstr>Univers Condensed Light</vt:lpstr>
      <vt:lpstr>Univers Condensed Light (גוף)</vt:lpstr>
      <vt:lpstr>Walbaum Display Light</vt:lpstr>
      <vt:lpstr>Walbaum Display Light (כותרות)</vt:lpstr>
      <vt:lpstr>AngleLinesVTI</vt:lpstr>
      <vt:lpstr>Real Estate Price Estimation using machine learning </vt:lpstr>
      <vt:lpstr>מצגת של PowerPoint‏</vt:lpstr>
      <vt:lpstr>Traditional  Real Estate  Valuation</vt:lpstr>
      <vt:lpstr>The problem </vt:lpstr>
      <vt:lpstr>Existing Solutions</vt:lpstr>
      <vt:lpstr>Our Solution</vt:lpstr>
      <vt:lpstr>Software Architecture Diagram</vt:lpstr>
      <vt:lpstr>Decision Tree</vt:lpstr>
      <vt:lpstr>The model(random forest)</vt:lpstr>
      <vt:lpstr>Dataset</vt:lpstr>
      <vt:lpstr>Challenge: Completing the missing data</vt:lpstr>
      <vt:lpstr>The prediction equation</vt:lpstr>
      <vt:lpstr>Expectations </vt:lpstr>
      <vt:lpstr>USE CASE</vt:lpstr>
      <vt:lpstr>Activity diagram</vt:lpstr>
      <vt:lpstr>User interface</vt:lpstr>
      <vt:lpstr>User interface</vt:lpstr>
      <vt:lpstr>Testing</vt:lpstr>
      <vt:lpstr>Validation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גול חוראני</dc:creator>
  <cp:lastModifiedBy>גול חוראני</cp:lastModifiedBy>
  <cp:revision>25</cp:revision>
  <dcterms:created xsi:type="dcterms:W3CDTF">2025-02-01T09:13:15Z</dcterms:created>
  <dcterms:modified xsi:type="dcterms:W3CDTF">2025-02-03T21:18:03Z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